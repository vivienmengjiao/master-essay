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660" r:id="rId1"/>
  </p:sldMasterIdLst>
  <p:notesMasterIdLst>
    <p:notesMasterId r:id="rId46"/>
  </p:notesMasterIdLst>
  <p:handoutMasterIdLst>
    <p:handoutMasterId r:id="rId47"/>
  </p:handoutMasterIdLst>
  <p:sldIdLst>
    <p:sldId id="257" r:id="rId2"/>
    <p:sldId id="259" r:id="rId3"/>
    <p:sldId id="272" r:id="rId4"/>
    <p:sldId id="268" r:id="rId5"/>
    <p:sldId id="269" r:id="rId6"/>
    <p:sldId id="270" r:id="rId7"/>
    <p:sldId id="271" r:id="rId8"/>
    <p:sldId id="277" r:id="rId9"/>
    <p:sldId id="274" r:id="rId10"/>
    <p:sldId id="275" r:id="rId11"/>
    <p:sldId id="276" r:id="rId12"/>
    <p:sldId id="273" r:id="rId13"/>
    <p:sldId id="278" r:id="rId14"/>
    <p:sldId id="309" r:id="rId15"/>
    <p:sldId id="280" r:id="rId16"/>
    <p:sldId id="281" r:id="rId17"/>
    <p:sldId id="283" r:id="rId18"/>
    <p:sldId id="282" r:id="rId19"/>
    <p:sldId id="284" r:id="rId20"/>
    <p:sldId id="288" r:id="rId21"/>
    <p:sldId id="285" r:id="rId22"/>
    <p:sldId id="286" r:id="rId23"/>
    <p:sldId id="287" r:id="rId24"/>
    <p:sldId id="289" r:id="rId25"/>
    <p:sldId id="290" r:id="rId26"/>
    <p:sldId id="291" r:id="rId27"/>
    <p:sldId id="292" r:id="rId28"/>
    <p:sldId id="293" r:id="rId29"/>
    <p:sldId id="295" r:id="rId30"/>
    <p:sldId id="294" r:id="rId31"/>
    <p:sldId id="312" r:id="rId32"/>
    <p:sldId id="296" r:id="rId33"/>
    <p:sldId id="300" r:id="rId34"/>
    <p:sldId id="301" r:id="rId35"/>
    <p:sldId id="302" r:id="rId36"/>
    <p:sldId id="303" r:id="rId37"/>
    <p:sldId id="304" r:id="rId38"/>
    <p:sldId id="305" r:id="rId39"/>
    <p:sldId id="306" r:id="rId40"/>
    <p:sldId id="310" r:id="rId41"/>
    <p:sldId id="308" r:id="rId42"/>
    <p:sldId id="307" r:id="rId43"/>
    <p:sldId id="313" r:id="rId44"/>
    <p:sldId id="266" r:id="rId45"/>
  </p:sldIdLst>
  <p:sldSz cx="7620000" cy="571500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72">
          <p15:clr>
            <a:srgbClr val="A4A3A4"/>
          </p15:clr>
        </p15:guide>
        <p15:guide id="2" orient="horz" pos="3206">
          <p15:clr>
            <a:srgbClr val="A4A3A4"/>
          </p15:clr>
        </p15:guide>
        <p15:guide id="3" pos="245">
          <p15:clr>
            <a:srgbClr val="A4A3A4"/>
          </p15:clr>
        </p15:guide>
        <p15:guide id="4" pos="455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96340" autoAdjust="0"/>
  </p:normalViewPr>
  <p:slideViewPr>
    <p:cSldViewPr snapToGrid="0">
      <p:cViewPr varScale="1">
        <p:scale>
          <a:sx n="130" d="100"/>
          <a:sy n="130" d="100"/>
        </p:scale>
        <p:origin x="1776" y="126"/>
      </p:cViewPr>
      <p:guideLst>
        <p:guide orient="horz" pos="872"/>
        <p:guide orient="horz" pos="3206"/>
        <p:guide pos="245"/>
        <p:guide pos="455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313" y="243069"/>
            <a:ext cx="5903912" cy="458788"/>
          </a:xfrm>
          <a:prstGeom prst="rect">
            <a:avLst/>
          </a:prstGeom>
        </p:spPr>
        <p:txBody>
          <a:bodyPr vert="horz" lIns="0" tIns="0" rIns="0" bIns="0" rtlCol="0"/>
          <a:lstStyle>
            <a:lvl1pPr algn="l">
              <a:defRPr sz="1200"/>
            </a:lvl1pPr>
          </a:lstStyle>
          <a:p>
            <a:r>
              <a:rPr lang="en-US" b="1"/>
              <a:t>Titel der Präsentation</a:t>
            </a:r>
          </a:p>
        </p:txBody>
      </p:sp>
      <p:sp>
        <p:nvSpPr>
          <p:cNvPr id="3" name="Datumsplatzhalter 2"/>
          <p:cNvSpPr>
            <a:spLocks noGrp="1"/>
          </p:cNvSpPr>
          <p:nvPr>
            <p:ph type="dt" sz="quarter" idx="1"/>
          </p:nvPr>
        </p:nvSpPr>
        <p:spPr>
          <a:xfrm>
            <a:off x="5483506" y="8777812"/>
            <a:ext cx="648000" cy="144000"/>
          </a:xfrm>
          <a:prstGeom prst="rect">
            <a:avLst/>
          </a:prstGeom>
        </p:spPr>
        <p:txBody>
          <a:bodyPr vert="horz" lIns="0" tIns="0" rIns="0" bIns="0" rtlCol="0" anchor="t"/>
          <a:lstStyle>
            <a:lvl1pPr algn="r">
              <a:defRPr sz="1200"/>
            </a:lvl1pPr>
          </a:lstStyle>
          <a:p>
            <a:pPr algn="l"/>
            <a:fld id="{2BB8A445-7CED-4727-B796-4E5A75B985BF}" type="datetime1">
              <a:rPr lang="de-DE" sz="800" smtClean="0"/>
              <a:t>28.01.2026</a:t>
            </a:fld>
            <a:endParaRPr lang="en-US" sz="800"/>
          </a:p>
        </p:txBody>
      </p:sp>
      <p:sp>
        <p:nvSpPr>
          <p:cNvPr id="4" name="Fußzeilenplatzhalter 3"/>
          <p:cNvSpPr>
            <a:spLocks noGrp="1"/>
          </p:cNvSpPr>
          <p:nvPr>
            <p:ph type="ftr" sz="quarter" idx="2"/>
          </p:nvPr>
        </p:nvSpPr>
        <p:spPr>
          <a:xfrm>
            <a:off x="468313" y="8777813"/>
            <a:ext cx="4500000" cy="144000"/>
          </a:xfrm>
          <a:prstGeom prst="rect">
            <a:avLst/>
          </a:prstGeom>
        </p:spPr>
        <p:txBody>
          <a:bodyPr vert="horz" lIns="0" tIns="0" rIns="0" bIns="0" rtlCol="0" anchor="t"/>
          <a:lstStyle>
            <a:lvl1pPr algn="l">
              <a:defRPr sz="1200"/>
            </a:lvl1pPr>
          </a:lstStyle>
          <a:p>
            <a:r>
              <a:rPr lang="en-US" sz="800"/>
              <a:t>Universität Stuttgart</a:t>
            </a:r>
          </a:p>
        </p:txBody>
      </p:sp>
      <p:sp>
        <p:nvSpPr>
          <p:cNvPr id="5" name="Foliennummernplatzhalter 4"/>
          <p:cNvSpPr>
            <a:spLocks noGrp="1"/>
          </p:cNvSpPr>
          <p:nvPr>
            <p:ph type="sldNum" sz="quarter" idx="3"/>
          </p:nvPr>
        </p:nvSpPr>
        <p:spPr>
          <a:xfrm>
            <a:off x="6270195" y="8777813"/>
            <a:ext cx="360000" cy="144000"/>
          </a:xfrm>
          <a:prstGeom prst="rect">
            <a:avLst/>
          </a:prstGeom>
        </p:spPr>
        <p:txBody>
          <a:bodyPr vert="horz" lIns="0" tIns="0" rIns="0" bIns="0" rtlCol="0" anchor="t"/>
          <a:lstStyle>
            <a:lvl1pPr algn="r">
              <a:defRPr sz="1200"/>
            </a:lvl1pPr>
          </a:lstStyle>
          <a:p>
            <a:pPr algn="l"/>
            <a:fld id="{EE9A79A6-2547-4C8F-B0ED-316280A1A122}" type="slidenum">
              <a:rPr lang="en-US" sz="800" smtClean="0"/>
              <a:pPr algn="l"/>
              <a:t>‹Nr.›</a:t>
            </a:fld>
            <a:endParaRPr lang="en-US" sz="800"/>
          </a:p>
        </p:txBody>
      </p:sp>
    </p:spTree>
    <p:extLst>
      <p:ext uri="{BB962C8B-B14F-4D97-AF65-F5344CB8AC3E}">
        <p14:creationId xmlns:p14="http://schemas.microsoft.com/office/powerpoint/2010/main" val="2561533372"/>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000" y="244800"/>
            <a:ext cx="5904000" cy="458788"/>
          </a:xfrm>
          <a:prstGeom prst="rect">
            <a:avLst/>
          </a:prstGeom>
        </p:spPr>
        <p:txBody>
          <a:bodyPr vert="horz" lIns="0" tIns="0" rIns="0" bIns="0" rtlCol="0"/>
          <a:lstStyle>
            <a:lvl1pPr algn="l">
              <a:defRPr sz="1200" b="1"/>
            </a:lvl1pPr>
          </a:lstStyle>
          <a:p>
            <a:r>
              <a:rPr lang="en-US" dirty="0" err="1"/>
              <a:t>Titel</a:t>
            </a:r>
            <a:r>
              <a:rPr lang="en-US" dirty="0"/>
              <a:t> der </a:t>
            </a:r>
            <a:r>
              <a:rPr lang="en-US" dirty="0" err="1"/>
              <a:t>Präsentation</a:t>
            </a:r>
            <a:endParaRPr lang="en-US" dirty="0"/>
          </a:p>
        </p:txBody>
      </p:sp>
      <p:sp>
        <p:nvSpPr>
          <p:cNvPr id="3" name="Datumsplatzhalter 2"/>
          <p:cNvSpPr>
            <a:spLocks noGrp="1"/>
          </p:cNvSpPr>
          <p:nvPr>
            <p:ph type="dt" idx="1"/>
          </p:nvPr>
        </p:nvSpPr>
        <p:spPr>
          <a:xfrm>
            <a:off x="5482800" y="8776800"/>
            <a:ext cx="648000" cy="144000"/>
          </a:xfrm>
          <a:prstGeom prst="rect">
            <a:avLst/>
          </a:prstGeom>
        </p:spPr>
        <p:txBody>
          <a:bodyPr vert="horz" lIns="0" tIns="0" rIns="0" bIns="0" rtlCol="0" anchor="t"/>
          <a:lstStyle>
            <a:lvl1pPr algn="l">
              <a:defRPr sz="800"/>
            </a:lvl1pPr>
          </a:lstStyle>
          <a:p>
            <a:fld id="{05753778-6C5D-4C80-A055-D18683C95716}" type="datetime1">
              <a:rPr lang="de-DE" smtClean="0"/>
              <a:t>28.01.2026</a:t>
            </a:fld>
            <a:endParaRPr lang="en-US"/>
          </a:p>
        </p:txBody>
      </p:sp>
      <p:sp>
        <p:nvSpPr>
          <p:cNvPr id="4" name="Folienbildplatzhalter 3"/>
          <p:cNvSpPr>
            <a:spLocks noGrp="1" noRot="1" noChangeAspect="1"/>
          </p:cNvSpPr>
          <p:nvPr>
            <p:ph type="sldImg" idx="2"/>
          </p:nvPr>
        </p:nvSpPr>
        <p:spPr>
          <a:xfrm>
            <a:off x="468313" y="1009019"/>
            <a:ext cx="4114800" cy="3086100"/>
          </a:xfrm>
          <a:prstGeom prst="rect">
            <a:avLst/>
          </a:prstGeom>
          <a:noFill/>
          <a:ln w="6350">
            <a:solidFill>
              <a:schemeClr val="tx1"/>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468313" y="4400550"/>
            <a:ext cx="5903912" cy="360045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468000" y="8776800"/>
            <a:ext cx="4500000" cy="144000"/>
          </a:xfrm>
          <a:prstGeom prst="rect">
            <a:avLst/>
          </a:prstGeom>
        </p:spPr>
        <p:txBody>
          <a:bodyPr vert="horz" lIns="0" tIns="0" rIns="0" bIns="0" rtlCol="0" anchor="t"/>
          <a:lstStyle>
            <a:lvl1pPr algn="l">
              <a:defRPr sz="800"/>
            </a:lvl1pPr>
          </a:lstStyle>
          <a:p>
            <a:r>
              <a:rPr lang="en-US" dirty="0" err="1"/>
              <a:t>Universität</a:t>
            </a:r>
            <a:r>
              <a:rPr lang="en-US" dirty="0"/>
              <a:t> Stuttgart</a:t>
            </a:r>
          </a:p>
        </p:txBody>
      </p:sp>
      <p:sp>
        <p:nvSpPr>
          <p:cNvPr id="7" name="Foliennummernplatzhalter 6"/>
          <p:cNvSpPr>
            <a:spLocks noGrp="1"/>
          </p:cNvSpPr>
          <p:nvPr>
            <p:ph type="sldNum" sz="quarter" idx="5"/>
          </p:nvPr>
        </p:nvSpPr>
        <p:spPr>
          <a:xfrm>
            <a:off x="6271200" y="8776800"/>
            <a:ext cx="360000" cy="144000"/>
          </a:xfrm>
          <a:prstGeom prst="rect">
            <a:avLst/>
          </a:prstGeom>
        </p:spPr>
        <p:txBody>
          <a:bodyPr vert="horz" lIns="0" tIns="0" rIns="0" bIns="0" rtlCol="0" anchor="t"/>
          <a:lstStyle>
            <a:lvl1pPr algn="l">
              <a:defRPr sz="800"/>
            </a:lvl1pPr>
          </a:lstStyle>
          <a:p>
            <a:fld id="{05DD1DF0-DD4E-4B0C-B0FD-D16D9D2A9750}" type="slidenum">
              <a:rPr lang="en-US" smtClean="0"/>
              <a:pPr/>
              <a:t>‹Nr.›</a:t>
            </a:fld>
            <a:endParaRPr lang="en-US"/>
          </a:p>
        </p:txBody>
      </p:sp>
    </p:spTree>
    <p:extLst>
      <p:ext uri="{BB962C8B-B14F-4D97-AF65-F5344CB8AC3E}">
        <p14:creationId xmlns:p14="http://schemas.microsoft.com/office/powerpoint/2010/main" val="3888985705"/>
      </p:ext>
    </p:extLst>
  </p:cSld>
  <p:clrMap bg1="lt1" tx1="dk1" bg2="lt2" tx2="dk2" accent1="accent1" accent2="accent2" accent3="accent3" accent4="accent4" accent5="accent5" accent6="accent6" hlink="hlink" folHlink="folHlink"/>
  <p:hf/>
  <p:notesStyle>
    <a:lvl1pPr marL="180975" indent="-180975" algn="l" defTabSz="713232" rtl="0" eaLnBrk="1" latinLnBrk="0" hangingPunct="1">
      <a:lnSpc>
        <a:spcPct val="120000"/>
      </a:lnSpc>
      <a:buClr>
        <a:schemeClr val="accent1"/>
      </a:buClr>
      <a:buFont typeface="Arial" panose="020B0604020202020204" pitchFamily="34" charset="0"/>
      <a:buChar char="•"/>
      <a:defRPr sz="1000" kern="1200">
        <a:solidFill>
          <a:schemeClr val="tx1"/>
        </a:solidFill>
        <a:latin typeface="+mn-lt"/>
        <a:ea typeface="+mn-ea"/>
        <a:cs typeface="+mn-cs"/>
      </a:defRPr>
    </a:lvl1pPr>
    <a:lvl2pPr marL="358775"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2pPr>
    <a:lvl3pPr marL="538163" indent="-179388"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3pPr>
    <a:lvl4pPr marL="719138" indent="-180975"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4pPr>
    <a:lvl5pPr marL="896938"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114800" cy="3086100"/>
          </a:xfrm>
        </p:spPr>
      </p:sp>
      <p:sp>
        <p:nvSpPr>
          <p:cNvPr id="3" name="Notizenplatzhalter 2"/>
          <p:cNvSpPr>
            <a:spLocks noGrp="1"/>
          </p:cNvSpPr>
          <p:nvPr>
            <p:ph type="body" idx="1"/>
          </p:nvPr>
        </p:nvSpPr>
        <p:spPr/>
        <p:txBody>
          <a:bodyPr/>
          <a:lstStyle/>
          <a:p>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2</a:t>
            </a:fld>
            <a:endParaRPr lang="en-US"/>
          </a:p>
        </p:txBody>
      </p:sp>
    </p:spTree>
    <p:extLst>
      <p:ext uri="{BB962C8B-B14F-4D97-AF65-F5344CB8AC3E}">
        <p14:creationId xmlns:p14="http://schemas.microsoft.com/office/powerpoint/2010/main" val="216527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114800" cy="3086100"/>
          </a:xfrm>
        </p:spPr>
      </p:sp>
      <p:sp>
        <p:nvSpPr>
          <p:cNvPr id="3" name="Notizenplatzhalter 2"/>
          <p:cNvSpPr>
            <a:spLocks noGrp="1"/>
          </p:cNvSpPr>
          <p:nvPr>
            <p:ph type="body" idx="1"/>
          </p:nvPr>
        </p:nvSpPr>
        <p:spPr/>
        <p:txBody>
          <a:bodyPr/>
          <a:lstStyle/>
          <a:p>
            <a:pPr marL="0" indent="0">
              <a:buNone/>
            </a:pPr>
            <a:r>
              <a:rPr lang="en-US" sz="1000" kern="1200" dirty="0">
                <a:solidFill>
                  <a:schemeClr val="tx1"/>
                </a:solidFill>
                <a:effectLst/>
                <a:latin typeface="+mn-lt"/>
                <a:ea typeface="+mn-ea"/>
                <a:cs typeface="+mn-cs"/>
              </a:rPr>
              <a:t>murderers’ relationships with other characters, their talkativeness (reflected through speech/appearance rate), contextualization of murderers (semantic fields), sentiment of murderers’ modifiers (whether they portrayed as positive, neutral or negative), and differentiation of modifiers for male and female murderers. These characterizations are investigated by employing social network analysis, bar plot visualization, Word2Vec analysis, sentiment analysis and linguistic representation.</a:t>
            </a:r>
            <a:r>
              <a:rPr lang="de-DE" sz="1000" b="1" dirty="0">
                <a:latin typeface="Times New Roman" panose="02020603050405020304" pitchFamily="18" charset="0"/>
                <a:cs typeface="Times New Roman" panose="02020603050405020304" pitchFamily="18" charset="0"/>
              </a:rPr>
              <a:t> </a:t>
            </a:r>
            <a:r>
              <a:rPr lang="de-DE" sz="1000" b="1" dirty="0" err="1">
                <a:latin typeface="Times New Roman" panose="02020603050405020304" pitchFamily="18" charset="0"/>
                <a:cs typeface="Times New Roman" panose="02020603050405020304" pitchFamily="18" charset="0"/>
              </a:rPr>
              <a:t>Theoretical</a:t>
            </a:r>
            <a:r>
              <a:rPr lang="de-DE" sz="1000" b="1" dirty="0">
                <a:latin typeface="Times New Roman" panose="02020603050405020304" pitchFamily="18" charset="0"/>
                <a:cs typeface="Times New Roman" panose="02020603050405020304" pitchFamily="18" charset="0"/>
              </a:rPr>
              <a:t> Concept</a:t>
            </a:r>
          </a:p>
          <a:p>
            <a:pPr marL="0" indent="0">
              <a:buNone/>
            </a:pPr>
            <a:endParaRPr lang="de-DE" b="1" dirty="0">
              <a:latin typeface="Times New Roman" panose="02020603050405020304" pitchFamily="18" charset="0"/>
              <a:cs typeface="Times New Roman" panose="02020603050405020304" pitchFamily="18" charset="0"/>
            </a:endParaRPr>
          </a:p>
          <a:p>
            <a:r>
              <a:rPr lang="de-DE" sz="1000" b="1" dirty="0" err="1">
                <a:latin typeface="Times New Roman" panose="02020603050405020304" pitchFamily="18" charset="0"/>
                <a:cs typeface="Times New Roman" panose="02020603050405020304" pitchFamily="18" charset="0"/>
              </a:rPr>
              <a:t>Unreadability</a:t>
            </a:r>
            <a:r>
              <a:rPr lang="de-DE" sz="1000" dirty="0">
                <a:latin typeface="Times New Roman" panose="02020603050405020304" pitchFamily="18" charset="0"/>
                <a:cs typeface="Times New Roman" panose="02020603050405020304" pitchFamily="18" charset="0"/>
              </a:rPr>
              <a:t> (Ina Rae Hark)</a:t>
            </a:r>
          </a:p>
          <a:p>
            <a:pPr marL="0" indent="0">
              <a:buNone/>
            </a:pPr>
            <a:r>
              <a:rPr lang="en-US" sz="1000" dirty="0">
                <a:latin typeface="Times New Roman" panose="02020603050405020304" pitchFamily="18" charset="0"/>
                <a:cs typeface="Times New Roman" panose="02020603050405020304" pitchFamily="18" charset="0"/>
              </a:rPr>
              <a:t>“human guilt and innocence are thoroughly intermixed, rather than being in mutually exclusive binary positions. If we attempt to read people like books to separate the murderous from the non-murderous, we must fail, because in Christie’s view, no such creature as a person incapable of murder exists.” (Ina Hark 1997, 2) </a:t>
            </a:r>
          </a:p>
          <a:p>
            <a:pPr marL="0" indent="0">
              <a:buNone/>
            </a:pPr>
            <a:r>
              <a:rPr lang="en-US" sz="1000" dirty="0" err="1">
                <a:latin typeface="Times New Roman" panose="02020603050405020304" pitchFamily="18" charset="0"/>
                <a:cs typeface="Times New Roman" panose="02020603050405020304" pitchFamily="18" charset="0"/>
              </a:rPr>
              <a:t>Verbogen</a:t>
            </a:r>
            <a:r>
              <a:rPr lang="en-US" sz="1000" dirty="0">
                <a:latin typeface="Times New Roman" panose="02020603050405020304" pitchFamily="18" charset="0"/>
                <a:cs typeface="Times New Roman" panose="02020603050405020304" pitchFamily="18" charset="0"/>
              </a:rPr>
              <a:t> (2008)’s argument that, while Christie employs formulaic structures, her works transcend simple repetition through inventive variations</a:t>
            </a:r>
          </a:p>
          <a:p>
            <a:pPr marL="0" indent="0">
              <a:buNone/>
            </a:pP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The New Woman </a:t>
            </a:r>
            <a:r>
              <a:rPr lang="en-US" sz="1000" dirty="0">
                <a:latin typeface="Times New Roman" panose="02020603050405020304" pitchFamily="18" charset="0"/>
                <a:cs typeface="Times New Roman" panose="02020603050405020304" pitchFamily="18" charset="0"/>
              </a:rPr>
              <a:t>(moderate Feminism)</a:t>
            </a:r>
          </a:p>
          <a:p>
            <a:pPr marL="0" indent="0">
              <a:buNone/>
            </a:pPr>
            <a:r>
              <a:rPr lang="en-US" sz="1000" dirty="0">
                <a:latin typeface="Times New Roman" panose="02020603050405020304" pitchFamily="18" charset="0"/>
                <a:cs typeface="Times New Roman" panose="02020603050405020304" pitchFamily="18" charset="0"/>
              </a:rPr>
              <a:t>The “New Woman” is “a woman who represented women seeking greater independence, education and involvement in public life, challenging traditional gender roles and societal expectations.” (Dolski 2024, 33)</a:t>
            </a:r>
          </a:p>
          <a:p>
            <a:pPr marL="0" indent="0">
              <a:buNone/>
            </a:pPr>
            <a:endParaRPr lang="de-DE" dirty="0">
              <a:latin typeface="Times New Roman" panose="02020603050405020304" pitchFamily="18" charset="0"/>
              <a:cs typeface="Times New Roman" panose="02020603050405020304" pitchFamily="18" charset="0"/>
            </a:endParaRPr>
          </a:p>
          <a:p>
            <a:pPr marL="0" indent="0">
              <a:buNone/>
            </a:pPr>
            <a:endParaRPr lang="de-DE" dirty="0">
              <a:latin typeface="Times New Roman" panose="02020603050405020304" pitchFamily="18" charset="0"/>
              <a:cs typeface="Times New Roman" panose="02020603050405020304" pitchFamily="18" charset="0"/>
            </a:endParaRPr>
          </a:p>
          <a:p>
            <a:pPr marL="0" indent="0">
              <a:buNone/>
            </a:pPr>
            <a:endParaRPr lang="de-DE" dirty="0">
              <a:latin typeface="Times New Roman" panose="02020603050405020304" pitchFamily="18" charset="0"/>
              <a:cs typeface="Times New Roman" panose="02020603050405020304" pitchFamily="18" charset="0"/>
            </a:endParaRPr>
          </a:p>
          <a:p>
            <a:pPr marL="0" indent="0">
              <a:buNone/>
            </a:pPr>
            <a:endParaRPr lang="de-DE" dirty="0">
              <a:latin typeface="Times New Roman" panose="02020603050405020304" pitchFamily="18" charset="0"/>
              <a:cs typeface="Times New Roman" panose="02020603050405020304" pitchFamily="18" charset="0"/>
            </a:endParaRP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endParaRPr lang="de-DE" sz="1000" kern="1200" dirty="0">
              <a:solidFill>
                <a:schemeClr val="tx1"/>
              </a:solidFill>
              <a:effectLst/>
              <a:latin typeface="+mn-lt"/>
              <a:ea typeface="+mn-ea"/>
              <a:cs typeface="+mn-cs"/>
            </a:endParaRPr>
          </a:p>
          <a:p>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4</a:t>
            </a:fld>
            <a:endParaRPr lang="en-US"/>
          </a:p>
        </p:txBody>
      </p:sp>
    </p:spTree>
    <p:extLst>
      <p:ext uri="{BB962C8B-B14F-4D97-AF65-F5344CB8AC3E}">
        <p14:creationId xmlns:p14="http://schemas.microsoft.com/office/powerpoint/2010/main" val="1165918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114800" cy="3086100"/>
          </a:xfrm>
        </p:spPr>
      </p:sp>
      <p:sp>
        <p:nvSpPr>
          <p:cNvPr id="3" name="Notizenplatzhalter 2"/>
          <p:cNvSpPr>
            <a:spLocks noGrp="1"/>
          </p:cNvSpPr>
          <p:nvPr>
            <p:ph type="body" idx="1"/>
          </p:nvPr>
        </p:nvSpPr>
        <p:spPr/>
        <p:txBody>
          <a:bodyPr/>
          <a:lstStyle/>
          <a:p>
            <a:r>
              <a:rPr lang="en-US" sz="1000" kern="1200" dirty="0">
                <a:solidFill>
                  <a:schemeClr val="tx1"/>
                </a:solidFill>
                <a:effectLst/>
                <a:latin typeface="+mn-lt"/>
                <a:ea typeface="+mn-ea"/>
                <a:cs typeface="+mn-cs"/>
              </a:rPr>
              <a:t>the novels analyzed offer a cross-section of Agatha Christie’s writing across different periods: from the 1920s to the 1960s. </a:t>
            </a:r>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5</a:t>
            </a:fld>
            <a:endParaRPr lang="en-US"/>
          </a:p>
        </p:txBody>
      </p:sp>
    </p:spTree>
    <p:extLst>
      <p:ext uri="{BB962C8B-B14F-4D97-AF65-F5344CB8AC3E}">
        <p14:creationId xmlns:p14="http://schemas.microsoft.com/office/powerpoint/2010/main" val="2697984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114800" cy="3086100"/>
          </a:xfrm>
        </p:spPr>
      </p:sp>
      <p:sp>
        <p:nvSpPr>
          <p:cNvPr id="3" name="Notizenplatzhalter 2"/>
          <p:cNvSpPr>
            <a:spLocks noGrp="1"/>
          </p:cNvSpPr>
          <p:nvPr>
            <p:ph type="body" idx="1"/>
          </p:nvPr>
        </p:nvSpPr>
        <p:spPr/>
        <p:txBody>
          <a:bodyPr/>
          <a:lstStyle/>
          <a:p>
            <a:pPr marL="0" indent="0">
              <a:buNone/>
            </a:pPr>
            <a:r>
              <a:rPr lang="en-US" sz="1000" kern="1200" dirty="0">
                <a:solidFill>
                  <a:schemeClr val="tx1"/>
                </a:solidFill>
                <a:effectLst/>
                <a:latin typeface="+mn-lt"/>
                <a:ea typeface="+mn-ea"/>
                <a:cs typeface="+mn-cs"/>
              </a:rPr>
              <a:t>the number of it is a sign whether the character is active throughout the novels; A mention indicates significant attention or suspicion directed toward a character; A node with a high Degree Centrality is considered important because it has many direct connections to other nodes. a node with a high Closeness Centrality is closely related to other nodes and can spread information very fast. A node with high Betweenness Centrality acts as a bridge in the network. It controls information flow between other nodes; a node with high eigenvector centrality is related to resourceful nodes. </a:t>
            </a:r>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8</a:t>
            </a:fld>
            <a:endParaRPr lang="en-US"/>
          </a:p>
        </p:txBody>
      </p:sp>
    </p:spTree>
    <p:extLst>
      <p:ext uri="{BB962C8B-B14F-4D97-AF65-F5344CB8AC3E}">
        <p14:creationId xmlns:p14="http://schemas.microsoft.com/office/powerpoint/2010/main" val="1849814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000" kern="1200" dirty="0">
                <a:solidFill>
                  <a:schemeClr val="tx1"/>
                </a:solidFill>
                <a:effectLst/>
                <a:latin typeface="+mn-lt"/>
                <a:ea typeface="+mn-ea"/>
                <a:cs typeface="+mn-cs"/>
              </a:rPr>
              <a:t>The result of SNA is presented below, with three distinct networks corresponding to three different rankings for each novel: Degree, Quoted Speeches, and Mention</a:t>
            </a:r>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9</a:t>
            </a:fld>
            <a:endParaRPr lang="en-US"/>
          </a:p>
        </p:txBody>
      </p:sp>
    </p:spTree>
    <p:extLst>
      <p:ext uri="{BB962C8B-B14F-4D97-AF65-F5344CB8AC3E}">
        <p14:creationId xmlns:p14="http://schemas.microsoft.com/office/powerpoint/2010/main" val="212040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114800" cy="3086100"/>
          </a:xfrm>
        </p:spPr>
      </p:sp>
      <p:sp>
        <p:nvSpPr>
          <p:cNvPr id="3" name="Notizenplatzhalter 2"/>
          <p:cNvSpPr>
            <a:spLocks noGrp="1"/>
          </p:cNvSpPr>
          <p:nvPr>
            <p:ph type="body" idx="1"/>
          </p:nvPr>
        </p:nvSpPr>
        <p:spPr/>
        <p:txBody>
          <a:bodyPr/>
          <a:lstStyle/>
          <a:p>
            <a:endParaRPr lang="de-DE" dirty="0"/>
          </a:p>
        </p:txBody>
      </p:sp>
      <p:sp>
        <p:nvSpPr>
          <p:cNvPr id="4" name="Kopfzeilenplatzhalter 3"/>
          <p:cNvSpPr>
            <a:spLocks noGrp="1"/>
          </p:cNvSpPr>
          <p:nvPr>
            <p:ph type="hdr" sz="quarter"/>
          </p:nvPr>
        </p:nvSpPr>
        <p:spPr/>
        <p:txBody>
          <a:bodyPr/>
          <a:lstStyle/>
          <a:p>
            <a:r>
              <a:rPr lang="en-US"/>
              <a:t>Titel der Präsentation</a:t>
            </a:r>
            <a:endParaRPr lang="en-US" dirty="0"/>
          </a:p>
        </p:txBody>
      </p:sp>
      <p:sp>
        <p:nvSpPr>
          <p:cNvPr id="5" name="Datumsplatzhalter 4"/>
          <p:cNvSpPr>
            <a:spLocks noGrp="1"/>
          </p:cNvSpPr>
          <p:nvPr>
            <p:ph type="dt" idx="1"/>
          </p:nvPr>
        </p:nvSpPr>
        <p:spPr/>
        <p:txBody>
          <a:bodyPr/>
          <a:lstStyle/>
          <a:p>
            <a:fld id="{05753778-6C5D-4C80-A055-D18683C95716}" type="datetime1">
              <a:rPr lang="de-DE" smtClean="0"/>
              <a:t>28.01.2026</a:t>
            </a:fld>
            <a:endParaRPr lang="en-US"/>
          </a:p>
        </p:txBody>
      </p:sp>
      <p:sp>
        <p:nvSpPr>
          <p:cNvPr id="6" name="Fußzeilenplatzhalter 5"/>
          <p:cNvSpPr>
            <a:spLocks noGrp="1"/>
          </p:cNvSpPr>
          <p:nvPr>
            <p:ph type="ftr" sz="quarter" idx="4"/>
          </p:nvPr>
        </p:nvSpPr>
        <p:spPr/>
        <p:txBody>
          <a:bodyPr/>
          <a:lstStyle/>
          <a:p>
            <a:r>
              <a:rPr lang="en-US"/>
              <a:t>Universität Stuttgart</a:t>
            </a:r>
            <a:endParaRPr lang="en-US" dirty="0"/>
          </a:p>
        </p:txBody>
      </p:sp>
      <p:sp>
        <p:nvSpPr>
          <p:cNvPr id="7" name="Foliennummernplatzhalter 6"/>
          <p:cNvSpPr>
            <a:spLocks noGrp="1"/>
          </p:cNvSpPr>
          <p:nvPr>
            <p:ph type="sldNum" sz="quarter" idx="5"/>
          </p:nvPr>
        </p:nvSpPr>
        <p:spPr/>
        <p:txBody>
          <a:bodyPr/>
          <a:lstStyle/>
          <a:p>
            <a:fld id="{05DD1DF0-DD4E-4B0C-B0FD-D16D9D2A9750}" type="slidenum">
              <a:rPr lang="en-US" smtClean="0"/>
              <a:pPr/>
              <a:t>13</a:t>
            </a:fld>
            <a:endParaRPr lang="en-US"/>
          </a:p>
        </p:txBody>
      </p:sp>
    </p:spTree>
    <p:extLst>
      <p:ext uri="{BB962C8B-B14F-4D97-AF65-F5344CB8AC3E}">
        <p14:creationId xmlns:p14="http://schemas.microsoft.com/office/powerpoint/2010/main" val="1329388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7" name="Grafik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9" name="Bildplatzhalter 8"/>
          <p:cNvSpPr>
            <a:spLocks noGrp="1"/>
          </p:cNvSpPr>
          <p:nvPr>
            <p:ph type="pic" sz="quarter" idx="10"/>
          </p:nvPr>
        </p:nvSpPr>
        <p:spPr>
          <a:xfrm>
            <a:off x="0" y="1381125"/>
            <a:ext cx="7620000" cy="4335675"/>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2" name="Title 1"/>
          <p:cNvSpPr>
            <a:spLocks noGrp="1"/>
          </p:cNvSpPr>
          <p:nvPr>
            <p:ph type="ctrTitle" hasCustomPrompt="1"/>
          </p:nvPr>
        </p:nvSpPr>
        <p:spPr>
          <a:xfrm>
            <a:off x="3815808" y="1199693"/>
            <a:ext cx="3600000" cy="3600000"/>
          </a:xfrm>
          <a:prstGeom prst="ellipse">
            <a:avLst/>
          </a:prstGeom>
          <a:solidFill>
            <a:schemeClr val="accent3"/>
          </a:solidFill>
        </p:spPr>
        <p:txBody>
          <a:bodyPr wrap="square" lIns="0" tIns="0" rIns="0" bIns="1152000" anchor="b" anchorCtr="0">
            <a:noAutofit/>
          </a:bodyPr>
          <a:lstStyle>
            <a:lvl1pPr marL="0" indent="0" algn="l">
              <a:lnSpc>
                <a:spcPct val="90000"/>
              </a:lnSpc>
              <a:defRPr sz="2400" b="1" baseline="0">
                <a:solidFill>
                  <a:schemeClr val="bg1"/>
                </a:solidFill>
              </a:defRPr>
            </a:lvl1pPr>
          </a:lstStyle>
          <a:p>
            <a:r>
              <a:rPr lang="de-DE" dirty="0"/>
              <a:t>Studentisches Projekt – Text durch Klicken </a:t>
            </a:r>
            <a:br>
              <a:rPr lang="de-DE" dirty="0"/>
            </a:br>
            <a:r>
              <a:rPr lang="de-DE" dirty="0"/>
              <a:t>hinzufügen</a:t>
            </a:r>
          </a:p>
        </p:txBody>
      </p:sp>
      <p:sp>
        <p:nvSpPr>
          <p:cNvPr id="3" name="Subtitle 2"/>
          <p:cNvSpPr>
            <a:spLocks noGrp="1"/>
          </p:cNvSpPr>
          <p:nvPr>
            <p:ph type="subTitle" idx="1" hasCustomPrompt="1"/>
          </p:nvPr>
        </p:nvSpPr>
        <p:spPr>
          <a:xfrm>
            <a:off x="4341784" y="3240000"/>
            <a:ext cx="2700573" cy="428400"/>
          </a:xfrm>
        </p:spPr>
        <p:txBody>
          <a:bodyPr lIns="0" tIns="0" rIns="0" bIns="0">
            <a:normAutofit/>
          </a:bodyPr>
          <a:lstStyle>
            <a:lvl1pPr marL="0" indent="0" algn="l">
              <a:lnSpc>
                <a:spcPct val="100000"/>
              </a:lnSpc>
              <a:buNone/>
              <a:defRPr sz="1200">
                <a:solidFill>
                  <a:schemeClr val="bg1"/>
                </a:solidFill>
              </a:defRPr>
            </a:lvl1pPr>
            <a:lvl2pPr marL="285728" indent="0" algn="ctr">
              <a:buNone/>
              <a:defRPr sz="1250"/>
            </a:lvl2pPr>
            <a:lvl3pPr marL="571454" indent="0" algn="ctr">
              <a:buNone/>
              <a:defRPr sz="1125"/>
            </a:lvl3pPr>
            <a:lvl4pPr marL="857182" indent="0" algn="ctr">
              <a:buNone/>
              <a:defRPr sz="1000"/>
            </a:lvl4pPr>
            <a:lvl5pPr marL="1142908" indent="0" algn="ctr">
              <a:buNone/>
              <a:defRPr sz="1000"/>
            </a:lvl5pPr>
            <a:lvl6pPr marL="1428636" indent="0" algn="ctr">
              <a:buNone/>
              <a:defRPr sz="1000"/>
            </a:lvl6pPr>
            <a:lvl7pPr marL="1714362" indent="0" algn="ctr">
              <a:buNone/>
              <a:defRPr sz="1000"/>
            </a:lvl7pPr>
            <a:lvl8pPr marL="2000090" indent="0" algn="ctr">
              <a:buNone/>
              <a:defRPr sz="1000"/>
            </a:lvl8pPr>
            <a:lvl9pPr marL="2285818" indent="0" algn="ctr">
              <a:buNone/>
              <a:defRPr sz="1000"/>
            </a:lvl9pPr>
          </a:lstStyle>
          <a:p>
            <a:r>
              <a:rPr lang="de-DE"/>
              <a:t>Untertitel Text durch Klicken hinzufügen</a:t>
            </a:r>
            <a:endParaRPr lang="de-DE" dirty="0"/>
          </a:p>
        </p:txBody>
      </p:sp>
      <p:sp>
        <p:nvSpPr>
          <p:cNvPr id="11" name="Textplatzhalter 10"/>
          <p:cNvSpPr>
            <a:spLocks noGrp="1"/>
          </p:cNvSpPr>
          <p:nvPr>
            <p:ph type="body" sz="quarter" idx="11" hasCustomPrompt="1"/>
          </p:nvPr>
        </p:nvSpPr>
        <p:spPr>
          <a:xfrm>
            <a:off x="5969627" y="4075198"/>
            <a:ext cx="1274400" cy="1274400"/>
          </a:xfrm>
          <a:prstGeom prst="ellipse">
            <a:avLst/>
          </a:prstGeom>
          <a:solidFill>
            <a:schemeClr val="bg1"/>
          </a:solidFill>
        </p:spPr>
        <p:txBody>
          <a:bodyPr wrap="none" lIns="0" tIns="0" rIns="0" bIns="0" anchor="ctr">
            <a:noAutofit/>
          </a:bodyPr>
          <a:lstStyle>
            <a:lvl1pPr marL="0" indent="0">
              <a:lnSpc>
                <a:spcPts val="125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374623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Barrierefrei blau">
    <p:spTree>
      <p:nvGrpSpPr>
        <p:cNvPr id="1" name=""/>
        <p:cNvGrpSpPr/>
        <p:nvPr/>
      </p:nvGrpSpPr>
      <p:grpSpPr>
        <a:xfrm>
          <a:off x="0" y="0"/>
          <a:ext cx="0" cy="0"/>
          <a:chOff x="0" y="0"/>
          <a:chExt cx="0" cy="0"/>
        </a:xfrm>
      </p:grpSpPr>
      <p:pic>
        <p:nvPicPr>
          <p:cNvPr id="7" name="Grafik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9" name="Bildplatzhalter 8"/>
          <p:cNvSpPr>
            <a:spLocks noGrp="1"/>
          </p:cNvSpPr>
          <p:nvPr>
            <p:ph type="pic" sz="quarter" idx="10"/>
          </p:nvPr>
        </p:nvSpPr>
        <p:spPr>
          <a:xfrm>
            <a:off x="0" y="1381125"/>
            <a:ext cx="7620000" cy="4335675"/>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2" name="Title 1"/>
          <p:cNvSpPr>
            <a:spLocks noGrp="1"/>
          </p:cNvSpPr>
          <p:nvPr>
            <p:ph type="ctrTitle" hasCustomPrompt="1"/>
          </p:nvPr>
        </p:nvSpPr>
        <p:spPr>
          <a:xfrm>
            <a:off x="3815808" y="1199693"/>
            <a:ext cx="3600000" cy="3600000"/>
          </a:xfrm>
          <a:prstGeom prst="ellipse">
            <a:avLst/>
          </a:prstGeom>
          <a:solidFill>
            <a:schemeClr val="accent2"/>
          </a:solidFill>
        </p:spPr>
        <p:txBody>
          <a:bodyPr wrap="square" lIns="0" tIns="0" rIns="0" bIns="1152000" anchor="b" anchorCtr="0">
            <a:noAutofit/>
          </a:bodyPr>
          <a:lstStyle>
            <a:lvl1pPr marL="0" indent="0" algn="l">
              <a:lnSpc>
                <a:spcPct val="90000"/>
              </a:lnSpc>
              <a:defRPr sz="2400" b="1" baseline="0">
                <a:solidFill>
                  <a:schemeClr val="bg1"/>
                </a:solidFill>
              </a:defRPr>
            </a:lvl1pPr>
          </a:lstStyle>
          <a:p>
            <a:r>
              <a:rPr lang="de-DE" dirty="0"/>
              <a:t>Studentisches Projekt – Text durch Klicken </a:t>
            </a:r>
            <a:br>
              <a:rPr lang="de-DE" dirty="0"/>
            </a:br>
            <a:r>
              <a:rPr lang="de-DE" dirty="0"/>
              <a:t>hinzufügen</a:t>
            </a:r>
          </a:p>
        </p:txBody>
      </p:sp>
      <p:sp>
        <p:nvSpPr>
          <p:cNvPr id="3" name="Subtitle 2"/>
          <p:cNvSpPr>
            <a:spLocks noGrp="1"/>
          </p:cNvSpPr>
          <p:nvPr>
            <p:ph type="subTitle" idx="1" hasCustomPrompt="1"/>
          </p:nvPr>
        </p:nvSpPr>
        <p:spPr>
          <a:xfrm>
            <a:off x="4341784" y="3240000"/>
            <a:ext cx="2700573" cy="428400"/>
          </a:xfrm>
        </p:spPr>
        <p:txBody>
          <a:bodyPr lIns="0" tIns="0" rIns="0" bIns="0">
            <a:normAutofit/>
          </a:bodyPr>
          <a:lstStyle>
            <a:lvl1pPr marL="0" indent="0" algn="l">
              <a:lnSpc>
                <a:spcPct val="100000"/>
              </a:lnSpc>
              <a:buNone/>
              <a:defRPr sz="1200">
                <a:solidFill>
                  <a:schemeClr val="bg1"/>
                </a:solidFill>
              </a:defRPr>
            </a:lvl1pPr>
            <a:lvl2pPr marL="285728" indent="0" algn="ctr">
              <a:buNone/>
              <a:defRPr sz="1250"/>
            </a:lvl2pPr>
            <a:lvl3pPr marL="571454" indent="0" algn="ctr">
              <a:buNone/>
              <a:defRPr sz="1125"/>
            </a:lvl3pPr>
            <a:lvl4pPr marL="857182" indent="0" algn="ctr">
              <a:buNone/>
              <a:defRPr sz="1000"/>
            </a:lvl4pPr>
            <a:lvl5pPr marL="1142908" indent="0" algn="ctr">
              <a:buNone/>
              <a:defRPr sz="1000"/>
            </a:lvl5pPr>
            <a:lvl6pPr marL="1428636" indent="0" algn="ctr">
              <a:buNone/>
              <a:defRPr sz="1000"/>
            </a:lvl6pPr>
            <a:lvl7pPr marL="1714362" indent="0" algn="ctr">
              <a:buNone/>
              <a:defRPr sz="1000"/>
            </a:lvl7pPr>
            <a:lvl8pPr marL="2000090" indent="0" algn="ctr">
              <a:buNone/>
              <a:defRPr sz="1000"/>
            </a:lvl8pPr>
            <a:lvl9pPr marL="2285818" indent="0" algn="ctr">
              <a:buNone/>
              <a:defRPr sz="1000"/>
            </a:lvl9pPr>
          </a:lstStyle>
          <a:p>
            <a:r>
              <a:rPr lang="de-DE"/>
              <a:t>Untertitel Text durch Klicken hinzufügen</a:t>
            </a:r>
            <a:endParaRPr lang="de-DE" dirty="0"/>
          </a:p>
        </p:txBody>
      </p:sp>
      <p:sp>
        <p:nvSpPr>
          <p:cNvPr id="11" name="Textplatzhalter 10"/>
          <p:cNvSpPr>
            <a:spLocks noGrp="1"/>
          </p:cNvSpPr>
          <p:nvPr>
            <p:ph type="body" sz="quarter" idx="11" hasCustomPrompt="1"/>
          </p:nvPr>
        </p:nvSpPr>
        <p:spPr>
          <a:xfrm>
            <a:off x="5969627" y="4075198"/>
            <a:ext cx="1274400" cy="1274400"/>
          </a:xfrm>
          <a:prstGeom prst="ellipse">
            <a:avLst/>
          </a:prstGeom>
          <a:solidFill>
            <a:schemeClr val="bg1"/>
          </a:solidFill>
        </p:spPr>
        <p:txBody>
          <a:bodyPr wrap="none" lIns="0" tIns="0" rIns="0" bIns="0" anchor="ctr">
            <a:noAutofit/>
          </a:bodyPr>
          <a:lstStyle>
            <a:lvl1pPr marL="0" indent="0">
              <a:lnSpc>
                <a:spcPts val="125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4174179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Barrierefrei hellblau">
    <p:spTree>
      <p:nvGrpSpPr>
        <p:cNvPr id="1" name=""/>
        <p:cNvGrpSpPr/>
        <p:nvPr/>
      </p:nvGrpSpPr>
      <p:grpSpPr>
        <a:xfrm>
          <a:off x="0" y="0"/>
          <a:ext cx="0" cy="0"/>
          <a:chOff x="0" y="0"/>
          <a:chExt cx="0" cy="0"/>
        </a:xfrm>
      </p:grpSpPr>
      <p:pic>
        <p:nvPicPr>
          <p:cNvPr id="7" name="Grafik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9" name="Bildplatzhalter 8"/>
          <p:cNvSpPr>
            <a:spLocks noGrp="1"/>
          </p:cNvSpPr>
          <p:nvPr>
            <p:ph type="pic" sz="quarter" idx="10"/>
          </p:nvPr>
        </p:nvSpPr>
        <p:spPr>
          <a:xfrm>
            <a:off x="0" y="1381125"/>
            <a:ext cx="7620000" cy="4335675"/>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2" name="Title 1"/>
          <p:cNvSpPr>
            <a:spLocks noGrp="1"/>
          </p:cNvSpPr>
          <p:nvPr>
            <p:ph type="ctrTitle" hasCustomPrompt="1"/>
          </p:nvPr>
        </p:nvSpPr>
        <p:spPr>
          <a:xfrm>
            <a:off x="3815808" y="1199693"/>
            <a:ext cx="3600000" cy="3600000"/>
          </a:xfrm>
          <a:prstGeom prst="ellipse">
            <a:avLst/>
          </a:prstGeom>
          <a:solidFill>
            <a:schemeClr val="accent1"/>
          </a:solidFill>
        </p:spPr>
        <p:txBody>
          <a:bodyPr wrap="square" lIns="0" tIns="0" rIns="0" bIns="1152000" anchor="b" anchorCtr="0">
            <a:noAutofit/>
          </a:bodyPr>
          <a:lstStyle>
            <a:lvl1pPr marL="0" indent="0" algn="l">
              <a:lnSpc>
                <a:spcPct val="90000"/>
              </a:lnSpc>
              <a:defRPr sz="2400" b="1" baseline="0">
                <a:solidFill>
                  <a:schemeClr val="bg1"/>
                </a:solidFill>
                <a:highlight>
                  <a:srgbClr val="000000"/>
                </a:highlight>
              </a:defRPr>
            </a:lvl1pPr>
          </a:lstStyle>
          <a:p>
            <a:r>
              <a:rPr lang="de-DE" dirty="0"/>
              <a:t>Studentisches Projekt – Text durch Klicken </a:t>
            </a:r>
            <a:br>
              <a:rPr lang="de-DE" dirty="0"/>
            </a:br>
            <a:r>
              <a:rPr lang="de-DE" dirty="0"/>
              <a:t>hinzufügen</a:t>
            </a:r>
          </a:p>
        </p:txBody>
      </p:sp>
      <p:sp>
        <p:nvSpPr>
          <p:cNvPr id="3" name="Subtitle 2"/>
          <p:cNvSpPr>
            <a:spLocks noGrp="1"/>
          </p:cNvSpPr>
          <p:nvPr>
            <p:ph type="subTitle" idx="1" hasCustomPrompt="1"/>
          </p:nvPr>
        </p:nvSpPr>
        <p:spPr>
          <a:xfrm>
            <a:off x="4341784" y="3240000"/>
            <a:ext cx="2700573" cy="428400"/>
          </a:xfrm>
        </p:spPr>
        <p:txBody>
          <a:bodyPr lIns="0" tIns="0" rIns="0" bIns="0">
            <a:normAutofit/>
          </a:bodyPr>
          <a:lstStyle>
            <a:lvl1pPr marL="0" indent="0" algn="l">
              <a:lnSpc>
                <a:spcPct val="100000"/>
              </a:lnSpc>
              <a:buNone/>
              <a:defRPr sz="1200">
                <a:solidFill>
                  <a:schemeClr val="bg1"/>
                </a:solidFill>
                <a:highlight>
                  <a:srgbClr val="000000"/>
                </a:highlight>
              </a:defRPr>
            </a:lvl1pPr>
            <a:lvl2pPr marL="285728" indent="0" algn="ctr">
              <a:buNone/>
              <a:defRPr sz="1250"/>
            </a:lvl2pPr>
            <a:lvl3pPr marL="571454" indent="0" algn="ctr">
              <a:buNone/>
              <a:defRPr sz="1125"/>
            </a:lvl3pPr>
            <a:lvl4pPr marL="857182" indent="0" algn="ctr">
              <a:buNone/>
              <a:defRPr sz="1000"/>
            </a:lvl4pPr>
            <a:lvl5pPr marL="1142908" indent="0" algn="ctr">
              <a:buNone/>
              <a:defRPr sz="1000"/>
            </a:lvl5pPr>
            <a:lvl6pPr marL="1428636" indent="0" algn="ctr">
              <a:buNone/>
              <a:defRPr sz="1000"/>
            </a:lvl6pPr>
            <a:lvl7pPr marL="1714362" indent="0" algn="ctr">
              <a:buNone/>
              <a:defRPr sz="1000"/>
            </a:lvl7pPr>
            <a:lvl8pPr marL="2000090" indent="0" algn="ctr">
              <a:buNone/>
              <a:defRPr sz="1000"/>
            </a:lvl8pPr>
            <a:lvl9pPr marL="2285818" indent="0" algn="ctr">
              <a:buNone/>
              <a:defRPr sz="1000"/>
            </a:lvl9pPr>
          </a:lstStyle>
          <a:p>
            <a:r>
              <a:rPr lang="de-DE"/>
              <a:t>Untertitel Text durch Klicken hinzufügen</a:t>
            </a:r>
            <a:endParaRPr lang="de-DE" dirty="0"/>
          </a:p>
        </p:txBody>
      </p:sp>
      <p:sp>
        <p:nvSpPr>
          <p:cNvPr id="11" name="Textplatzhalter 10"/>
          <p:cNvSpPr>
            <a:spLocks noGrp="1"/>
          </p:cNvSpPr>
          <p:nvPr>
            <p:ph type="body" sz="quarter" idx="11" hasCustomPrompt="1"/>
          </p:nvPr>
        </p:nvSpPr>
        <p:spPr>
          <a:xfrm>
            <a:off x="5969627" y="4075198"/>
            <a:ext cx="1274400" cy="1274400"/>
          </a:xfrm>
          <a:prstGeom prst="ellipse">
            <a:avLst/>
          </a:prstGeom>
          <a:solidFill>
            <a:schemeClr val="bg1"/>
          </a:solidFill>
        </p:spPr>
        <p:txBody>
          <a:bodyPr wrap="none" lIns="0" tIns="0" rIns="0" bIns="0" anchor="ctr">
            <a:noAutofit/>
          </a:bodyPr>
          <a:lstStyle>
            <a:lvl1pPr marL="0" indent="0">
              <a:lnSpc>
                <a:spcPts val="1250"/>
              </a:lnSpc>
              <a:spcBef>
                <a:spcPts val="0"/>
              </a:spcBef>
              <a:buNone/>
              <a:defRPr sz="1200" b="1">
                <a:solidFill>
                  <a:schemeClr val="tx1"/>
                </a:solidFill>
              </a:defRPr>
            </a:lvl1pPr>
          </a:lstStyle>
          <a:p>
            <a:pPr lvl="0"/>
            <a:r>
              <a:rPr lang="de-DE" dirty="0"/>
              <a:t>Vorname </a:t>
            </a:r>
            <a:br>
              <a:rPr lang="de-DE" dirty="0"/>
            </a:br>
            <a:r>
              <a:rPr lang="de-DE" dirty="0"/>
              <a:t>Name</a:t>
            </a:r>
          </a:p>
        </p:txBody>
      </p:sp>
    </p:spTree>
    <p:extLst>
      <p:ext uri="{BB962C8B-B14F-4D97-AF65-F5344CB8AC3E}">
        <p14:creationId xmlns:p14="http://schemas.microsoft.com/office/powerpoint/2010/main" val="3738778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Institute">
    <p:spTree>
      <p:nvGrpSpPr>
        <p:cNvPr id="1" name=""/>
        <p:cNvGrpSpPr/>
        <p:nvPr/>
      </p:nvGrpSpPr>
      <p:grpSpPr>
        <a:xfrm>
          <a:off x="0" y="0"/>
          <a:ext cx="0" cy="0"/>
          <a:chOff x="0" y="0"/>
          <a:chExt cx="0" cy="0"/>
        </a:xfrm>
      </p:grpSpPr>
      <p:pic>
        <p:nvPicPr>
          <p:cNvPr id="8" name="Grafik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11" name="Bildplatzhalter 8"/>
          <p:cNvSpPr>
            <a:spLocks noGrp="1"/>
          </p:cNvSpPr>
          <p:nvPr>
            <p:ph type="pic" sz="quarter" idx="10"/>
          </p:nvPr>
        </p:nvSpPr>
        <p:spPr>
          <a:xfrm>
            <a:off x="0" y="1381125"/>
            <a:ext cx="7620000" cy="4335675"/>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12" name="Title 1"/>
          <p:cNvSpPr>
            <a:spLocks noGrp="1"/>
          </p:cNvSpPr>
          <p:nvPr>
            <p:ph type="ctrTitle" hasCustomPrompt="1"/>
          </p:nvPr>
        </p:nvSpPr>
        <p:spPr>
          <a:xfrm>
            <a:off x="3815808" y="1199693"/>
            <a:ext cx="3600000" cy="3600000"/>
          </a:xfrm>
          <a:prstGeom prst="ellipse">
            <a:avLst/>
          </a:prstGeom>
          <a:solidFill>
            <a:schemeClr val="accent1"/>
          </a:solidFill>
        </p:spPr>
        <p:txBody>
          <a:bodyPr wrap="square" lIns="0" tIns="0" rIns="0" bIns="1152000" anchor="b" anchorCtr="0">
            <a:noAutofit/>
          </a:bodyPr>
          <a:lstStyle>
            <a:lvl1pPr marL="0" indent="0" algn="l">
              <a:lnSpc>
                <a:spcPct val="90000"/>
              </a:lnSpc>
              <a:defRPr sz="2400" b="1" baseline="0">
                <a:solidFill>
                  <a:schemeClr val="tx1"/>
                </a:solidFill>
              </a:defRPr>
            </a:lvl1pPr>
          </a:lstStyle>
          <a:p>
            <a:r>
              <a:rPr lang="de-DE" dirty="0"/>
              <a:t>Studentisches Projekt – Text hinzufügen</a:t>
            </a:r>
          </a:p>
        </p:txBody>
      </p:sp>
      <p:sp>
        <p:nvSpPr>
          <p:cNvPr id="13" name="Subtitle 2"/>
          <p:cNvSpPr>
            <a:spLocks noGrp="1"/>
          </p:cNvSpPr>
          <p:nvPr>
            <p:ph type="subTitle" idx="1" hasCustomPrompt="1"/>
          </p:nvPr>
        </p:nvSpPr>
        <p:spPr>
          <a:xfrm>
            <a:off x="4341784" y="3240000"/>
            <a:ext cx="2700573" cy="428400"/>
          </a:xfrm>
        </p:spPr>
        <p:txBody>
          <a:bodyPr lIns="0" tIns="0" rIns="0" bIns="0">
            <a:normAutofit/>
          </a:bodyPr>
          <a:lstStyle>
            <a:lvl1pPr marL="0" indent="0" algn="l">
              <a:lnSpc>
                <a:spcPct val="100000"/>
              </a:lnSpc>
              <a:buNone/>
              <a:defRPr sz="1200">
                <a:solidFill>
                  <a:schemeClr val="tx1"/>
                </a:solidFill>
              </a:defRPr>
            </a:lvl1pPr>
            <a:lvl2pPr marL="285728" indent="0" algn="ctr">
              <a:buNone/>
              <a:defRPr sz="1250"/>
            </a:lvl2pPr>
            <a:lvl3pPr marL="571454" indent="0" algn="ctr">
              <a:buNone/>
              <a:defRPr sz="1125"/>
            </a:lvl3pPr>
            <a:lvl4pPr marL="857182" indent="0" algn="ctr">
              <a:buNone/>
              <a:defRPr sz="1000"/>
            </a:lvl4pPr>
            <a:lvl5pPr marL="1142908" indent="0" algn="ctr">
              <a:buNone/>
              <a:defRPr sz="1000"/>
            </a:lvl5pPr>
            <a:lvl6pPr marL="1428636" indent="0" algn="ctr">
              <a:buNone/>
              <a:defRPr sz="1000"/>
            </a:lvl6pPr>
            <a:lvl7pPr marL="1714362" indent="0" algn="ctr">
              <a:buNone/>
              <a:defRPr sz="1000"/>
            </a:lvl7pPr>
            <a:lvl8pPr marL="2000090" indent="0" algn="ctr">
              <a:buNone/>
              <a:defRPr sz="1000"/>
            </a:lvl8pPr>
            <a:lvl9pPr marL="2285818" indent="0" algn="ctr">
              <a:buNone/>
              <a:defRPr sz="1000"/>
            </a:lvl9pPr>
          </a:lstStyle>
          <a:p>
            <a:r>
              <a:rPr lang="de-DE"/>
              <a:t>Untertitel Text durch Klicken hinzufügen</a:t>
            </a:r>
            <a:endParaRPr lang="de-DE" dirty="0"/>
          </a:p>
        </p:txBody>
      </p:sp>
      <p:sp>
        <p:nvSpPr>
          <p:cNvPr id="5" name="Bildplatzhalter 4"/>
          <p:cNvSpPr>
            <a:spLocks noGrp="1"/>
          </p:cNvSpPr>
          <p:nvPr>
            <p:ph type="pic" sz="quarter" idx="14" hasCustomPrompt="1"/>
          </p:nvPr>
        </p:nvSpPr>
        <p:spPr>
          <a:xfrm>
            <a:off x="5963815" y="4075199"/>
            <a:ext cx="1274400" cy="1274400"/>
          </a:xfrm>
          <a:prstGeom prst="ellipse">
            <a:avLst/>
          </a:prstGeom>
          <a:solidFill>
            <a:schemeClr val="bg1"/>
          </a:solidFill>
        </p:spPr>
        <p:txBody>
          <a:bodyPr/>
          <a:lstStyle>
            <a:lvl1pPr marL="0" indent="0">
              <a:buFontTx/>
              <a:buNone/>
              <a:defRPr sz="900"/>
            </a:lvl1pPr>
          </a:lstStyle>
          <a:p>
            <a:r>
              <a:rPr lang="de-DE" dirty="0" err="1"/>
              <a:t>Sublogo</a:t>
            </a:r>
            <a:r>
              <a:rPr lang="de-DE" dirty="0"/>
              <a:t> einfügen</a:t>
            </a:r>
          </a:p>
        </p:txBody>
      </p:sp>
    </p:spTree>
    <p:extLst>
      <p:ext uri="{BB962C8B-B14F-4D97-AF65-F5344CB8AC3E}">
        <p14:creationId xmlns:p14="http://schemas.microsoft.com/office/powerpoint/2010/main" val="3822531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Institute 2">
    <p:spTree>
      <p:nvGrpSpPr>
        <p:cNvPr id="1" name=""/>
        <p:cNvGrpSpPr/>
        <p:nvPr/>
      </p:nvGrpSpPr>
      <p:grpSpPr>
        <a:xfrm>
          <a:off x="0" y="0"/>
          <a:ext cx="0" cy="0"/>
          <a:chOff x="0" y="0"/>
          <a:chExt cx="0" cy="0"/>
        </a:xfrm>
      </p:grpSpPr>
      <p:pic>
        <p:nvPicPr>
          <p:cNvPr id="8" name="Grafik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9" name="Bildplatzhalter 8"/>
          <p:cNvSpPr>
            <a:spLocks noGrp="1"/>
          </p:cNvSpPr>
          <p:nvPr>
            <p:ph type="pic" sz="quarter" idx="10"/>
          </p:nvPr>
        </p:nvSpPr>
        <p:spPr>
          <a:xfrm>
            <a:off x="0" y="1381125"/>
            <a:ext cx="7620000" cy="3708405"/>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2" name="Title 1"/>
          <p:cNvSpPr>
            <a:spLocks noGrp="1"/>
          </p:cNvSpPr>
          <p:nvPr>
            <p:ph type="ctrTitle" hasCustomPrompt="1"/>
          </p:nvPr>
        </p:nvSpPr>
        <p:spPr>
          <a:xfrm>
            <a:off x="3976382" y="1004404"/>
            <a:ext cx="3441772" cy="3441772"/>
          </a:xfrm>
          <a:prstGeom prst="ellipse">
            <a:avLst/>
          </a:prstGeom>
          <a:solidFill>
            <a:schemeClr val="accent1"/>
          </a:solidFill>
        </p:spPr>
        <p:txBody>
          <a:bodyPr wrap="square" lIns="0" tIns="0" rIns="0" bIns="1080000" anchor="b" anchorCtr="0">
            <a:noAutofit/>
          </a:bodyPr>
          <a:lstStyle>
            <a:lvl1pPr marL="0" indent="0" algn="l">
              <a:lnSpc>
                <a:spcPct val="90000"/>
              </a:lnSpc>
              <a:defRPr sz="2300" b="1" baseline="0">
                <a:solidFill>
                  <a:schemeClr val="tx1"/>
                </a:solidFill>
              </a:defRPr>
            </a:lvl1pPr>
          </a:lstStyle>
          <a:p>
            <a:r>
              <a:rPr lang="de-DE" dirty="0"/>
              <a:t>Studentisches Projekt – Text hinzufügen</a:t>
            </a:r>
          </a:p>
        </p:txBody>
      </p:sp>
      <p:sp>
        <p:nvSpPr>
          <p:cNvPr id="3" name="Subtitle 2"/>
          <p:cNvSpPr>
            <a:spLocks noGrp="1"/>
          </p:cNvSpPr>
          <p:nvPr>
            <p:ph type="subTitle" idx="1" hasCustomPrompt="1"/>
          </p:nvPr>
        </p:nvSpPr>
        <p:spPr>
          <a:xfrm>
            <a:off x="4491390" y="2952000"/>
            <a:ext cx="2580529" cy="450078"/>
          </a:xfrm>
        </p:spPr>
        <p:txBody>
          <a:bodyPr lIns="0" tIns="0" rIns="0" bIns="0">
            <a:noAutofit/>
          </a:bodyPr>
          <a:lstStyle>
            <a:lvl1pPr marL="0" indent="0" algn="l">
              <a:lnSpc>
                <a:spcPct val="100000"/>
              </a:lnSpc>
              <a:buNone/>
              <a:defRPr sz="1200">
                <a:solidFill>
                  <a:schemeClr val="tx1"/>
                </a:solidFill>
              </a:defRPr>
            </a:lvl1pPr>
            <a:lvl2pPr marL="285728" indent="0" algn="ctr">
              <a:buNone/>
              <a:defRPr sz="1250"/>
            </a:lvl2pPr>
            <a:lvl3pPr marL="571454" indent="0" algn="ctr">
              <a:buNone/>
              <a:defRPr sz="1125"/>
            </a:lvl3pPr>
            <a:lvl4pPr marL="857182" indent="0" algn="ctr">
              <a:buNone/>
              <a:defRPr sz="1000"/>
            </a:lvl4pPr>
            <a:lvl5pPr marL="1142908" indent="0" algn="ctr">
              <a:buNone/>
              <a:defRPr sz="1000"/>
            </a:lvl5pPr>
            <a:lvl6pPr marL="1428636" indent="0" algn="ctr">
              <a:buNone/>
              <a:defRPr sz="1000"/>
            </a:lvl6pPr>
            <a:lvl7pPr marL="1714362" indent="0" algn="ctr">
              <a:buNone/>
              <a:defRPr sz="1000"/>
            </a:lvl7pPr>
            <a:lvl8pPr marL="2000090" indent="0" algn="ctr">
              <a:buNone/>
              <a:defRPr sz="1000"/>
            </a:lvl8pPr>
            <a:lvl9pPr marL="2285818" indent="0" algn="ctr">
              <a:buNone/>
              <a:defRPr sz="1000"/>
            </a:lvl9pPr>
          </a:lstStyle>
          <a:p>
            <a:r>
              <a:rPr lang="de-DE"/>
              <a:t>Untertitel Text durch Klicken hinzufügen</a:t>
            </a:r>
            <a:endParaRPr lang="de-DE" dirty="0"/>
          </a:p>
        </p:txBody>
      </p:sp>
      <p:sp>
        <p:nvSpPr>
          <p:cNvPr id="7" name="Bildplatzhalter 6">
            <a:extLst>
              <a:ext uri="{C183D7F6-B498-43B3-948B-1728B52AA6E4}">
                <adec:decorative xmlns:adec="http://schemas.microsoft.com/office/drawing/2017/decorative" val="1"/>
              </a:ext>
            </a:extLst>
          </p:cNvPr>
          <p:cNvSpPr>
            <a:spLocks noGrp="1"/>
          </p:cNvSpPr>
          <p:nvPr>
            <p:ph type="pic" sz="quarter" idx="14" hasCustomPrompt="1"/>
          </p:nvPr>
        </p:nvSpPr>
        <p:spPr>
          <a:xfrm>
            <a:off x="6044409" y="5256213"/>
            <a:ext cx="1185333" cy="304800"/>
          </a:xfrm>
        </p:spPr>
        <p:txBody>
          <a:bodyPr/>
          <a:lstStyle>
            <a:lvl1pPr marL="0" indent="0">
              <a:buFontTx/>
              <a:buNone/>
              <a:defRPr sz="917" baseline="0"/>
            </a:lvl1pPr>
          </a:lstStyle>
          <a:p>
            <a:r>
              <a:rPr lang="de-DE" dirty="0" err="1"/>
              <a:t>Sublogo</a:t>
            </a:r>
            <a:r>
              <a:rPr lang="de-DE" dirty="0"/>
              <a:t> einfügen</a:t>
            </a:r>
          </a:p>
        </p:txBody>
      </p:sp>
    </p:spTree>
    <p:extLst>
      <p:ext uri="{BB962C8B-B14F-4D97-AF65-F5344CB8AC3E}">
        <p14:creationId xmlns:p14="http://schemas.microsoft.com/office/powerpoint/2010/main" val="75842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a:t>Mastertitelformat bearbeiten</a:t>
            </a:r>
            <a:endParaRPr lang="de-DE" dirty="0"/>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Datumsplatzhalter 1">
            <a:extLst>
              <a:ext uri="{FF2B5EF4-FFF2-40B4-BE49-F238E27FC236}">
                <a16:creationId xmlns:a16="http://schemas.microsoft.com/office/drawing/2014/main" id="{46272DF4-29E3-45FD-82B1-0AC23F258204}"/>
              </a:ext>
            </a:extLst>
          </p:cNvPr>
          <p:cNvSpPr>
            <a:spLocks noGrp="1"/>
          </p:cNvSpPr>
          <p:nvPr>
            <p:ph type="dt" sz="half" idx="14"/>
          </p:nvPr>
        </p:nvSpPr>
        <p:spPr/>
        <p:txBody>
          <a:bodyPr/>
          <a:lstStyle/>
          <a:p>
            <a:r>
              <a:rPr lang="de-DE"/>
              <a:t>25.01.2022</a:t>
            </a:r>
            <a:endParaRPr lang="de-DE" dirty="0"/>
          </a:p>
        </p:txBody>
      </p:sp>
      <p:sp>
        <p:nvSpPr>
          <p:cNvPr id="7" name="Fußzeilenplatzhalter 6">
            <a:extLst>
              <a:ext uri="{FF2B5EF4-FFF2-40B4-BE49-F238E27FC236}">
                <a16:creationId xmlns:a16="http://schemas.microsoft.com/office/drawing/2014/main" id="{B0DEFD71-E99F-4895-9E3A-9A123EE68C47}"/>
              </a:ext>
            </a:extLst>
          </p:cNvPr>
          <p:cNvSpPr>
            <a:spLocks noGrp="1"/>
          </p:cNvSpPr>
          <p:nvPr>
            <p:ph type="ftr" sz="quarter" idx="15"/>
          </p:nvPr>
        </p:nvSpPr>
        <p:spPr/>
        <p:txBody>
          <a:bodyPr/>
          <a:lstStyle/>
          <a:p>
            <a:r>
              <a:rPr lang="en-US"/>
              <a:t>Name</a:t>
            </a:r>
            <a:endParaRPr lang="en-US" dirty="0"/>
          </a:p>
        </p:txBody>
      </p:sp>
      <p:sp>
        <p:nvSpPr>
          <p:cNvPr id="10" name="Foliennummernplatzhalter 9">
            <a:extLst>
              <a:ext uri="{FF2B5EF4-FFF2-40B4-BE49-F238E27FC236}">
                <a16:creationId xmlns:a16="http://schemas.microsoft.com/office/drawing/2014/main" id="{52140427-B595-4C2B-990C-74D2C14C2D2C}"/>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281450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Kap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bk object 17">
            <a:extLst>
              <a:ext uri="{C183D7F6-B498-43B3-948B-1728B52AA6E4}">
                <adec:decorative xmlns:adec="http://schemas.microsoft.com/office/drawing/2017/decorative" val="1"/>
              </a:ext>
            </a:extLst>
          </p:cNvPr>
          <p:cNvSpPr/>
          <p:nvPr userDrawn="1"/>
        </p:nvSpPr>
        <p:spPr>
          <a:xfrm>
            <a:off x="1066627" y="0"/>
            <a:ext cx="5453591" cy="3271837"/>
          </a:xfrm>
          <a:custGeom>
            <a:avLst/>
            <a:gdLst/>
            <a:ahLst/>
            <a:cxnLst/>
            <a:rect l="l" t="t" r="r" b="b"/>
            <a:pathLst>
              <a:path w="6544309" h="3926204">
                <a:moveTo>
                  <a:pt x="68016" y="0"/>
                </a:moveTo>
                <a:lnTo>
                  <a:pt x="42823" y="123182"/>
                </a:lnTo>
                <a:lnTo>
                  <a:pt x="10846" y="385553"/>
                </a:lnTo>
                <a:lnTo>
                  <a:pt x="0" y="653897"/>
                </a:lnTo>
                <a:lnTo>
                  <a:pt x="10846" y="922242"/>
                </a:lnTo>
                <a:lnTo>
                  <a:pt x="42823" y="1184612"/>
                </a:lnTo>
                <a:lnTo>
                  <a:pt x="95089" y="1440166"/>
                </a:lnTo>
                <a:lnTo>
                  <a:pt x="166802" y="1688062"/>
                </a:lnTo>
                <a:lnTo>
                  <a:pt x="257120" y="1927457"/>
                </a:lnTo>
                <a:lnTo>
                  <a:pt x="365200" y="2157510"/>
                </a:lnTo>
                <a:lnTo>
                  <a:pt x="490201" y="2377378"/>
                </a:lnTo>
                <a:lnTo>
                  <a:pt x="631281" y="2586220"/>
                </a:lnTo>
                <a:lnTo>
                  <a:pt x="787597" y="2783193"/>
                </a:lnTo>
                <a:lnTo>
                  <a:pt x="958308" y="2967456"/>
                </a:lnTo>
                <a:lnTo>
                  <a:pt x="1142571" y="3138167"/>
                </a:lnTo>
                <a:lnTo>
                  <a:pt x="1339545" y="3294482"/>
                </a:lnTo>
                <a:lnTo>
                  <a:pt x="1548387" y="3435561"/>
                </a:lnTo>
                <a:lnTo>
                  <a:pt x="1768256" y="3560562"/>
                </a:lnTo>
                <a:lnTo>
                  <a:pt x="1998308" y="3668642"/>
                </a:lnTo>
                <a:lnTo>
                  <a:pt x="2237703" y="3758959"/>
                </a:lnTo>
                <a:lnTo>
                  <a:pt x="2485598" y="3830671"/>
                </a:lnTo>
                <a:lnTo>
                  <a:pt x="2741151" y="3882937"/>
                </a:lnTo>
                <a:lnTo>
                  <a:pt x="3003520" y="3914914"/>
                </a:lnTo>
                <a:lnTo>
                  <a:pt x="3271862" y="3925760"/>
                </a:lnTo>
                <a:lnTo>
                  <a:pt x="3540207" y="3914914"/>
                </a:lnTo>
                <a:lnTo>
                  <a:pt x="3802577" y="3882937"/>
                </a:lnTo>
                <a:lnTo>
                  <a:pt x="4058131" y="3830671"/>
                </a:lnTo>
                <a:lnTo>
                  <a:pt x="4306027" y="3758959"/>
                </a:lnTo>
                <a:lnTo>
                  <a:pt x="4545422" y="3668642"/>
                </a:lnTo>
                <a:lnTo>
                  <a:pt x="4775475" y="3560562"/>
                </a:lnTo>
                <a:lnTo>
                  <a:pt x="4995343" y="3435561"/>
                </a:lnTo>
                <a:lnTo>
                  <a:pt x="5204185" y="3294482"/>
                </a:lnTo>
                <a:lnTo>
                  <a:pt x="5401159" y="3138167"/>
                </a:lnTo>
                <a:lnTo>
                  <a:pt x="5585421" y="2967456"/>
                </a:lnTo>
                <a:lnTo>
                  <a:pt x="5756132" y="2783193"/>
                </a:lnTo>
                <a:lnTo>
                  <a:pt x="5912448" y="2586220"/>
                </a:lnTo>
                <a:lnTo>
                  <a:pt x="6053527" y="2377378"/>
                </a:lnTo>
                <a:lnTo>
                  <a:pt x="6178527" y="2157510"/>
                </a:lnTo>
                <a:lnTo>
                  <a:pt x="6286607" y="1927457"/>
                </a:lnTo>
                <a:lnTo>
                  <a:pt x="6376924" y="1688062"/>
                </a:lnTo>
                <a:lnTo>
                  <a:pt x="6448637" y="1440166"/>
                </a:lnTo>
                <a:lnTo>
                  <a:pt x="6500902" y="1184612"/>
                </a:lnTo>
                <a:lnTo>
                  <a:pt x="6532879" y="922242"/>
                </a:lnTo>
                <a:lnTo>
                  <a:pt x="6543725" y="653897"/>
                </a:lnTo>
                <a:lnTo>
                  <a:pt x="6532879" y="385553"/>
                </a:lnTo>
                <a:lnTo>
                  <a:pt x="6500902" y="123182"/>
                </a:lnTo>
                <a:lnTo>
                  <a:pt x="6475709" y="0"/>
                </a:lnTo>
                <a:lnTo>
                  <a:pt x="68016" y="0"/>
                </a:lnTo>
              </a:path>
            </a:pathLst>
          </a:custGeom>
          <a:solidFill>
            <a:srgbClr val="FFFFFF"/>
          </a:solidFill>
        </p:spPr>
        <p:txBody>
          <a:bodyPr wrap="square" lIns="0" tIns="0" rIns="0" bIns="0" rtlCol="0"/>
          <a:lstStyle/>
          <a:p>
            <a:endParaRPr lang="de-DE" dirty="0"/>
          </a:p>
        </p:txBody>
      </p:sp>
      <p:sp>
        <p:nvSpPr>
          <p:cNvPr id="3" name="Text Placeholder 2"/>
          <p:cNvSpPr>
            <a:spLocks noGrp="1"/>
          </p:cNvSpPr>
          <p:nvPr>
            <p:ph type="body" idx="1" hasCustomPrompt="1"/>
          </p:nvPr>
        </p:nvSpPr>
        <p:spPr>
          <a:xfrm>
            <a:off x="2019000" y="629827"/>
            <a:ext cx="3431758" cy="221599"/>
          </a:xfrm>
        </p:spPr>
        <p:txBody>
          <a:bodyPr>
            <a:noAutofit/>
          </a:bodyPr>
          <a:lstStyle>
            <a:lvl1pPr marL="0" indent="0">
              <a:buNone/>
              <a:defRPr sz="1200" baseline="0">
                <a:solidFill>
                  <a:schemeClr val="tx1"/>
                </a:solidFill>
              </a:defRPr>
            </a:lvl1pPr>
            <a:lvl2pPr marL="285728" indent="0">
              <a:buNone/>
              <a:defRPr sz="1250">
                <a:solidFill>
                  <a:schemeClr val="tx1">
                    <a:tint val="75000"/>
                  </a:schemeClr>
                </a:solidFill>
              </a:defRPr>
            </a:lvl2pPr>
            <a:lvl3pPr marL="571454" indent="0">
              <a:buNone/>
              <a:defRPr sz="1125">
                <a:solidFill>
                  <a:schemeClr val="tx1">
                    <a:tint val="75000"/>
                  </a:schemeClr>
                </a:solidFill>
              </a:defRPr>
            </a:lvl3pPr>
            <a:lvl4pPr marL="857182" indent="0">
              <a:buNone/>
              <a:defRPr sz="1000">
                <a:solidFill>
                  <a:schemeClr val="tx1">
                    <a:tint val="75000"/>
                  </a:schemeClr>
                </a:solidFill>
              </a:defRPr>
            </a:lvl4pPr>
            <a:lvl5pPr marL="1142908" indent="0">
              <a:buNone/>
              <a:defRPr sz="1000">
                <a:solidFill>
                  <a:schemeClr val="tx1">
                    <a:tint val="75000"/>
                  </a:schemeClr>
                </a:solidFill>
              </a:defRPr>
            </a:lvl5pPr>
            <a:lvl6pPr marL="1428636" indent="0">
              <a:buNone/>
              <a:defRPr sz="1000">
                <a:solidFill>
                  <a:schemeClr val="tx1">
                    <a:tint val="75000"/>
                  </a:schemeClr>
                </a:solidFill>
              </a:defRPr>
            </a:lvl6pPr>
            <a:lvl7pPr marL="1714362" indent="0">
              <a:buNone/>
              <a:defRPr sz="1000">
                <a:solidFill>
                  <a:schemeClr val="tx1">
                    <a:tint val="75000"/>
                  </a:schemeClr>
                </a:solidFill>
              </a:defRPr>
            </a:lvl7pPr>
            <a:lvl8pPr marL="2000090" indent="0">
              <a:buNone/>
              <a:defRPr sz="1000">
                <a:solidFill>
                  <a:schemeClr val="tx1">
                    <a:tint val="75000"/>
                  </a:schemeClr>
                </a:solidFill>
              </a:defRPr>
            </a:lvl8pPr>
            <a:lvl9pPr marL="2285818" indent="0">
              <a:buNone/>
              <a:defRPr sz="1000">
                <a:solidFill>
                  <a:schemeClr val="tx1">
                    <a:tint val="75000"/>
                  </a:schemeClr>
                </a:solidFill>
              </a:defRPr>
            </a:lvl9pPr>
          </a:lstStyle>
          <a:p>
            <a:pPr lvl="0"/>
            <a:r>
              <a:rPr lang="de-DE" dirty="0"/>
              <a:t>Kapitel</a:t>
            </a:r>
          </a:p>
        </p:txBody>
      </p:sp>
      <p:sp>
        <p:nvSpPr>
          <p:cNvPr id="2" name="Title 1"/>
          <p:cNvSpPr>
            <a:spLocks noGrp="1"/>
          </p:cNvSpPr>
          <p:nvPr>
            <p:ph type="title"/>
          </p:nvPr>
        </p:nvSpPr>
        <p:spPr>
          <a:xfrm>
            <a:off x="2019000" y="900000"/>
            <a:ext cx="3431758" cy="1360800"/>
          </a:xfrm>
        </p:spPr>
        <p:txBody>
          <a:bodyPr anchor="t" anchorCtr="0"/>
          <a:lstStyle>
            <a:lvl1pPr>
              <a:defRPr sz="3000"/>
            </a:lvl1pPr>
          </a:lstStyle>
          <a:p>
            <a:r>
              <a:rPr lang="de-DE"/>
              <a:t>Mastertitelformat bearbeiten</a:t>
            </a:r>
            <a:endParaRPr lang="de-DE" dirty="0"/>
          </a:p>
        </p:txBody>
      </p:sp>
    </p:spTree>
    <p:extLst>
      <p:ext uri="{BB962C8B-B14F-4D97-AF65-F5344CB8AC3E}">
        <p14:creationId xmlns:p14="http://schemas.microsoft.com/office/powerpoint/2010/main" val="2710761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Unterkapitel">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019001" y="1944003"/>
            <a:ext cx="2522274" cy="221599"/>
          </a:xfrm>
        </p:spPr>
        <p:txBody>
          <a:bodyPr>
            <a:noAutofit/>
          </a:bodyPr>
          <a:lstStyle>
            <a:lvl1pPr marL="0" indent="0">
              <a:buNone/>
              <a:defRPr sz="1200" baseline="0">
                <a:solidFill>
                  <a:schemeClr val="bg1"/>
                </a:solidFill>
              </a:defRPr>
            </a:lvl1pPr>
            <a:lvl2pPr marL="285728" indent="0">
              <a:buNone/>
              <a:defRPr sz="1250">
                <a:solidFill>
                  <a:schemeClr val="tx1">
                    <a:tint val="75000"/>
                  </a:schemeClr>
                </a:solidFill>
              </a:defRPr>
            </a:lvl2pPr>
            <a:lvl3pPr marL="571454" indent="0">
              <a:buNone/>
              <a:defRPr sz="1125">
                <a:solidFill>
                  <a:schemeClr val="tx1">
                    <a:tint val="75000"/>
                  </a:schemeClr>
                </a:solidFill>
              </a:defRPr>
            </a:lvl3pPr>
            <a:lvl4pPr marL="857182" indent="0">
              <a:buNone/>
              <a:defRPr sz="1000">
                <a:solidFill>
                  <a:schemeClr val="tx1">
                    <a:tint val="75000"/>
                  </a:schemeClr>
                </a:solidFill>
              </a:defRPr>
            </a:lvl4pPr>
            <a:lvl5pPr marL="1142908" indent="0">
              <a:buNone/>
              <a:defRPr sz="1000">
                <a:solidFill>
                  <a:schemeClr val="tx1">
                    <a:tint val="75000"/>
                  </a:schemeClr>
                </a:solidFill>
              </a:defRPr>
            </a:lvl5pPr>
            <a:lvl6pPr marL="1428636" indent="0">
              <a:buNone/>
              <a:defRPr sz="1000">
                <a:solidFill>
                  <a:schemeClr val="tx1">
                    <a:tint val="75000"/>
                  </a:schemeClr>
                </a:solidFill>
              </a:defRPr>
            </a:lvl6pPr>
            <a:lvl7pPr marL="1714362" indent="0">
              <a:buNone/>
              <a:defRPr sz="1000">
                <a:solidFill>
                  <a:schemeClr val="tx1">
                    <a:tint val="75000"/>
                  </a:schemeClr>
                </a:solidFill>
              </a:defRPr>
            </a:lvl7pPr>
            <a:lvl8pPr marL="2000090" indent="0">
              <a:buNone/>
              <a:defRPr sz="1000">
                <a:solidFill>
                  <a:schemeClr val="tx1">
                    <a:tint val="75000"/>
                  </a:schemeClr>
                </a:solidFill>
              </a:defRPr>
            </a:lvl8pPr>
            <a:lvl9pPr marL="2285818" indent="0">
              <a:buNone/>
              <a:defRPr sz="1000">
                <a:solidFill>
                  <a:schemeClr val="tx1">
                    <a:tint val="75000"/>
                  </a:schemeClr>
                </a:solidFill>
              </a:defRPr>
            </a:lvl9pPr>
          </a:lstStyle>
          <a:p>
            <a:pPr lvl="0"/>
            <a:r>
              <a:rPr lang="de-DE" dirty="0"/>
              <a:t>Unterkapitel</a:t>
            </a:r>
          </a:p>
        </p:txBody>
      </p:sp>
      <p:sp>
        <p:nvSpPr>
          <p:cNvPr id="2" name="Title 1"/>
          <p:cNvSpPr>
            <a:spLocks noGrp="1"/>
          </p:cNvSpPr>
          <p:nvPr>
            <p:ph type="title"/>
          </p:nvPr>
        </p:nvSpPr>
        <p:spPr>
          <a:xfrm>
            <a:off x="2019001" y="2250000"/>
            <a:ext cx="4605484" cy="900000"/>
          </a:xfrm>
        </p:spPr>
        <p:txBody>
          <a:bodyPr anchor="t" anchorCtr="0"/>
          <a:lstStyle>
            <a:lvl1pPr>
              <a:defRPr sz="3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3178261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itat Layout">
    <p:spTree>
      <p:nvGrpSpPr>
        <p:cNvPr id="1" name=""/>
        <p:cNvGrpSpPr/>
        <p:nvPr/>
      </p:nvGrpSpPr>
      <p:grpSpPr>
        <a:xfrm>
          <a:off x="0" y="0"/>
          <a:ext cx="0" cy="0"/>
          <a:chOff x="0" y="0"/>
          <a:chExt cx="0" cy="0"/>
        </a:xfrm>
      </p:grpSpPr>
      <p:sp>
        <p:nvSpPr>
          <p:cNvPr id="10" name="object 2">
            <a:extLst>
              <a:ext uri="{C183D7F6-B498-43B3-948B-1728B52AA6E4}">
                <adec:decorative xmlns:adec="http://schemas.microsoft.com/office/drawing/2017/decorative" val="1"/>
              </a:ext>
            </a:extLst>
          </p:cNvPr>
          <p:cNvSpPr/>
          <p:nvPr userDrawn="1"/>
        </p:nvSpPr>
        <p:spPr>
          <a:xfrm>
            <a:off x="226771" y="-113356"/>
            <a:ext cx="6773875" cy="4513327"/>
          </a:xfrm>
          <a:custGeom>
            <a:avLst/>
            <a:gdLst/>
            <a:ahLst/>
            <a:cxnLst/>
            <a:rect l="l" t="t" r="r" b="b"/>
            <a:pathLst>
              <a:path w="7198359" h="4796155">
                <a:moveTo>
                  <a:pt x="6992384" y="0"/>
                </a:moveTo>
                <a:lnTo>
                  <a:pt x="205721" y="0"/>
                </a:lnTo>
                <a:lnTo>
                  <a:pt x="183482" y="58947"/>
                </a:lnTo>
                <a:lnTo>
                  <a:pt x="104598" y="331632"/>
                </a:lnTo>
                <a:lnTo>
                  <a:pt x="47105" y="612741"/>
                </a:lnTo>
                <a:lnTo>
                  <a:pt x="11930" y="901348"/>
                </a:lnTo>
                <a:lnTo>
                  <a:pt x="0" y="1196526"/>
                </a:lnTo>
                <a:lnTo>
                  <a:pt x="11930" y="1491704"/>
                </a:lnTo>
                <a:lnTo>
                  <a:pt x="47105" y="1780311"/>
                </a:lnTo>
                <a:lnTo>
                  <a:pt x="104598" y="2061420"/>
                </a:lnTo>
                <a:lnTo>
                  <a:pt x="183482" y="2334105"/>
                </a:lnTo>
                <a:lnTo>
                  <a:pt x="282831" y="2597440"/>
                </a:lnTo>
                <a:lnTo>
                  <a:pt x="401719" y="2850498"/>
                </a:lnTo>
                <a:lnTo>
                  <a:pt x="539220" y="3092354"/>
                </a:lnTo>
                <a:lnTo>
                  <a:pt x="694408" y="3322080"/>
                </a:lnTo>
                <a:lnTo>
                  <a:pt x="866356" y="3538751"/>
                </a:lnTo>
                <a:lnTo>
                  <a:pt x="1054138" y="3741441"/>
                </a:lnTo>
                <a:lnTo>
                  <a:pt x="1256827" y="3929223"/>
                </a:lnTo>
                <a:lnTo>
                  <a:pt x="1473498" y="4101171"/>
                </a:lnTo>
                <a:lnTo>
                  <a:pt x="1703225" y="4256358"/>
                </a:lnTo>
                <a:lnTo>
                  <a:pt x="1945080" y="4393859"/>
                </a:lnTo>
                <a:lnTo>
                  <a:pt x="2198139" y="4512748"/>
                </a:lnTo>
                <a:lnTo>
                  <a:pt x="2461473" y="4612097"/>
                </a:lnTo>
                <a:lnTo>
                  <a:pt x="2734158" y="4690981"/>
                </a:lnTo>
                <a:lnTo>
                  <a:pt x="3015267" y="4748474"/>
                </a:lnTo>
                <a:lnTo>
                  <a:pt x="3303874" y="4783648"/>
                </a:lnTo>
                <a:lnTo>
                  <a:pt x="3599053" y="4795579"/>
                </a:lnTo>
                <a:lnTo>
                  <a:pt x="3894231" y="4783648"/>
                </a:lnTo>
                <a:lnTo>
                  <a:pt x="4182838" y="4748474"/>
                </a:lnTo>
                <a:lnTo>
                  <a:pt x="4463947" y="4690981"/>
                </a:lnTo>
                <a:lnTo>
                  <a:pt x="4736632" y="4612097"/>
                </a:lnTo>
                <a:lnTo>
                  <a:pt x="4999966" y="4512748"/>
                </a:lnTo>
                <a:lnTo>
                  <a:pt x="5253025" y="4393859"/>
                </a:lnTo>
                <a:lnTo>
                  <a:pt x="5494880" y="4256358"/>
                </a:lnTo>
                <a:lnTo>
                  <a:pt x="5724607" y="4101171"/>
                </a:lnTo>
                <a:lnTo>
                  <a:pt x="5941278" y="3929223"/>
                </a:lnTo>
                <a:lnTo>
                  <a:pt x="6143967" y="3741441"/>
                </a:lnTo>
                <a:lnTo>
                  <a:pt x="6331749" y="3538751"/>
                </a:lnTo>
                <a:lnTo>
                  <a:pt x="6503697" y="3322080"/>
                </a:lnTo>
                <a:lnTo>
                  <a:pt x="6658885" y="3092354"/>
                </a:lnTo>
                <a:lnTo>
                  <a:pt x="6796386" y="2850498"/>
                </a:lnTo>
                <a:lnTo>
                  <a:pt x="6915274" y="2597440"/>
                </a:lnTo>
                <a:lnTo>
                  <a:pt x="7014623" y="2334105"/>
                </a:lnTo>
                <a:lnTo>
                  <a:pt x="7093507" y="2061420"/>
                </a:lnTo>
                <a:lnTo>
                  <a:pt x="7151000" y="1780311"/>
                </a:lnTo>
                <a:lnTo>
                  <a:pt x="7186175" y="1491704"/>
                </a:lnTo>
                <a:lnTo>
                  <a:pt x="7198106" y="1196526"/>
                </a:lnTo>
                <a:lnTo>
                  <a:pt x="7186175" y="901348"/>
                </a:lnTo>
                <a:lnTo>
                  <a:pt x="7151000" y="612741"/>
                </a:lnTo>
                <a:lnTo>
                  <a:pt x="7093507" y="331632"/>
                </a:lnTo>
                <a:lnTo>
                  <a:pt x="7014623" y="58947"/>
                </a:lnTo>
                <a:lnTo>
                  <a:pt x="6992384" y="0"/>
                </a:lnTo>
                <a:close/>
              </a:path>
            </a:pathLst>
          </a:custGeom>
          <a:solidFill>
            <a:schemeClr val="accent3"/>
          </a:solidFill>
        </p:spPr>
        <p:txBody>
          <a:bodyPr wrap="square" lIns="0" tIns="0" rIns="0" bIns="0" rtlCol="0"/>
          <a:lstStyle/>
          <a:p>
            <a:pPr>
              <a:lnSpc>
                <a:spcPct val="120000"/>
              </a:lnSpc>
            </a:pPr>
            <a:endParaRPr lang="de-DE" dirty="0"/>
          </a:p>
        </p:txBody>
      </p:sp>
      <p:sp>
        <p:nvSpPr>
          <p:cNvPr id="13" name="object 3">
            <a:extLst>
              <a:ext uri="{C183D7F6-B498-43B3-948B-1728B52AA6E4}">
                <adec:decorative xmlns:adec="http://schemas.microsoft.com/office/drawing/2017/decorative" val="1"/>
              </a:ext>
            </a:extLst>
          </p:cNvPr>
          <p:cNvSpPr/>
          <p:nvPr userDrawn="1"/>
        </p:nvSpPr>
        <p:spPr>
          <a:xfrm>
            <a:off x="4769557" y="3036753"/>
            <a:ext cx="1808551" cy="1808551"/>
          </a:xfrm>
          <a:custGeom>
            <a:avLst/>
            <a:gdLst/>
            <a:ahLst/>
            <a:cxnLst/>
            <a:rect l="l" t="t" r="r" b="b"/>
            <a:pathLst>
              <a:path w="2049145" h="2049145">
                <a:moveTo>
                  <a:pt x="1024432" y="0"/>
                </a:moveTo>
                <a:lnTo>
                  <a:pt x="940414" y="3395"/>
                </a:lnTo>
                <a:lnTo>
                  <a:pt x="858266" y="13407"/>
                </a:lnTo>
                <a:lnTo>
                  <a:pt x="778251" y="29772"/>
                </a:lnTo>
                <a:lnTo>
                  <a:pt x="700635" y="52225"/>
                </a:lnTo>
                <a:lnTo>
                  <a:pt x="625679" y="80504"/>
                </a:lnTo>
                <a:lnTo>
                  <a:pt x="553649" y="114344"/>
                </a:lnTo>
                <a:lnTo>
                  <a:pt x="484808" y="153482"/>
                </a:lnTo>
                <a:lnTo>
                  <a:pt x="419418" y="197654"/>
                </a:lnTo>
                <a:lnTo>
                  <a:pt x="357745" y="246597"/>
                </a:lnTo>
                <a:lnTo>
                  <a:pt x="300051" y="300047"/>
                </a:lnTo>
                <a:lnTo>
                  <a:pt x="246601" y="357740"/>
                </a:lnTo>
                <a:lnTo>
                  <a:pt x="197657" y="419413"/>
                </a:lnTo>
                <a:lnTo>
                  <a:pt x="153485" y="484802"/>
                </a:lnTo>
                <a:lnTo>
                  <a:pt x="114346" y="553644"/>
                </a:lnTo>
                <a:lnTo>
                  <a:pt x="80505" y="625674"/>
                </a:lnTo>
                <a:lnTo>
                  <a:pt x="52226" y="700630"/>
                </a:lnTo>
                <a:lnTo>
                  <a:pt x="29773" y="778247"/>
                </a:lnTo>
                <a:lnTo>
                  <a:pt x="13408" y="858262"/>
                </a:lnTo>
                <a:lnTo>
                  <a:pt x="3396" y="940412"/>
                </a:lnTo>
                <a:lnTo>
                  <a:pt x="0" y="1024432"/>
                </a:lnTo>
                <a:lnTo>
                  <a:pt x="3396" y="1108453"/>
                </a:lnTo>
                <a:lnTo>
                  <a:pt x="13408" y="1190602"/>
                </a:lnTo>
                <a:lnTo>
                  <a:pt x="29773" y="1270617"/>
                </a:lnTo>
                <a:lnTo>
                  <a:pt x="52226" y="1348235"/>
                </a:lnTo>
                <a:lnTo>
                  <a:pt x="80505" y="1423190"/>
                </a:lnTo>
                <a:lnTo>
                  <a:pt x="114346" y="1495221"/>
                </a:lnTo>
                <a:lnTo>
                  <a:pt x="153485" y="1564063"/>
                </a:lnTo>
                <a:lnTo>
                  <a:pt x="197657" y="1629452"/>
                </a:lnTo>
                <a:lnTo>
                  <a:pt x="246601" y="1691125"/>
                </a:lnTo>
                <a:lnTo>
                  <a:pt x="300051" y="1748818"/>
                </a:lnTo>
                <a:lnTo>
                  <a:pt x="357745" y="1802268"/>
                </a:lnTo>
                <a:lnTo>
                  <a:pt x="419418" y="1851211"/>
                </a:lnTo>
                <a:lnTo>
                  <a:pt x="484808" y="1895383"/>
                </a:lnTo>
                <a:lnTo>
                  <a:pt x="553649" y="1934521"/>
                </a:lnTo>
                <a:lnTo>
                  <a:pt x="625679" y="1968361"/>
                </a:lnTo>
                <a:lnTo>
                  <a:pt x="700635" y="1996639"/>
                </a:lnTo>
                <a:lnTo>
                  <a:pt x="778251" y="2019093"/>
                </a:lnTo>
                <a:lnTo>
                  <a:pt x="858266" y="2035457"/>
                </a:lnTo>
                <a:lnTo>
                  <a:pt x="940414" y="2045469"/>
                </a:lnTo>
                <a:lnTo>
                  <a:pt x="1024432" y="2048865"/>
                </a:lnTo>
                <a:lnTo>
                  <a:pt x="1108453" y="2045469"/>
                </a:lnTo>
                <a:lnTo>
                  <a:pt x="1190602" y="2035457"/>
                </a:lnTo>
                <a:lnTo>
                  <a:pt x="1270617" y="2019093"/>
                </a:lnTo>
                <a:lnTo>
                  <a:pt x="1348235" y="1996639"/>
                </a:lnTo>
                <a:lnTo>
                  <a:pt x="1423190" y="1968361"/>
                </a:lnTo>
                <a:lnTo>
                  <a:pt x="1495221" y="1934521"/>
                </a:lnTo>
                <a:lnTo>
                  <a:pt x="1564063" y="1895383"/>
                </a:lnTo>
                <a:lnTo>
                  <a:pt x="1629452" y="1851211"/>
                </a:lnTo>
                <a:lnTo>
                  <a:pt x="1691125" y="1802268"/>
                </a:lnTo>
                <a:lnTo>
                  <a:pt x="1748818" y="1748818"/>
                </a:lnTo>
                <a:lnTo>
                  <a:pt x="1802268" y="1691125"/>
                </a:lnTo>
                <a:lnTo>
                  <a:pt x="1851211" y="1629452"/>
                </a:lnTo>
                <a:lnTo>
                  <a:pt x="1895383" y="1564063"/>
                </a:lnTo>
                <a:lnTo>
                  <a:pt x="1934521" y="1495221"/>
                </a:lnTo>
                <a:lnTo>
                  <a:pt x="1968361" y="1423190"/>
                </a:lnTo>
                <a:lnTo>
                  <a:pt x="1996639" y="1348235"/>
                </a:lnTo>
                <a:lnTo>
                  <a:pt x="2019093" y="1270617"/>
                </a:lnTo>
                <a:lnTo>
                  <a:pt x="2035457" y="1190602"/>
                </a:lnTo>
                <a:lnTo>
                  <a:pt x="2045469" y="1108453"/>
                </a:lnTo>
                <a:lnTo>
                  <a:pt x="2048865" y="1024432"/>
                </a:lnTo>
                <a:lnTo>
                  <a:pt x="2045469" y="940412"/>
                </a:lnTo>
                <a:lnTo>
                  <a:pt x="2035457" y="858262"/>
                </a:lnTo>
                <a:lnTo>
                  <a:pt x="2019093" y="778247"/>
                </a:lnTo>
                <a:lnTo>
                  <a:pt x="1996639" y="700630"/>
                </a:lnTo>
                <a:lnTo>
                  <a:pt x="1968361" y="625674"/>
                </a:lnTo>
                <a:lnTo>
                  <a:pt x="1934521" y="553644"/>
                </a:lnTo>
                <a:lnTo>
                  <a:pt x="1895383" y="484802"/>
                </a:lnTo>
                <a:lnTo>
                  <a:pt x="1851211" y="419413"/>
                </a:lnTo>
                <a:lnTo>
                  <a:pt x="1802268" y="357740"/>
                </a:lnTo>
                <a:lnTo>
                  <a:pt x="1748818" y="300047"/>
                </a:lnTo>
                <a:lnTo>
                  <a:pt x="1691125" y="246597"/>
                </a:lnTo>
                <a:lnTo>
                  <a:pt x="1629452" y="197654"/>
                </a:lnTo>
                <a:lnTo>
                  <a:pt x="1564063" y="153482"/>
                </a:lnTo>
                <a:lnTo>
                  <a:pt x="1495221" y="114344"/>
                </a:lnTo>
                <a:lnTo>
                  <a:pt x="1423190" y="80504"/>
                </a:lnTo>
                <a:lnTo>
                  <a:pt x="1348235" y="52225"/>
                </a:lnTo>
                <a:lnTo>
                  <a:pt x="1270617" y="29772"/>
                </a:lnTo>
                <a:lnTo>
                  <a:pt x="1190602" y="13407"/>
                </a:lnTo>
                <a:lnTo>
                  <a:pt x="1108453" y="3395"/>
                </a:lnTo>
                <a:lnTo>
                  <a:pt x="1024432" y="0"/>
                </a:lnTo>
                <a:close/>
              </a:path>
            </a:pathLst>
          </a:custGeom>
          <a:solidFill>
            <a:srgbClr val="FFFFFF"/>
          </a:solidFill>
        </p:spPr>
        <p:txBody>
          <a:bodyPr wrap="square" lIns="0" tIns="0" rIns="0" bIns="0" rtlCol="0"/>
          <a:lstStyle/>
          <a:p>
            <a:endParaRPr lang="de-DE" dirty="0"/>
          </a:p>
        </p:txBody>
      </p:sp>
      <p:sp>
        <p:nvSpPr>
          <p:cNvPr id="14" name="object 8">
            <a:extLst>
              <a:ext uri="{C183D7F6-B498-43B3-948B-1728B52AA6E4}">
                <adec:decorative xmlns:adec="http://schemas.microsoft.com/office/drawing/2017/decorative" val="1"/>
              </a:ext>
            </a:extLst>
          </p:cNvPr>
          <p:cNvSpPr txBox="1"/>
          <p:nvPr userDrawn="1"/>
        </p:nvSpPr>
        <p:spPr>
          <a:xfrm>
            <a:off x="5026132" y="1418639"/>
            <a:ext cx="1295400" cy="3064942"/>
          </a:xfrm>
          <a:prstGeom prst="rect">
            <a:avLst/>
          </a:prstGeom>
        </p:spPr>
        <p:txBody>
          <a:bodyPr vert="horz" wrap="square" lIns="0" tIns="0" rIns="0" bIns="0" rtlCol="0">
            <a:spAutoFit/>
          </a:bodyPr>
          <a:lstStyle/>
          <a:p>
            <a:pPr marL="12700">
              <a:lnSpc>
                <a:spcPts val="23895"/>
              </a:lnSpc>
            </a:pPr>
            <a:r>
              <a:rPr lang="de-DE" sz="20000" b="1" dirty="0">
                <a:solidFill>
                  <a:srgbClr val="BFBFBF"/>
                </a:solidFill>
                <a:latin typeface="Arial"/>
                <a:cs typeface="Arial"/>
              </a:rPr>
              <a:t>„</a:t>
            </a:r>
            <a:endParaRPr lang="de-DE" sz="20000" dirty="0">
              <a:latin typeface="Arial"/>
              <a:cs typeface="Arial"/>
            </a:endParaRPr>
          </a:p>
        </p:txBody>
      </p:sp>
      <p:sp>
        <p:nvSpPr>
          <p:cNvPr id="9" name="Textplatzhalter 8"/>
          <p:cNvSpPr>
            <a:spLocks noGrp="1"/>
          </p:cNvSpPr>
          <p:nvPr>
            <p:ph type="body" sz="quarter" idx="13" hasCustomPrompt="1"/>
          </p:nvPr>
        </p:nvSpPr>
        <p:spPr>
          <a:xfrm>
            <a:off x="1413002" y="936000"/>
            <a:ext cx="4408958" cy="1852276"/>
          </a:xfrm>
        </p:spPr>
        <p:txBody>
          <a:bodyPr anchor="b" anchorCtr="0"/>
          <a:lstStyle>
            <a:lvl1pPr marL="0" indent="0">
              <a:lnSpc>
                <a:spcPct val="90000"/>
              </a:lnSpc>
              <a:spcBef>
                <a:spcPts val="0"/>
              </a:spcBef>
              <a:buNone/>
              <a:defRPr sz="3000" b="1" baseline="0">
                <a:solidFill>
                  <a:schemeClr val="bg1"/>
                </a:solidFill>
              </a:defRPr>
            </a:lvl1pPr>
            <a:lvl2pPr>
              <a:defRPr sz="2833" b="1">
                <a:solidFill>
                  <a:schemeClr val="bg1"/>
                </a:solidFill>
              </a:defRPr>
            </a:lvl2pPr>
            <a:lvl3pPr>
              <a:defRPr sz="2833" b="1">
                <a:solidFill>
                  <a:schemeClr val="bg1"/>
                </a:solidFill>
              </a:defRPr>
            </a:lvl3pPr>
            <a:lvl4pPr>
              <a:defRPr sz="2833" b="1">
                <a:solidFill>
                  <a:schemeClr val="bg1"/>
                </a:solidFill>
              </a:defRPr>
            </a:lvl4pPr>
            <a:lvl5pPr>
              <a:defRPr sz="2833" b="1">
                <a:solidFill>
                  <a:schemeClr val="bg1"/>
                </a:solidFill>
              </a:defRPr>
            </a:lvl5pPr>
          </a:lstStyle>
          <a:p>
            <a:pPr lvl="0"/>
            <a:r>
              <a:rPr lang="de-DE" dirty="0"/>
              <a:t>Zitat durch Klicken hinzufügen</a:t>
            </a:r>
          </a:p>
        </p:txBody>
      </p:sp>
      <p:sp>
        <p:nvSpPr>
          <p:cNvPr id="11" name="Textplatzhalter 10"/>
          <p:cNvSpPr>
            <a:spLocks noGrp="1"/>
          </p:cNvSpPr>
          <p:nvPr>
            <p:ph type="body" sz="quarter" idx="14" hasCustomPrompt="1"/>
          </p:nvPr>
        </p:nvSpPr>
        <p:spPr>
          <a:xfrm>
            <a:off x="1413000" y="3024000"/>
            <a:ext cx="3356555" cy="463994"/>
          </a:xfrm>
        </p:spPr>
        <p:txBody>
          <a:bodyPr/>
          <a:lstStyle>
            <a:lvl1pPr marL="0" indent="0">
              <a:spcBef>
                <a:spcPts val="0"/>
              </a:spcBef>
              <a:buNone/>
              <a:defRPr sz="1200" b="1">
                <a:solidFill>
                  <a:schemeClr val="bg1"/>
                </a:solidFill>
              </a:defRPr>
            </a:lvl1pPr>
          </a:lstStyle>
          <a:p>
            <a:pPr lvl="0"/>
            <a:r>
              <a:rPr lang="de-DE" dirty="0"/>
              <a:t>Name</a:t>
            </a:r>
          </a:p>
        </p:txBody>
      </p:sp>
      <p:sp>
        <p:nvSpPr>
          <p:cNvPr id="2" name="Datumsplatzhalter 1">
            <a:extLst>
              <a:ext uri="{FF2B5EF4-FFF2-40B4-BE49-F238E27FC236}">
                <a16:creationId xmlns:a16="http://schemas.microsoft.com/office/drawing/2014/main" id="{38E21F5F-FD53-4EC0-BCC0-7897151BB5BE}"/>
              </a:ext>
              <a:ext uri="{C183D7F6-B498-43B3-948B-1728B52AA6E4}">
                <adec:decorative xmlns:adec="http://schemas.microsoft.com/office/drawing/2017/decorative" val="1"/>
              </a:ext>
            </a:extLst>
          </p:cNvPr>
          <p:cNvSpPr>
            <a:spLocks noGrp="1"/>
          </p:cNvSpPr>
          <p:nvPr>
            <p:ph type="dt" sz="half" idx="15"/>
          </p:nvPr>
        </p:nvSpPr>
        <p:spPr/>
        <p:txBody>
          <a:bodyPr/>
          <a:lstStyle/>
          <a:p>
            <a:r>
              <a:rPr lang="de-DE"/>
              <a:t>25.01.2022</a:t>
            </a:r>
            <a:endParaRPr lang="de-DE" dirty="0"/>
          </a:p>
        </p:txBody>
      </p:sp>
      <p:sp>
        <p:nvSpPr>
          <p:cNvPr id="3" name="Fußzeilenplatzhalter 2">
            <a:extLst>
              <a:ext uri="{FF2B5EF4-FFF2-40B4-BE49-F238E27FC236}">
                <a16:creationId xmlns:a16="http://schemas.microsoft.com/office/drawing/2014/main" id="{2402D1F1-15E9-491A-9960-5A695BEEE2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Name</a:t>
            </a:r>
            <a:endParaRPr lang="en-US" dirty="0"/>
          </a:p>
        </p:txBody>
      </p:sp>
      <p:sp>
        <p:nvSpPr>
          <p:cNvPr id="4" name="Foliennummernplatzhalter 3">
            <a:extLst>
              <a:ext uri="{FF2B5EF4-FFF2-40B4-BE49-F238E27FC236}">
                <a16:creationId xmlns:a16="http://schemas.microsoft.com/office/drawing/2014/main" id="{3011E5FD-9CAF-4253-B617-CA6F0DE14FC9}"/>
              </a:ext>
              <a:ext uri="{C183D7F6-B498-43B3-948B-1728B52AA6E4}">
                <adec:decorative xmlns:adec="http://schemas.microsoft.com/office/drawing/2017/decorative" val="1"/>
              </a:ext>
            </a:extLst>
          </p:cNvPr>
          <p:cNvSpPr>
            <a:spLocks noGrp="1"/>
          </p:cNvSpPr>
          <p:nvPr>
            <p:ph type="sldNum" sz="quarter" idx="1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49376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0" name="Titel 9"/>
          <p:cNvSpPr>
            <a:spLocks noGrp="1"/>
          </p:cNvSpPr>
          <p:nvPr>
            <p:ph type="title"/>
          </p:nvPr>
        </p:nvSpPr>
        <p:spPr/>
        <p:txBody>
          <a:bodyPr/>
          <a:lstStyle/>
          <a:p>
            <a:r>
              <a:rPr lang="de-DE"/>
              <a:t>Mastertitelformat bearbeiten</a:t>
            </a:r>
            <a:endParaRPr lang="de-DE" dirty="0"/>
          </a:p>
        </p:txBody>
      </p:sp>
      <p:sp>
        <p:nvSpPr>
          <p:cNvPr id="9"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390000" y="1381094"/>
            <a:ext cx="3300000" cy="370843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Content Placeholder 3"/>
          <p:cNvSpPr>
            <a:spLocks noGrp="1"/>
          </p:cNvSpPr>
          <p:nvPr>
            <p:ph sz="half" idx="2"/>
          </p:nvPr>
        </p:nvSpPr>
        <p:spPr>
          <a:xfrm>
            <a:off x="3929740" y="1381125"/>
            <a:ext cx="3300000" cy="37079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Datumsplatzhalter 1">
            <a:extLst>
              <a:ext uri="{FF2B5EF4-FFF2-40B4-BE49-F238E27FC236}">
                <a16:creationId xmlns:a16="http://schemas.microsoft.com/office/drawing/2014/main" id="{D1B8B081-3612-487F-A25A-87EC585DED51}"/>
              </a:ext>
            </a:extLst>
          </p:cNvPr>
          <p:cNvSpPr>
            <a:spLocks noGrp="1"/>
          </p:cNvSpPr>
          <p:nvPr>
            <p:ph type="dt" sz="half" idx="14"/>
          </p:nvPr>
        </p:nvSpPr>
        <p:spPr/>
        <p:txBody>
          <a:bodyPr/>
          <a:lstStyle/>
          <a:p>
            <a:r>
              <a:rPr lang="de-DE"/>
              <a:t>25.01.2022</a:t>
            </a:r>
            <a:endParaRPr lang="de-DE" dirty="0"/>
          </a:p>
        </p:txBody>
      </p:sp>
      <p:sp>
        <p:nvSpPr>
          <p:cNvPr id="8" name="Fußzeilenplatzhalter 7">
            <a:extLst>
              <a:ext uri="{FF2B5EF4-FFF2-40B4-BE49-F238E27FC236}">
                <a16:creationId xmlns:a16="http://schemas.microsoft.com/office/drawing/2014/main" id="{2000593F-AFF0-4C36-B06F-1FB8A1072CCC}"/>
              </a:ext>
            </a:extLst>
          </p:cNvPr>
          <p:cNvSpPr>
            <a:spLocks noGrp="1"/>
          </p:cNvSpPr>
          <p:nvPr>
            <p:ph type="ftr" sz="quarter" idx="15"/>
          </p:nvPr>
        </p:nvSpPr>
        <p:spPr/>
        <p:txBody>
          <a:bodyPr/>
          <a:lstStyle/>
          <a:p>
            <a:r>
              <a:rPr lang="en-US"/>
              <a:t>Name</a:t>
            </a:r>
            <a:endParaRPr lang="en-US" dirty="0"/>
          </a:p>
        </p:txBody>
      </p:sp>
      <p:sp>
        <p:nvSpPr>
          <p:cNvPr id="11" name="Foliennummernplatzhalter 10">
            <a:extLst>
              <a:ext uri="{FF2B5EF4-FFF2-40B4-BE49-F238E27FC236}">
                <a16:creationId xmlns:a16="http://schemas.microsoft.com/office/drawing/2014/main" id="{21D283E6-EABD-4751-A6FD-9F9FE7143CB7}"/>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926624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12"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Text Placeholder 2"/>
          <p:cNvSpPr>
            <a:spLocks noGrp="1"/>
          </p:cNvSpPr>
          <p:nvPr>
            <p:ph type="body" idx="1"/>
          </p:nvPr>
        </p:nvSpPr>
        <p:spPr>
          <a:xfrm>
            <a:off x="389735" y="1386962"/>
            <a:ext cx="3300000" cy="239148"/>
          </a:xfrm>
        </p:spPr>
        <p:txBody>
          <a:bodyPr anchor="b"/>
          <a:lstStyle>
            <a:lvl1pPr marL="0" indent="0">
              <a:buNone/>
              <a:defRPr sz="1400" b="0" cap="all" baseline="0">
                <a:solidFill>
                  <a:schemeClr val="accent1"/>
                </a:solidFill>
              </a:defRPr>
            </a:lvl1pPr>
            <a:lvl2pPr marL="285728" indent="0">
              <a:buNone/>
              <a:defRPr sz="1250" b="1"/>
            </a:lvl2pPr>
            <a:lvl3pPr marL="571454" indent="0">
              <a:buNone/>
              <a:defRPr sz="1125" b="1"/>
            </a:lvl3pPr>
            <a:lvl4pPr marL="857182" indent="0">
              <a:buNone/>
              <a:defRPr sz="1000" b="1"/>
            </a:lvl4pPr>
            <a:lvl5pPr marL="1142908" indent="0">
              <a:buNone/>
              <a:defRPr sz="1000" b="1"/>
            </a:lvl5pPr>
            <a:lvl6pPr marL="1428636" indent="0">
              <a:buNone/>
              <a:defRPr sz="1000" b="1"/>
            </a:lvl6pPr>
            <a:lvl7pPr marL="1714362" indent="0">
              <a:buNone/>
              <a:defRPr sz="1000" b="1"/>
            </a:lvl7pPr>
            <a:lvl8pPr marL="2000090" indent="0">
              <a:buNone/>
              <a:defRPr sz="1000" b="1"/>
            </a:lvl8pPr>
            <a:lvl9pPr marL="2285818" indent="0">
              <a:buNone/>
              <a:defRPr sz="1000" b="1"/>
            </a:lvl9pPr>
          </a:lstStyle>
          <a:p>
            <a:pPr lvl="0"/>
            <a:r>
              <a:rPr lang="de-DE"/>
              <a:t>Mastertextformat bearbeiten</a:t>
            </a:r>
          </a:p>
        </p:txBody>
      </p:sp>
      <p:sp>
        <p:nvSpPr>
          <p:cNvPr id="4" name="Content Placeholder 3"/>
          <p:cNvSpPr>
            <a:spLocks noGrp="1"/>
          </p:cNvSpPr>
          <p:nvPr>
            <p:ph sz="half" idx="2"/>
          </p:nvPr>
        </p:nvSpPr>
        <p:spPr>
          <a:xfrm>
            <a:off x="390000" y="1726387"/>
            <a:ext cx="3300000" cy="336314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Text Placeholder 2"/>
          <p:cNvSpPr>
            <a:spLocks noGrp="1"/>
          </p:cNvSpPr>
          <p:nvPr>
            <p:ph type="body" idx="14"/>
          </p:nvPr>
        </p:nvSpPr>
        <p:spPr>
          <a:xfrm>
            <a:off x="3929475" y="1386962"/>
            <a:ext cx="3300000" cy="239148"/>
          </a:xfrm>
        </p:spPr>
        <p:txBody>
          <a:bodyPr anchor="b"/>
          <a:lstStyle>
            <a:lvl1pPr marL="0" indent="0">
              <a:buNone/>
              <a:defRPr sz="1400" b="0" cap="all" baseline="0">
                <a:solidFill>
                  <a:schemeClr val="accent1"/>
                </a:solidFill>
              </a:defRPr>
            </a:lvl1pPr>
            <a:lvl2pPr marL="285728" indent="0">
              <a:buNone/>
              <a:defRPr sz="1250" b="1"/>
            </a:lvl2pPr>
            <a:lvl3pPr marL="571454" indent="0">
              <a:buNone/>
              <a:defRPr sz="1125" b="1"/>
            </a:lvl3pPr>
            <a:lvl4pPr marL="857182" indent="0">
              <a:buNone/>
              <a:defRPr sz="1000" b="1"/>
            </a:lvl4pPr>
            <a:lvl5pPr marL="1142908" indent="0">
              <a:buNone/>
              <a:defRPr sz="1000" b="1"/>
            </a:lvl5pPr>
            <a:lvl6pPr marL="1428636" indent="0">
              <a:buNone/>
              <a:defRPr sz="1000" b="1"/>
            </a:lvl6pPr>
            <a:lvl7pPr marL="1714362" indent="0">
              <a:buNone/>
              <a:defRPr sz="1000" b="1"/>
            </a:lvl7pPr>
            <a:lvl8pPr marL="2000090" indent="0">
              <a:buNone/>
              <a:defRPr sz="1000" b="1"/>
            </a:lvl8pPr>
            <a:lvl9pPr marL="2285818" indent="0">
              <a:buNone/>
              <a:defRPr sz="1000" b="1"/>
            </a:lvl9pPr>
          </a:lstStyle>
          <a:p>
            <a:pPr lvl="0"/>
            <a:r>
              <a:rPr lang="de-DE"/>
              <a:t>Mastertextformat bearbeiten</a:t>
            </a:r>
          </a:p>
        </p:txBody>
      </p:sp>
      <p:sp>
        <p:nvSpPr>
          <p:cNvPr id="15" name="Content Placeholder 3"/>
          <p:cNvSpPr>
            <a:spLocks noGrp="1"/>
          </p:cNvSpPr>
          <p:nvPr>
            <p:ph sz="half" idx="15"/>
          </p:nvPr>
        </p:nvSpPr>
        <p:spPr>
          <a:xfrm>
            <a:off x="3929740" y="1726387"/>
            <a:ext cx="3300000" cy="336314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atumsplatzhalter 6">
            <a:extLst>
              <a:ext uri="{FF2B5EF4-FFF2-40B4-BE49-F238E27FC236}">
                <a16:creationId xmlns:a16="http://schemas.microsoft.com/office/drawing/2014/main" id="{C83D6A66-3821-4F20-80EB-3D2ED0781750}"/>
              </a:ext>
            </a:extLst>
          </p:cNvPr>
          <p:cNvSpPr>
            <a:spLocks noGrp="1"/>
          </p:cNvSpPr>
          <p:nvPr>
            <p:ph type="dt" sz="half" idx="16"/>
          </p:nvPr>
        </p:nvSpPr>
        <p:spPr/>
        <p:txBody>
          <a:bodyPr/>
          <a:lstStyle/>
          <a:p>
            <a:r>
              <a:rPr lang="de-DE"/>
              <a:t>25.01.2022</a:t>
            </a:r>
            <a:endParaRPr lang="de-DE" dirty="0"/>
          </a:p>
        </p:txBody>
      </p:sp>
      <p:sp>
        <p:nvSpPr>
          <p:cNvPr id="8" name="Fußzeilenplatzhalter 7">
            <a:extLst>
              <a:ext uri="{FF2B5EF4-FFF2-40B4-BE49-F238E27FC236}">
                <a16:creationId xmlns:a16="http://schemas.microsoft.com/office/drawing/2014/main" id="{37E668AF-F8AE-4C7C-BC40-30D4DEAB7F2D}"/>
              </a:ext>
            </a:extLst>
          </p:cNvPr>
          <p:cNvSpPr>
            <a:spLocks noGrp="1"/>
          </p:cNvSpPr>
          <p:nvPr>
            <p:ph type="ftr" sz="quarter" idx="17"/>
          </p:nvPr>
        </p:nvSpPr>
        <p:spPr/>
        <p:txBody>
          <a:bodyPr/>
          <a:lstStyle/>
          <a:p>
            <a:r>
              <a:rPr lang="en-US"/>
              <a:t>Name</a:t>
            </a:r>
            <a:endParaRPr lang="en-US" dirty="0"/>
          </a:p>
        </p:txBody>
      </p:sp>
      <p:sp>
        <p:nvSpPr>
          <p:cNvPr id="9" name="Foliennummernplatzhalter 8">
            <a:extLst>
              <a:ext uri="{FF2B5EF4-FFF2-40B4-BE49-F238E27FC236}">
                <a16:creationId xmlns:a16="http://schemas.microsoft.com/office/drawing/2014/main" id="{E0CAC4E1-294F-4403-A93B-C3ADA43DBECD}"/>
              </a:ext>
            </a:extLst>
          </p:cNvPr>
          <p:cNvSpPr>
            <a:spLocks noGrp="1"/>
          </p:cNvSpPr>
          <p:nvPr>
            <p:ph type="sldNum" sz="quarter" idx="18"/>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042460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er vertika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12"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390000" y="1381125"/>
            <a:ext cx="3480000" cy="3708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Bildplatzhalter 9"/>
          <p:cNvSpPr>
            <a:spLocks noGrp="1"/>
          </p:cNvSpPr>
          <p:nvPr>
            <p:ph type="pic" sz="quarter" idx="14"/>
          </p:nvPr>
        </p:nvSpPr>
        <p:spPr>
          <a:xfrm>
            <a:off x="4079740" y="1381124"/>
            <a:ext cx="3150000" cy="1818000"/>
          </a:xfrm>
          <a:solidFill>
            <a:schemeClr val="bg1">
              <a:lumMod val="95000"/>
            </a:schemeClr>
          </a:solidFill>
        </p:spPr>
        <p:txBody>
          <a:bodyPr/>
          <a:lstStyle/>
          <a:p>
            <a:r>
              <a:rPr lang="de-DE"/>
              <a:t>Bild durch Klicken auf Symbol hinzufügen</a:t>
            </a:r>
            <a:endParaRPr lang="en-US" dirty="0"/>
          </a:p>
        </p:txBody>
      </p:sp>
      <p:sp>
        <p:nvSpPr>
          <p:cNvPr id="11" name="Bildplatzhalter 9"/>
          <p:cNvSpPr>
            <a:spLocks noGrp="1"/>
          </p:cNvSpPr>
          <p:nvPr>
            <p:ph type="pic" sz="quarter" idx="15"/>
          </p:nvPr>
        </p:nvSpPr>
        <p:spPr>
          <a:xfrm>
            <a:off x="4079740" y="3271525"/>
            <a:ext cx="3150000" cy="1818000"/>
          </a:xfrm>
          <a:solidFill>
            <a:schemeClr val="bg1">
              <a:lumMod val="95000"/>
            </a:schemeClr>
          </a:solidFill>
        </p:spPr>
        <p:txBody>
          <a:bodyPr/>
          <a:lstStyle/>
          <a:p>
            <a:r>
              <a:rPr lang="de-DE"/>
              <a:t>Bild durch Klicken auf Symbol hinzufügen</a:t>
            </a:r>
            <a:endParaRPr lang="en-US" dirty="0"/>
          </a:p>
        </p:txBody>
      </p:sp>
      <p:sp>
        <p:nvSpPr>
          <p:cNvPr id="5" name="Datumsplatzhalter 4">
            <a:extLst>
              <a:ext uri="{FF2B5EF4-FFF2-40B4-BE49-F238E27FC236}">
                <a16:creationId xmlns:a16="http://schemas.microsoft.com/office/drawing/2014/main" id="{23DE2567-3A3F-4A4A-931A-BCB0EF7123AC}"/>
              </a:ext>
            </a:extLst>
          </p:cNvPr>
          <p:cNvSpPr>
            <a:spLocks noGrp="1"/>
          </p:cNvSpPr>
          <p:nvPr>
            <p:ph type="dt" sz="half" idx="16"/>
          </p:nvPr>
        </p:nvSpPr>
        <p:spPr/>
        <p:txBody>
          <a:bodyPr/>
          <a:lstStyle/>
          <a:p>
            <a:r>
              <a:rPr lang="de-DE"/>
              <a:t>25.01.2022</a:t>
            </a:r>
            <a:endParaRPr lang="de-DE" dirty="0"/>
          </a:p>
        </p:txBody>
      </p:sp>
      <p:sp>
        <p:nvSpPr>
          <p:cNvPr id="6" name="Fußzeilenplatzhalter 5">
            <a:extLst>
              <a:ext uri="{FF2B5EF4-FFF2-40B4-BE49-F238E27FC236}">
                <a16:creationId xmlns:a16="http://schemas.microsoft.com/office/drawing/2014/main" id="{E3281302-3875-45A6-B25D-9F093F7620B5}"/>
              </a:ext>
            </a:extLst>
          </p:cNvPr>
          <p:cNvSpPr>
            <a:spLocks noGrp="1"/>
          </p:cNvSpPr>
          <p:nvPr>
            <p:ph type="ftr" sz="quarter" idx="17"/>
          </p:nvPr>
        </p:nvSpPr>
        <p:spPr/>
        <p:txBody>
          <a:bodyPr/>
          <a:lstStyle/>
          <a:p>
            <a:r>
              <a:rPr lang="en-US"/>
              <a:t>Name</a:t>
            </a:r>
            <a:endParaRPr lang="en-US" dirty="0"/>
          </a:p>
        </p:txBody>
      </p:sp>
      <p:sp>
        <p:nvSpPr>
          <p:cNvPr id="7" name="Foliennummernplatzhalter 6">
            <a:extLst>
              <a:ext uri="{FF2B5EF4-FFF2-40B4-BE49-F238E27FC236}">
                <a16:creationId xmlns:a16="http://schemas.microsoft.com/office/drawing/2014/main" id="{5A6501F0-CE6B-47DE-BAE6-02F86F258568}"/>
              </a:ext>
            </a:extLst>
          </p:cNvPr>
          <p:cNvSpPr>
            <a:spLocks noGrp="1"/>
          </p:cNvSpPr>
          <p:nvPr>
            <p:ph type="sldNum" sz="quarter" idx="18"/>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302841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und Bild Hochforma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endParaRPr lang="de-DE" dirty="0"/>
          </a:p>
        </p:txBody>
      </p:sp>
      <p:sp>
        <p:nvSpPr>
          <p:cNvPr id="9"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sz="half" idx="1"/>
          </p:nvPr>
        </p:nvSpPr>
        <p:spPr>
          <a:xfrm>
            <a:off x="390002" y="1381125"/>
            <a:ext cx="3480717" cy="3708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Bildplatzhalter 9"/>
          <p:cNvSpPr>
            <a:spLocks noGrp="1"/>
          </p:cNvSpPr>
          <p:nvPr>
            <p:ph type="pic" sz="quarter" idx="14"/>
          </p:nvPr>
        </p:nvSpPr>
        <p:spPr>
          <a:xfrm>
            <a:off x="4079740" y="1381125"/>
            <a:ext cx="3150000" cy="3708400"/>
          </a:xfrm>
          <a:solidFill>
            <a:schemeClr val="bg1">
              <a:lumMod val="95000"/>
            </a:schemeClr>
          </a:solidFill>
        </p:spPr>
        <p:txBody>
          <a:bodyPr/>
          <a:lstStyle/>
          <a:p>
            <a:r>
              <a:rPr lang="de-DE"/>
              <a:t>Bild durch Klicken auf Symbol hinzufügen</a:t>
            </a:r>
            <a:endParaRPr lang="en-US"/>
          </a:p>
        </p:txBody>
      </p:sp>
      <p:sp>
        <p:nvSpPr>
          <p:cNvPr id="4" name="Datumsplatzhalter 3">
            <a:extLst>
              <a:ext uri="{FF2B5EF4-FFF2-40B4-BE49-F238E27FC236}">
                <a16:creationId xmlns:a16="http://schemas.microsoft.com/office/drawing/2014/main" id="{41D497F3-198C-4913-8C28-8906767404E4}"/>
              </a:ext>
            </a:extLst>
          </p:cNvPr>
          <p:cNvSpPr>
            <a:spLocks noGrp="1"/>
          </p:cNvSpPr>
          <p:nvPr>
            <p:ph type="dt" sz="half" idx="15"/>
          </p:nvPr>
        </p:nvSpPr>
        <p:spPr/>
        <p:txBody>
          <a:bodyPr/>
          <a:lstStyle/>
          <a:p>
            <a:r>
              <a:rPr lang="de-DE"/>
              <a:t>25.01.2022</a:t>
            </a:r>
            <a:endParaRPr lang="de-DE" dirty="0"/>
          </a:p>
        </p:txBody>
      </p:sp>
      <p:sp>
        <p:nvSpPr>
          <p:cNvPr id="8" name="Fußzeilenplatzhalter 7">
            <a:extLst>
              <a:ext uri="{FF2B5EF4-FFF2-40B4-BE49-F238E27FC236}">
                <a16:creationId xmlns:a16="http://schemas.microsoft.com/office/drawing/2014/main" id="{094257A4-D031-457A-9907-97F1D5E1072E}"/>
              </a:ext>
            </a:extLst>
          </p:cNvPr>
          <p:cNvSpPr>
            <a:spLocks noGrp="1"/>
          </p:cNvSpPr>
          <p:nvPr>
            <p:ph type="ftr" sz="quarter" idx="16"/>
          </p:nvPr>
        </p:nvSpPr>
        <p:spPr/>
        <p:txBody>
          <a:bodyPr/>
          <a:lstStyle/>
          <a:p>
            <a:r>
              <a:rPr lang="en-US"/>
              <a:t>Name</a:t>
            </a:r>
            <a:endParaRPr lang="en-US" dirty="0"/>
          </a:p>
        </p:txBody>
      </p:sp>
      <p:sp>
        <p:nvSpPr>
          <p:cNvPr id="11" name="Foliennummernplatzhalter 10">
            <a:extLst>
              <a:ext uri="{FF2B5EF4-FFF2-40B4-BE49-F238E27FC236}">
                <a16:creationId xmlns:a16="http://schemas.microsoft.com/office/drawing/2014/main" id="{BE871842-8982-43DC-BD75-50844BA4F930}"/>
              </a:ext>
            </a:extLst>
          </p:cNvPr>
          <p:cNvSpPr>
            <a:spLocks noGrp="1"/>
          </p:cNvSpPr>
          <p:nvPr>
            <p:ph type="sldNum" sz="quarter" idx="1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73393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Bilder">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t>Mastertitelformat bearbeiten</a:t>
            </a:r>
            <a:endParaRPr lang="de-DE" dirty="0"/>
          </a:p>
        </p:txBody>
      </p:sp>
      <p:sp>
        <p:nvSpPr>
          <p:cNvPr id="9"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13" name="Bildplatzhalter 7"/>
          <p:cNvSpPr>
            <a:spLocks noGrp="1"/>
          </p:cNvSpPr>
          <p:nvPr>
            <p:ph type="pic" sz="quarter" idx="19"/>
          </p:nvPr>
        </p:nvSpPr>
        <p:spPr>
          <a:xfrm>
            <a:off x="0" y="1381124"/>
            <a:ext cx="2700000" cy="2164255"/>
          </a:xfrm>
          <a:solidFill>
            <a:schemeClr val="bg1">
              <a:lumMod val="95000"/>
            </a:schemeClr>
          </a:solidFill>
        </p:spPr>
        <p:txBody>
          <a:bodyPr/>
          <a:lstStyle/>
          <a:p>
            <a:r>
              <a:rPr lang="de-DE"/>
              <a:t>Bild durch Klicken auf Symbol hinzufügen</a:t>
            </a:r>
            <a:endParaRPr lang="en-US" dirty="0"/>
          </a:p>
        </p:txBody>
      </p:sp>
      <p:sp>
        <p:nvSpPr>
          <p:cNvPr id="10" name="Bildplatzhalter 7"/>
          <p:cNvSpPr>
            <a:spLocks noGrp="1"/>
          </p:cNvSpPr>
          <p:nvPr>
            <p:ph type="pic" sz="quarter" idx="16"/>
          </p:nvPr>
        </p:nvSpPr>
        <p:spPr>
          <a:xfrm>
            <a:off x="2700000" y="1381124"/>
            <a:ext cx="2700000" cy="2164255"/>
          </a:xfrm>
          <a:solidFill>
            <a:schemeClr val="bg1">
              <a:lumMod val="95000"/>
            </a:schemeClr>
          </a:solidFill>
        </p:spPr>
        <p:txBody>
          <a:bodyPr/>
          <a:lstStyle/>
          <a:p>
            <a:r>
              <a:rPr lang="de-DE"/>
              <a:t>Bild durch Klicken auf Symbol hinzufügen</a:t>
            </a:r>
            <a:endParaRPr lang="en-US" dirty="0"/>
          </a:p>
        </p:txBody>
      </p:sp>
      <p:sp>
        <p:nvSpPr>
          <p:cNvPr id="14" name="Bildplatzhalter 7"/>
          <p:cNvSpPr>
            <a:spLocks noGrp="1"/>
          </p:cNvSpPr>
          <p:nvPr>
            <p:ph type="pic" sz="quarter" idx="20"/>
          </p:nvPr>
        </p:nvSpPr>
        <p:spPr>
          <a:xfrm>
            <a:off x="0" y="3548363"/>
            <a:ext cx="2700000" cy="2166637"/>
          </a:xfrm>
          <a:solidFill>
            <a:schemeClr val="bg1">
              <a:lumMod val="95000"/>
            </a:schemeClr>
          </a:solidFill>
        </p:spPr>
        <p:txBody>
          <a:bodyPr/>
          <a:lstStyle/>
          <a:p>
            <a:r>
              <a:rPr lang="de-DE"/>
              <a:t>Bild durch Klicken auf Symbol hinzufügen</a:t>
            </a:r>
            <a:endParaRPr lang="en-US" dirty="0"/>
          </a:p>
        </p:txBody>
      </p:sp>
      <p:sp>
        <p:nvSpPr>
          <p:cNvPr id="11" name="Bildplatzhalter 7"/>
          <p:cNvSpPr>
            <a:spLocks noGrp="1"/>
          </p:cNvSpPr>
          <p:nvPr>
            <p:ph type="pic" sz="quarter" idx="17"/>
          </p:nvPr>
        </p:nvSpPr>
        <p:spPr>
          <a:xfrm>
            <a:off x="2700000" y="3548363"/>
            <a:ext cx="2700000" cy="2166637"/>
          </a:xfrm>
          <a:solidFill>
            <a:schemeClr val="bg1">
              <a:lumMod val="95000"/>
            </a:schemeClr>
          </a:solidFill>
        </p:spPr>
        <p:txBody>
          <a:bodyPr/>
          <a:lstStyle/>
          <a:p>
            <a:r>
              <a:rPr lang="de-DE"/>
              <a:t>Bild durch Klicken auf Symbol hinzufügen</a:t>
            </a:r>
            <a:endParaRPr lang="en-US" dirty="0"/>
          </a:p>
        </p:txBody>
      </p:sp>
      <p:sp>
        <p:nvSpPr>
          <p:cNvPr id="12" name="Bildplatzhalter 7"/>
          <p:cNvSpPr>
            <a:spLocks noGrp="1"/>
          </p:cNvSpPr>
          <p:nvPr>
            <p:ph type="pic" sz="quarter" idx="18"/>
          </p:nvPr>
        </p:nvSpPr>
        <p:spPr>
          <a:xfrm>
            <a:off x="5400000" y="1381125"/>
            <a:ext cx="2220000" cy="4333875"/>
          </a:xfrm>
          <a:solidFill>
            <a:schemeClr val="bg1">
              <a:lumMod val="95000"/>
            </a:schemeClr>
          </a:solidFill>
        </p:spPr>
        <p:txBody>
          <a:bodyPr/>
          <a:lstStyle/>
          <a:p>
            <a:r>
              <a:rPr lang="de-DE"/>
              <a:t>Bild durch Klicken auf Symbol hinzufügen</a:t>
            </a:r>
            <a:endParaRPr lang="en-US" dirty="0"/>
          </a:p>
        </p:txBody>
      </p:sp>
    </p:spTree>
    <p:extLst>
      <p:ext uri="{BB962C8B-B14F-4D97-AF65-F5344CB8AC3E}">
        <p14:creationId xmlns:p14="http://schemas.microsoft.com/office/powerpoint/2010/main" val="1052323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mit runden Bildern">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de-DE"/>
              <a:t>Mastertitelformat bearbeiten</a:t>
            </a:r>
            <a:endParaRPr lang="de-DE" dirty="0"/>
          </a:p>
        </p:txBody>
      </p:sp>
      <p:sp>
        <p:nvSpPr>
          <p:cNvPr id="8" name="Bildplatzhalter 7"/>
          <p:cNvSpPr>
            <a:spLocks noGrp="1"/>
          </p:cNvSpPr>
          <p:nvPr>
            <p:ph type="pic" sz="quarter" idx="14"/>
          </p:nvPr>
        </p:nvSpPr>
        <p:spPr>
          <a:xfrm>
            <a:off x="401854" y="1115372"/>
            <a:ext cx="1024609" cy="1024609"/>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2" name="Textplatzhalter 10"/>
          <p:cNvSpPr>
            <a:spLocks noGrp="1"/>
          </p:cNvSpPr>
          <p:nvPr>
            <p:ph type="body" sz="quarter" idx="16"/>
          </p:nvPr>
        </p:nvSpPr>
        <p:spPr>
          <a:xfrm>
            <a:off x="1605425" y="1218275"/>
            <a:ext cx="49470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1" name="Bildplatzhalter 7"/>
          <p:cNvSpPr>
            <a:spLocks noGrp="1"/>
          </p:cNvSpPr>
          <p:nvPr>
            <p:ph type="pic" sz="quarter" idx="17"/>
          </p:nvPr>
        </p:nvSpPr>
        <p:spPr>
          <a:xfrm>
            <a:off x="401854" y="2555685"/>
            <a:ext cx="1024609" cy="1024609"/>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22" name="Textplatzhalter 10"/>
          <p:cNvSpPr>
            <a:spLocks noGrp="1"/>
          </p:cNvSpPr>
          <p:nvPr>
            <p:ph type="body" sz="quarter" idx="18"/>
          </p:nvPr>
        </p:nvSpPr>
        <p:spPr>
          <a:xfrm>
            <a:off x="1605425" y="2658588"/>
            <a:ext cx="49470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3" name="Bildplatzhalter 7"/>
          <p:cNvSpPr>
            <a:spLocks noGrp="1"/>
          </p:cNvSpPr>
          <p:nvPr>
            <p:ph type="pic" sz="quarter" idx="19"/>
          </p:nvPr>
        </p:nvSpPr>
        <p:spPr>
          <a:xfrm>
            <a:off x="401854" y="3995999"/>
            <a:ext cx="1024609" cy="1024609"/>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24" name="Textplatzhalter 10"/>
          <p:cNvSpPr>
            <a:spLocks noGrp="1"/>
          </p:cNvSpPr>
          <p:nvPr>
            <p:ph type="body" sz="quarter" idx="20"/>
          </p:nvPr>
        </p:nvSpPr>
        <p:spPr>
          <a:xfrm>
            <a:off x="1605425" y="4098902"/>
            <a:ext cx="49470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 name="Datumsplatzhalter 2">
            <a:extLst>
              <a:ext uri="{FF2B5EF4-FFF2-40B4-BE49-F238E27FC236}">
                <a16:creationId xmlns:a16="http://schemas.microsoft.com/office/drawing/2014/main" id="{5540A1E1-E56E-4C52-8DFC-4EAC500004EB}"/>
              </a:ext>
            </a:extLst>
          </p:cNvPr>
          <p:cNvSpPr>
            <a:spLocks noGrp="1"/>
          </p:cNvSpPr>
          <p:nvPr>
            <p:ph type="dt" sz="half" idx="21"/>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8F4513B6-C515-4439-BAA4-31E37EDD2BDE}"/>
              </a:ext>
            </a:extLst>
          </p:cNvPr>
          <p:cNvSpPr>
            <a:spLocks noGrp="1"/>
          </p:cNvSpPr>
          <p:nvPr>
            <p:ph type="ftr" sz="quarter" idx="22"/>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1AEDBF3B-A1C1-47DC-8365-786DBCD9838F}"/>
              </a:ext>
            </a:extLst>
          </p:cNvPr>
          <p:cNvSpPr>
            <a:spLocks noGrp="1"/>
          </p:cNvSpPr>
          <p:nvPr>
            <p:ph type="sldNum" sz="quarter" idx="23"/>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900442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mit eckigen Bildern">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de-DE"/>
              <a:t>Mastertitelformat bearbeiten</a:t>
            </a:r>
            <a:endParaRPr lang="de-DE" dirty="0"/>
          </a:p>
        </p:txBody>
      </p:sp>
      <p:sp>
        <p:nvSpPr>
          <p:cNvPr id="8" name="Bildplatzhalter 7"/>
          <p:cNvSpPr>
            <a:spLocks noGrp="1"/>
          </p:cNvSpPr>
          <p:nvPr>
            <p:ph type="pic" sz="quarter" idx="14"/>
          </p:nvPr>
        </p:nvSpPr>
        <p:spPr>
          <a:xfrm>
            <a:off x="396875" y="1115373"/>
            <a:ext cx="1440000" cy="1080000"/>
          </a:xfrm>
          <a:prstGeom prst="rect">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2" name="Textplatzhalter 10"/>
          <p:cNvSpPr>
            <a:spLocks noGrp="1"/>
          </p:cNvSpPr>
          <p:nvPr>
            <p:ph type="body" sz="quarter" idx="16"/>
          </p:nvPr>
        </p:nvSpPr>
        <p:spPr>
          <a:xfrm>
            <a:off x="2015838" y="1245972"/>
            <a:ext cx="4446162"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3" name="Bildplatzhalter 7"/>
          <p:cNvSpPr>
            <a:spLocks noGrp="1"/>
          </p:cNvSpPr>
          <p:nvPr>
            <p:ph type="pic" sz="quarter" idx="21"/>
          </p:nvPr>
        </p:nvSpPr>
        <p:spPr>
          <a:xfrm>
            <a:off x="396875" y="2561266"/>
            <a:ext cx="1440000" cy="1080000"/>
          </a:xfrm>
          <a:prstGeom prst="rect">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14" name="Textplatzhalter 10"/>
          <p:cNvSpPr>
            <a:spLocks noGrp="1"/>
          </p:cNvSpPr>
          <p:nvPr>
            <p:ph type="body" sz="quarter" idx="22"/>
          </p:nvPr>
        </p:nvSpPr>
        <p:spPr>
          <a:xfrm>
            <a:off x="2015838" y="2691865"/>
            <a:ext cx="4446162"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5" name="Bildplatzhalter 7"/>
          <p:cNvSpPr>
            <a:spLocks noGrp="1"/>
          </p:cNvSpPr>
          <p:nvPr>
            <p:ph type="pic" sz="quarter" idx="23"/>
          </p:nvPr>
        </p:nvSpPr>
        <p:spPr>
          <a:xfrm>
            <a:off x="396875" y="4007159"/>
            <a:ext cx="1440000" cy="1080000"/>
          </a:xfrm>
          <a:prstGeom prst="rect">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6" name="Textplatzhalter 10"/>
          <p:cNvSpPr>
            <a:spLocks noGrp="1"/>
          </p:cNvSpPr>
          <p:nvPr>
            <p:ph type="body" sz="quarter" idx="24"/>
          </p:nvPr>
        </p:nvSpPr>
        <p:spPr>
          <a:xfrm>
            <a:off x="2015838" y="4137758"/>
            <a:ext cx="4446162"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 name="Datumsplatzhalter 2">
            <a:extLst>
              <a:ext uri="{FF2B5EF4-FFF2-40B4-BE49-F238E27FC236}">
                <a16:creationId xmlns:a16="http://schemas.microsoft.com/office/drawing/2014/main" id="{5871FCA6-447F-467C-BD20-7BF94CDFD067}"/>
              </a:ext>
            </a:extLst>
          </p:cNvPr>
          <p:cNvSpPr>
            <a:spLocks noGrp="1"/>
          </p:cNvSpPr>
          <p:nvPr>
            <p:ph type="dt" sz="half" idx="25"/>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191C78BE-AEE9-4641-B8E9-7592C0E2C452}"/>
              </a:ext>
            </a:extLst>
          </p:cNvPr>
          <p:cNvSpPr>
            <a:spLocks noGrp="1"/>
          </p:cNvSpPr>
          <p:nvPr>
            <p:ph type="ftr" sz="quarter" idx="26"/>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57E5B34F-C283-41B5-B48F-EE180FDE6E45}"/>
              </a:ext>
            </a:extLst>
          </p:cNvPr>
          <p:cNvSpPr>
            <a:spLocks noGrp="1"/>
          </p:cNvSpPr>
          <p:nvPr>
            <p:ph type="sldNum" sz="quarter" idx="27"/>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621955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ersonen">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t>Mastertitelformat bearbeiten</a:t>
            </a:r>
            <a:endParaRPr lang="de-DE" dirty="0"/>
          </a:p>
        </p:txBody>
      </p:sp>
      <p:sp>
        <p:nvSpPr>
          <p:cNvPr id="15"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390837" y="2315783"/>
            <a:ext cx="2345033"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8" name="Bildplatzhalter 7">
            <a:extLst>
              <a:ext uri="{C183D7F6-B498-43B3-948B-1728B52AA6E4}">
                <adec:decorative xmlns:adec="http://schemas.microsoft.com/office/drawing/2017/decorative" val="1"/>
              </a:ext>
            </a:extLst>
          </p:cNvPr>
          <p:cNvSpPr>
            <a:spLocks noGrp="1" noChangeAspect="1"/>
          </p:cNvSpPr>
          <p:nvPr>
            <p:ph type="pic" sz="quarter" idx="14"/>
          </p:nvPr>
        </p:nvSpPr>
        <p:spPr>
          <a:xfrm>
            <a:off x="963353" y="1703642"/>
            <a:ext cx="1224000" cy="1224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1" name="Textplatzhalter 10"/>
          <p:cNvSpPr>
            <a:spLocks noGrp="1"/>
          </p:cNvSpPr>
          <p:nvPr>
            <p:ph type="body" sz="quarter" idx="15" hasCustomPrompt="1"/>
          </p:nvPr>
        </p:nvSpPr>
        <p:spPr>
          <a:xfrm>
            <a:off x="588983" y="3214800"/>
            <a:ext cx="1950242" cy="252000"/>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588983" y="3600000"/>
            <a:ext cx="1950242" cy="119425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1" name="Rechteck 20">
            <a:extLst>
              <a:ext uri="{C183D7F6-B498-43B3-948B-1728B52AA6E4}">
                <adec:decorative xmlns:adec="http://schemas.microsoft.com/office/drawing/2017/decorative" val="1"/>
              </a:ext>
            </a:extLst>
          </p:cNvPr>
          <p:cNvSpPr/>
          <p:nvPr userDrawn="1"/>
        </p:nvSpPr>
        <p:spPr>
          <a:xfrm>
            <a:off x="3236047" y="2315783"/>
            <a:ext cx="2345033"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22" name="Bildplatzhalter 7">
            <a:extLst>
              <a:ext uri="{C183D7F6-B498-43B3-948B-1728B52AA6E4}">
                <adec:decorative xmlns:adec="http://schemas.microsoft.com/office/drawing/2017/decorative" val="1"/>
              </a:ext>
            </a:extLst>
          </p:cNvPr>
          <p:cNvSpPr>
            <a:spLocks noGrp="1" noChangeAspect="1"/>
          </p:cNvSpPr>
          <p:nvPr>
            <p:ph type="pic" sz="quarter" idx="17"/>
          </p:nvPr>
        </p:nvSpPr>
        <p:spPr>
          <a:xfrm>
            <a:off x="3808562" y="1703642"/>
            <a:ext cx="1224000" cy="1224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23" name="Textplatzhalter 10"/>
          <p:cNvSpPr>
            <a:spLocks noGrp="1"/>
          </p:cNvSpPr>
          <p:nvPr>
            <p:ph type="body" sz="quarter" idx="18" hasCustomPrompt="1"/>
          </p:nvPr>
        </p:nvSpPr>
        <p:spPr>
          <a:xfrm>
            <a:off x="3434192" y="3214800"/>
            <a:ext cx="1950242" cy="252000"/>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4" name="Textplatzhalter 10"/>
          <p:cNvSpPr>
            <a:spLocks noGrp="1"/>
          </p:cNvSpPr>
          <p:nvPr>
            <p:ph type="body" sz="quarter" idx="19" hasCustomPrompt="1"/>
          </p:nvPr>
        </p:nvSpPr>
        <p:spPr>
          <a:xfrm>
            <a:off x="3434192" y="3600000"/>
            <a:ext cx="1950242" cy="119425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 name="Datumsplatzhalter 2">
            <a:extLst>
              <a:ext uri="{FF2B5EF4-FFF2-40B4-BE49-F238E27FC236}">
                <a16:creationId xmlns:a16="http://schemas.microsoft.com/office/drawing/2014/main" id="{E89B3C5B-FFC7-451C-8216-343190030E4E}"/>
              </a:ext>
            </a:extLst>
          </p:cNvPr>
          <p:cNvSpPr>
            <a:spLocks noGrp="1"/>
          </p:cNvSpPr>
          <p:nvPr>
            <p:ph type="dt" sz="half" idx="20"/>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D653A3F1-61F4-444B-A866-066E2D03837E}"/>
              </a:ext>
            </a:extLst>
          </p:cNvPr>
          <p:cNvSpPr>
            <a:spLocks noGrp="1"/>
          </p:cNvSpPr>
          <p:nvPr>
            <p:ph type="ftr" sz="quarter" idx="21"/>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E0882F69-BFD1-4CE5-80F1-BDCABC3CFEF9}"/>
              </a:ext>
            </a:extLst>
          </p:cNvPr>
          <p:cNvSpPr>
            <a:spLocks noGrp="1"/>
          </p:cNvSpPr>
          <p:nvPr>
            <p:ph type="sldNum" sz="quarter" idx="22"/>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383625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Personen">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t>Mastertitelformat bearbeiten</a:t>
            </a:r>
            <a:endParaRPr lang="de-DE" dirty="0"/>
          </a:p>
        </p:txBody>
      </p:sp>
      <p:sp>
        <p:nvSpPr>
          <p:cNvPr id="27"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390838" y="2315783"/>
            <a:ext cx="2100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8" name="Bildplatzhalter 7">
            <a:extLst>
              <a:ext uri="{C183D7F6-B498-43B3-948B-1728B52AA6E4}">
                <adec:decorative xmlns:adec="http://schemas.microsoft.com/office/drawing/2017/decorative" val="1"/>
              </a:ext>
            </a:extLst>
          </p:cNvPr>
          <p:cNvSpPr>
            <a:spLocks noGrp="1" noChangeAspect="1"/>
          </p:cNvSpPr>
          <p:nvPr>
            <p:ph type="pic" sz="quarter" idx="14"/>
          </p:nvPr>
        </p:nvSpPr>
        <p:spPr>
          <a:xfrm>
            <a:off x="851855" y="1702800"/>
            <a:ext cx="1224000" cy="1224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11" name="Textplatzhalter 10"/>
          <p:cNvSpPr>
            <a:spLocks noGrp="1"/>
          </p:cNvSpPr>
          <p:nvPr>
            <p:ph type="body" sz="quarter" idx="15" hasCustomPrompt="1"/>
          </p:nvPr>
        </p:nvSpPr>
        <p:spPr>
          <a:xfrm>
            <a:off x="600000" y="3214800"/>
            <a:ext cx="1800000" cy="252000"/>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600000" y="3600000"/>
            <a:ext cx="1800000" cy="119425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3" name="Rechteck 12">
            <a:extLst>
              <a:ext uri="{C183D7F6-B498-43B3-948B-1728B52AA6E4}">
                <adec:decorative xmlns:adec="http://schemas.microsoft.com/office/drawing/2017/decorative" val="1"/>
              </a:ext>
            </a:extLst>
          </p:cNvPr>
          <p:cNvSpPr/>
          <p:nvPr userDrawn="1"/>
        </p:nvSpPr>
        <p:spPr>
          <a:xfrm>
            <a:off x="2765798" y="2315784"/>
            <a:ext cx="2100000" cy="27737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14" name="Bildplatzhalter 7">
            <a:extLst>
              <a:ext uri="{C183D7F6-B498-43B3-948B-1728B52AA6E4}">
                <adec:decorative xmlns:adec="http://schemas.microsoft.com/office/drawing/2017/decorative" val="1"/>
              </a:ext>
            </a:extLst>
          </p:cNvPr>
          <p:cNvSpPr>
            <a:spLocks noGrp="1" noChangeAspect="1"/>
          </p:cNvSpPr>
          <p:nvPr>
            <p:ph type="pic" sz="quarter" idx="17"/>
          </p:nvPr>
        </p:nvSpPr>
        <p:spPr>
          <a:xfrm>
            <a:off x="3215798" y="1702800"/>
            <a:ext cx="1224000" cy="1224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15" name="Textplatzhalter 10"/>
          <p:cNvSpPr>
            <a:spLocks noGrp="1"/>
          </p:cNvSpPr>
          <p:nvPr>
            <p:ph type="body" sz="quarter" idx="18" hasCustomPrompt="1"/>
          </p:nvPr>
        </p:nvSpPr>
        <p:spPr>
          <a:xfrm>
            <a:off x="2963943" y="3214800"/>
            <a:ext cx="1800000" cy="252000"/>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6" name="Textplatzhalter 10"/>
          <p:cNvSpPr>
            <a:spLocks noGrp="1"/>
          </p:cNvSpPr>
          <p:nvPr>
            <p:ph type="body" sz="quarter" idx="19" hasCustomPrompt="1"/>
          </p:nvPr>
        </p:nvSpPr>
        <p:spPr>
          <a:xfrm>
            <a:off x="2963943" y="3600000"/>
            <a:ext cx="1800000" cy="119425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7" name="Rechteck 16">
            <a:extLst>
              <a:ext uri="{C183D7F6-B498-43B3-948B-1728B52AA6E4}">
                <adec:decorative xmlns:adec="http://schemas.microsoft.com/office/drawing/2017/decorative" val="1"/>
              </a:ext>
            </a:extLst>
          </p:cNvPr>
          <p:cNvSpPr/>
          <p:nvPr userDrawn="1"/>
        </p:nvSpPr>
        <p:spPr>
          <a:xfrm>
            <a:off x="5129740" y="2315783"/>
            <a:ext cx="2100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18" name="Bildplatzhalter 7">
            <a:extLst>
              <a:ext uri="{C183D7F6-B498-43B3-948B-1728B52AA6E4}">
                <adec:decorative xmlns:adec="http://schemas.microsoft.com/office/drawing/2017/decorative" val="1"/>
              </a:ext>
            </a:extLst>
          </p:cNvPr>
          <p:cNvSpPr>
            <a:spLocks noGrp="1" noChangeAspect="1"/>
          </p:cNvSpPr>
          <p:nvPr>
            <p:ph type="pic" sz="quarter" idx="20"/>
          </p:nvPr>
        </p:nvSpPr>
        <p:spPr>
          <a:xfrm>
            <a:off x="5579740" y="1702800"/>
            <a:ext cx="1224000" cy="1224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19" name="Textplatzhalter 10"/>
          <p:cNvSpPr>
            <a:spLocks noGrp="1"/>
          </p:cNvSpPr>
          <p:nvPr>
            <p:ph type="body" sz="quarter" idx="21" hasCustomPrompt="1"/>
          </p:nvPr>
        </p:nvSpPr>
        <p:spPr>
          <a:xfrm>
            <a:off x="5327885" y="3214800"/>
            <a:ext cx="1800000" cy="252000"/>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Textplatzhalter 10"/>
          <p:cNvSpPr>
            <a:spLocks noGrp="1"/>
          </p:cNvSpPr>
          <p:nvPr>
            <p:ph type="body" sz="quarter" idx="22" hasCustomPrompt="1"/>
          </p:nvPr>
        </p:nvSpPr>
        <p:spPr>
          <a:xfrm>
            <a:off x="5327885" y="3600000"/>
            <a:ext cx="1800000" cy="119425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 name="Datumsplatzhalter 2">
            <a:extLst>
              <a:ext uri="{FF2B5EF4-FFF2-40B4-BE49-F238E27FC236}">
                <a16:creationId xmlns:a16="http://schemas.microsoft.com/office/drawing/2014/main" id="{BCA28E1C-95AB-477A-939B-6DF07DF3935F}"/>
              </a:ext>
            </a:extLst>
          </p:cNvPr>
          <p:cNvSpPr>
            <a:spLocks noGrp="1"/>
          </p:cNvSpPr>
          <p:nvPr>
            <p:ph type="dt" sz="half" idx="23"/>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34BFAB15-D47F-46C2-9DBD-5FCCFBEADF2E}"/>
              </a:ext>
            </a:extLst>
          </p:cNvPr>
          <p:cNvSpPr>
            <a:spLocks noGrp="1"/>
          </p:cNvSpPr>
          <p:nvPr>
            <p:ph type="ftr" sz="quarter" idx="24"/>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6B3D3EFE-D5C3-416B-919F-0F9AD3A62EB2}"/>
              </a:ext>
            </a:extLst>
          </p:cNvPr>
          <p:cNvSpPr>
            <a:spLocks noGrp="1"/>
          </p:cNvSpPr>
          <p:nvPr>
            <p:ph type="sldNum" sz="quarter" idx="25"/>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2597809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ersonen">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t>Mastertitelformat bearbeiten</a:t>
            </a:r>
            <a:endParaRPr lang="de-DE" dirty="0"/>
          </a:p>
        </p:txBody>
      </p:sp>
      <p:sp>
        <p:nvSpPr>
          <p:cNvPr id="23"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9" name="Rechteck 8">
            <a:extLst>
              <a:ext uri="{C183D7F6-B498-43B3-948B-1728B52AA6E4}">
                <adec:decorative xmlns:adec="http://schemas.microsoft.com/office/drawing/2017/decorative" val="1"/>
              </a:ext>
            </a:extLst>
          </p:cNvPr>
          <p:cNvSpPr/>
          <p:nvPr userDrawn="1"/>
        </p:nvSpPr>
        <p:spPr>
          <a:xfrm>
            <a:off x="388938" y="2315785"/>
            <a:ext cx="1692917"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8" name="Bildplatzhalter 7">
            <a:extLst>
              <a:ext uri="{C183D7F6-B498-43B3-948B-1728B52AA6E4}">
                <adec:decorative xmlns:adec="http://schemas.microsoft.com/office/drawing/2017/decorative" val="1"/>
              </a:ext>
            </a:extLst>
          </p:cNvPr>
          <p:cNvSpPr>
            <a:spLocks noGrp="1"/>
          </p:cNvSpPr>
          <p:nvPr>
            <p:ph type="pic" sz="quarter" idx="14"/>
          </p:nvPr>
        </p:nvSpPr>
        <p:spPr>
          <a:xfrm>
            <a:off x="665855" y="1739375"/>
            <a:ext cx="1152000" cy="1152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1" name="Textplatzhalter 10"/>
          <p:cNvSpPr>
            <a:spLocks noGrp="1"/>
          </p:cNvSpPr>
          <p:nvPr>
            <p:ph type="body" sz="quarter" idx="15" hasCustomPrompt="1"/>
          </p:nvPr>
        </p:nvSpPr>
        <p:spPr>
          <a:xfrm>
            <a:off x="600000" y="3214804"/>
            <a:ext cx="1354162" cy="407775"/>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600000" y="3809772"/>
            <a:ext cx="1354162" cy="113596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4" name="Rechteck 23">
            <a:extLst>
              <a:ext uri="{C183D7F6-B498-43B3-948B-1728B52AA6E4}">
                <adec:decorative xmlns:adec="http://schemas.microsoft.com/office/drawing/2017/decorative" val="1"/>
              </a:ext>
            </a:extLst>
          </p:cNvPr>
          <p:cNvSpPr/>
          <p:nvPr userDrawn="1"/>
        </p:nvSpPr>
        <p:spPr>
          <a:xfrm>
            <a:off x="2121211" y="2315785"/>
            <a:ext cx="1680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25" name="Bildplatzhalter 7">
            <a:extLst>
              <a:ext uri="{C183D7F6-B498-43B3-948B-1728B52AA6E4}">
                <adec:decorative xmlns:adec="http://schemas.microsoft.com/office/drawing/2017/decorative" val="1"/>
              </a:ext>
            </a:extLst>
          </p:cNvPr>
          <p:cNvSpPr>
            <a:spLocks noGrp="1"/>
          </p:cNvSpPr>
          <p:nvPr>
            <p:ph type="pic" sz="quarter" idx="17"/>
          </p:nvPr>
        </p:nvSpPr>
        <p:spPr>
          <a:xfrm>
            <a:off x="2385211" y="1739375"/>
            <a:ext cx="1152000" cy="1152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26" name="Textplatzhalter 10"/>
          <p:cNvSpPr>
            <a:spLocks noGrp="1"/>
          </p:cNvSpPr>
          <p:nvPr>
            <p:ph type="body" sz="quarter" idx="18" hasCustomPrompt="1"/>
          </p:nvPr>
        </p:nvSpPr>
        <p:spPr>
          <a:xfrm>
            <a:off x="2316197" y="3214804"/>
            <a:ext cx="1354162" cy="407775"/>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7" name="Textplatzhalter 10"/>
          <p:cNvSpPr>
            <a:spLocks noGrp="1"/>
          </p:cNvSpPr>
          <p:nvPr>
            <p:ph type="body" sz="quarter" idx="19" hasCustomPrompt="1"/>
          </p:nvPr>
        </p:nvSpPr>
        <p:spPr>
          <a:xfrm>
            <a:off x="2316197" y="3809772"/>
            <a:ext cx="1354162" cy="113596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8" name="Rechteck 27">
            <a:extLst>
              <a:ext uri="{C183D7F6-B498-43B3-948B-1728B52AA6E4}">
                <adec:decorative xmlns:adec="http://schemas.microsoft.com/office/drawing/2017/decorative" val="1"/>
              </a:ext>
            </a:extLst>
          </p:cNvPr>
          <p:cNvSpPr/>
          <p:nvPr userDrawn="1"/>
        </p:nvSpPr>
        <p:spPr>
          <a:xfrm>
            <a:off x="3840567" y="2315785"/>
            <a:ext cx="1680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29" name="Bildplatzhalter 7">
            <a:extLst>
              <a:ext uri="{C183D7F6-B498-43B3-948B-1728B52AA6E4}">
                <adec:decorative xmlns:adec="http://schemas.microsoft.com/office/drawing/2017/decorative" val="1"/>
              </a:ext>
            </a:extLst>
          </p:cNvPr>
          <p:cNvSpPr>
            <a:spLocks noGrp="1"/>
          </p:cNvSpPr>
          <p:nvPr>
            <p:ph type="pic" sz="quarter" idx="20"/>
          </p:nvPr>
        </p:nvSpPr>
        <p:spPr>
          <a:xfrm>
            <a:off x="4104567" y="1739375"/>
            <a:ext cx="1152000" cy="1152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30" name="Textplatzhalter 10"/>
          <p:cNvSpPr>
            <a:spLocks noGrp="1"/>
          </p:cNvSpPr>
          <p:nvPr>
            <p:ph type="body" sz="quarter" idx="21" hasCustomPrompt="1"/>
          </p:nvPr>
        </p:nvSpPr>
        <p:spPr>
          <a:xfrm>
            <a:off x="4037133" y="3214804"/>
            <a:ext cx="1354162" cy="407775"/>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1" name="Textplatzhalter 10"/>
          <p:cNvSpPr>
            <a:spLocks noGrp="1"/>
          </p:cNvSpPr>
          <p:nvPr>
            <p:ph type="body" sz="quarter" idx="22" hasCustomPrompt="1"/>
          </p:nvPr>
        </p:nvSpPr>
        <p:spPr>
          <a:xfrm>
            <a:off x="4037133" y="3809772"/>
            <a:ext cx="1354162" cy="113596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2" name="Rechteck 31">
            <a:extLst>
              <a:ext uri="{C183D7F6-B498-43B3-948B-1728B52AA6E4}">
                <adec:decorative xmlns:adec="http://schemas.microsoft.com/office/drawing/2017/decorative" val="1"/>
              </a:ext>
            </a:extLst>
          </p:cNvPr>
          <p:cNvSpPr/>
          <p:nvPr userDrawn="1"/>
        </p:nvSpPr>
        <p:spPr>
          <a:xfrm>
            <a:off x="5559924" y="2315785"/>
            <a:ext cx="1680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33" name="Bildplatzhalter 7">
            <a:extLst>
              <a:ext uri="{C183D7F6-B498-43B3-948B-1728B52AA6E4}">
                <adec:decorative xmlns:adec="http://schemas.microsoft.com/office/drawing/2017/decorative" val="1"/>
              </a:ext>
            </a:extLst>
          </p:cNvPr>
          <p:cNvSpPr>
            <a:spLocks noGrp="1"/>
          </p:cNvSpPr>
          <p:nvPr>
            <p:ph type="pic" sz="quarter" idx="23"/>
          </p:nvPr>
        </p:nvSpPr>
        <p:spPr>
          <a:xfrm>
            <a:off x="5823924" y="1739375"/>
            <a:ext cx="1152000" cy="1152000"/>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a:p>
        </p:txBody>
      </p:sp>
      <p:sp>
        <p:nvSpPr>
          <p:cNvPr id="34" name="Textplatzhalter 10"/>
          <p:cNvSpPr>
            <a:spLocks noGrp="1"/>
          </p:cNvSpPr>
          <p:nvPr>
            <p:ph type="body" sz="quarter" idx="24" hasCustomPrompt="1"/>
          </p:nvPr>
        </p:nvSpPr>
        <p:spPr>
          <a:xfrm>
            <a:off x="5758069" y="3214804"/>
            <a:ext cx="1354162" cy="407775"/>
          </a:xfrm>
        </p:spPr>
        <p:txBody>
          <a:bodyPr/>
          <a:lstStyle>
            <a:lvl1pPr marL="0" indent="0">
              <a:buNone/>
              <a:defRPr sz="11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5" name="Textplatzhalter 10"/>
          <p:cNvSpPr>
            <a:spLocks noGrp="1"/>
          </p:cNvSpPr>
          <p:nvPr>
            <p:ph type="body" sz="quarter" idx="25" hasCustomPrompt="1"/>
          </p:nvPr>
        </p:nvSpPr>
        <p:spPr>
          <a:xfrm>
            <a:off x="5758069" y="3809772"/>
            <a:ext cx="1354162" cy="1135960"/>
          </a:xfrm>
        </p:spPr>
        <p:txBody>
          <a:bodyPr/>
          <a:lstStyle>
            <a:lvl1pPr marL="0" indent="0">
              <a:spcBef>
                <a:spcPts val="1000"/>
              </a:spcBef>
              <a:buNone/>
              <a:defRPr sz="11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 name="Datumsplatzhalter 2">
            <a:extLst>
              <a:ext uri="{FF2B5EF4-FFF2-40B4-BE49-F238E27FC236}">
                <a16:creationId xmlns:a16="http://schemas.microsoft.com/office/drawing/2014/main" id="{55B4DEB2-E2EC-4EF9-9449-B3B78A3760FF}"/>
              </a:ext>
            </a:extLst>
          </p:cNvPr>
          <p:cNvSpPr>
            <a:spLocks noGrp="1"/>
          </p:cNvSpPr>
          <p:nvPr>
            <p:ph type="dt" sz="half" idx="26"/>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17F4FA63-1C79-49F2-8CE5-69FD173B7A33}"/>
              </a:ext>
            </a:extLst>
          </p:cNvPr>
          <p:cNvSpPr>
            <a:spLocks noGrp="1"/>
          </p:cNvSpPr>
          <p:nvPr>
            <p:ph type="ftr" sz="quarter" idx="27"/>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D1F02DDA-FF53-4FA0-BD08-AB4F29F23FBD}"/>
              </a:ext>
            </a:extLst>
          </p:cNvPr>
          <p:cNvSpPr>
            <a:spLocks noGrp="1"/>
          </p:cNvSpPr>
          <p:nvPr>
            <p:ph type="sldNum" sz="quarter" idx="28"/>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4084972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DE"/>
              <a:t>Mastertitelformat bearbeiten</a:t>
            </a:r>
            <a:endParaRPr lang="de-DE" dirty="0"/>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Datumsplatzhalter 2">
            <a:extLst>
              <a:ext uri="{FF2B5EF4-FFF2-40B4-BE49-F238E27FC236}">
                <a16:creationId xmlns:a16="http://schemas.microsoft.com/office/drawing/2014/main" id="{D51175E3-10B7-4401-A0B8-44A65C2FEEE3}"/>
              </a:ext>
            </a:extLst>
          </p:cNvPr>
          <p:cNvSpPr>
            <a:spLocks noGrp="1"/>
          </p:cNvSpPr>
          <p:nvPr>
            <p:ph type="dt" sz="half" idx="14"/>
          </p:nvPr>
        </p:nvSpPr>
        <p:spPr/>
        <p:txBody>
          <a:bodyPr/>
          <a:lstStyle/>
          <a:p>
            <a:r>
              <a:rPr lang="de-DE"/>
              <a:t>25.01.2022</a:t>
            </a:r>
            <a:endParaRPr lang="de-DE" dirty="0"/>
          </a:p>
        </p:txBody>
      </p:sp>
      <p:sp>
        <p:nvSpPr>
          <p:cNvPr id="4" name="Fußzeilenplatzhalter 3">
            <a:extLst>
              <a:ext uri="{FF2B5EF4-FFF2-40B4-BE49-F238E27FC236}">
                <a16:creationId xmlns:a16="http://schemas.microsoft.com/office/drawing/2014/main" id="{BEE24E16-2C3B-40EA-98EC-615F303603C2}"/>
              </a:ext>
            </a:extLst>
          </p:cNvPr>
          <p:cNvSpPr>
            <a:spLocks noGrp="1"/>
          </p:cNvSpPr>
          <p:nvPr>
            <p:ph type="ftr" sz="quarter" idx="15"/>
          </p:nvPr>
        </p:nvSpPr>
        <p:spPr/>
        <p:txBody>
          <a:bodyPr/>
          <a:lstStyle/>
          <a:p>
            <a:r>
              <a:rPr lang="en-US"/>
              <a:t>Name</a:t>
            </a:r>
            <a:endParaRPr lang="en-US" dirty="0"/>
          </a:p>
        </p:txBody>
      </p:sp>
      <p:sp>
        <p:nvSpPr>
          <p:cNvPr id="5" name="Foliennummernplatzhalter 4">
            <a:extLst>
              <a:ext uri="{FF2B5EF4-FFF2-40B4-BE49-F238E27FC236}">
                <a16:creationId xmlns:a16="http://schemas.microsoft.com/office/drawing/2014/main" id="{50E29A0D-66B8-45A2-BD43-E6EB950B0050}"/>
              </a:ext>
            </a:extLst>
          </p:cNvPr>
          <p:cNvSpPr>
            <a:spLocks noGrp="1"/>
          </p:cNvSpPr>
          <p:nvPr>
            <p:ph type="sldNum" sz="quarter" idx="16"/>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696512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69F58EF-6B99-4D05-9C01-C736ABBB167A}"/>
              </a:ext>
            </a:extLst>
          </p:cNvPr>
          <p:cNvSpPr>
            <a:spLocks noGrp="1"/>
          </p:cNvSpPr>
          <p:nvPr>
            <p:ph type="dt" sz="half" idx="10"/>
          </p:nvPr>
        </p:nvSpPr>
        <p:spPr/>
        <p:txBody>
          <a:bodyPr/>
          <a:lstStyle/>
          <a:p>
            <a:r>
              <a:rPr lang="de-DE"/>
              <a:t>25.01.2022</a:t>
            </a:r>
            <a:endParaRPr lang="de-DE" dirty="0"/>
          </a:p>
        </p:txBody>
      </p:sp>
      <p:sp>
        <p:nvSpPr>
          <p:cNvPr id="3" name="Fußzeilenplatzhalter 2">
            <a:extLst>
              <a:ext uri="{FF2B5EF4-FFF2-40B4-BE49-F238E27FC236}">
                <a16:creationId xmlns:a16="http://schemas.microsoft.com/office/drawing/2014/main" id="{7C638F40-443F-474C-8EFE-BF1BAF8E68D3}"/>
              </a:ext>
            </a:extLst>
          </p:cNvPr>
          <p:cNvSpPr>
            <a:spLocks noGrp="1"/>
          </p:cNvSpPr>
          <p:nvPr>
            <p:ph type="ftr" sz="quarter" idx="11"/>
          </p:nvPr>
        </p:nvSpPr>
        <p:spPr/>
        <p:txBody>
          <a:bodyPr/>
          <a:lstStyle/>
          <a:p>
            <a:r>
              <a:rPr lang="en-US"/>
              <a:t>Name</a:t>
            </a:r>
            <a:endParaRPr lang="en-US" dirty="0"/>
          </a:p>
        </p:txBody>
      </p:sp>
      <p:sp>
        <p:nvSpPr>
          <p:cNvPr id="4" name="Foliennummernplatzhalter 3">
            <a:extLst>
              <a:ext uri="{FF2B5EF4-FFF2-40B4-BE49-F238E27FC236}">
                <a16:creationId xmlns:a16="http://schemas.microsoft.com/office/drawing/2014/main" id="{E8C149A0-4332-4109-97E7-08DB192B0110}"/>
              </a:ext>
            </a:extLst>
          </p:cNvPr>
          <p:cNvSpPr>
            <a:spLocks noGrp="1"/>
          </p:cNvSpPr>
          <p:nvPr>
            <p:ph type="sldNum" sz="quarter" idx="12"/>
          </p:nvPr>
        </p:nvSpPr>
        <p:spPr/>
        <p:txBody>
          <a:body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130249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pic>
        <p:nvPicPr>
          <p:cNvPr id="17" name="Grafik 1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170" y="344528"/>
            <a:ext cx="2056867" cy="431998"/>
          </a:xfrm>
          <a:prstGeom prst="rect">
            <a:avLst/>
          </a:prstGeom>
        </p:spPr>
      </p:pic>
      <p:sp>
        <p:nvSpPr>
          <p:cNvPr id="16" name="Vielen Dank!"/>
          <p:cNvSpPr txBox="1"/>
          <p:nvPr userDrawn="1"/>
        </p:nvSpPr>
        <p:spPr>
          <a:xfrm>
            <a:off x="396000" y="1486800"/>
            <a:ext cx="1800000" cy="3240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167"/>
              </a:spcBef>
              <a:spcAft>
                <a:spcPts val="0"/>
              </a:spcAft>
              <a:tabLst>
                <a:tab pos="451079" algn="l"/>
              </a:tabLst>
            </a:pPr>
            <a:r>
              <a:rPr lang="de-DE" sz="2000" b="1" dirty="0">
                <a:solidFill>
                  <a:schemeClr val="tx1"/>
                </a:solidFill>
              </a:rPr>
              <a:t>Vielen Dank!</a:t>
            </a:r>
          </a:p>
        </p:txBody>
      </p:sp>
      <p:sp>
        <p:nvSpPr>
          <p:cNvPr id="6" name="Bildplatzhalter 7">
            <a:extLst>
              <a:ext uri="{C183D7F6-B498-43B3-948B-1728B52AA6E4}">
                <adec:decorative xmlns:adec="http://schemas.microsoft.com/office/drawing/2017/decorative" val="1"/>
              </a:ext>
            </a:extLst>
          </p:cNvPr>
          <p:cNvSpPr>
            <a:spLocks noGrp="1"/>
          </p:cNvSpPr>
          <p:nvPr>
            <p:ph type="pic" sz="quarter" idx="14"/>
          </p:nvPr>
        </p:nvSpPr>
        <p:spPr>
          <a:xfrm>
            <a:off x="396000" y="2149167"/>
            <a:ext cx="1442516" cy="1442516"/>
          </a:xfrm>
          <a:prstGeom prst="ellipse">
            <a:avLst/>
          </a:prstGeom>
          <a:solidFill>
            <a:schemeClr val="bg1">
              <a:lumMod val="95000"/>
            </a:schemeClr>
          </a:solidFill>
        </p:spPr>
        <p:txBody>
          <a:bodyPr tIns="0"/>
          <a:lstStyle>
            <a:lvl1pPr marL="0" indent="0" algn="ctr">
              <a:buNone/>
              <a:defRPr sz="1000"/>
            </a:lvl1pPr>
          </a:lstStyle>
          <a:p>
            <a:r>
              <a:rPr lang="de-DE"/>
              <a:t>Bild durch Klicken auf Symbol hinzufügen</a:t>
            </a:r>
            <a:endParaRPr lang="en-US" dirty="0"/>
          </a:p>
        </p:txBody>
      </p:sp>
      <p:sp>
        <p:nvSpPr>
          <p:cNvPr id="19" name="Name"/>
          <p:cNvSpPr>
            <a:spLocks noGrp="1"/>
          </p:cNvSpPr>
          <p:nvPr>
            <p:ph type="body" sz="quarter" idx="22" hasCustomPrompt="1"/>
          </p:nvPr>
        </p:nvSpPr>
        <p:spPr>
          <a:xfrm>
            <a:off x="2047400" y="2325600"/>
            <a:ext cx="3290054" cy="216000"/>
          </a:xfrm>
        </p:spPr>
        <p:txBody>
          <a:bodyPr/>
          <a:lstStyle>
            <a:lvl1pPr marL="0" indent="0">
              <a:buNone/>
              <a:defRPr sz="12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6" name="E-Mail">
            <a:extLst>
              <a:ext uri="{FF2B5EF4-FFF2-40B4-BE49-F238E27FC236}">
                <a16:creationId xmlns:a16="http://schemas.microsoft.com/office/drawing/2014/main" id="{87C1D32A-788E-4FC7-96B8-2EB7DE2497B1}"/>
              </a:ext>
            </a:extLst>
          </p:cNvPr>
          <p:cNvSpPr>
            <a:spLocks noGrp="1"/>
          </p:cNvSpPr>
          <p:nvPr>
            <p:ph type="body" sz="quarter" idx="31" hasCustomPrompt="1"/>
          </p:nvPr>
        </p:nvSpPr>
        <p:spPr>
          <a:xfrm>
            <a:off x="2047400" y="2757117"/>
            <a:ext cx="542646" cy="216482"/>
          </a:xfrm>
        </p:spPr>
        <p:txBody>
          <a:bodyPr/>
          <a:lstStyle>
            <a:lvl1pPr>
              <a:buFontTx/>
              <a:buNone/>
              <a:defRPr lang="de-DE" sz="1200" b="0" kern="1200" dirty="0" smtClean="0">
                <a:solidFill>
                  <a:schemeClr val="tx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a:t>E-Mail</a:t>
            </a:r>
          </a:p>
        </p:txBody>
      </p:sp>
      <p:sp>
        <p:nvSpPr>
          <p:cNvPr id="25" name="Email Adresse"/>
          <p:cNvSpPr>
            <a:spLocks noGrp="1"/>
          </p:cNvSpPr>
          <p:nvPr>
            <p:ph type="body" sz="quarter" idx="26" hasCustomPrompt="1"/>
          </p:nvPr>
        </p:nvSpPr>
        <p:spPr>
          <a:xfrm>
            <a:off x="2590046" y="2757117"/>
            <a:ext cx="2747409"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 eingeben</a:t>
            </a:r>
          </a:p>
        </p:txBody>
      </p:sp>
      <p:sp>
        <p:nvSpPr>
          <p:cNvPr id="30" name="Telefonnummer">
            <a:extLst>
              <a:ext uri="{FF2B5EF4-FFF2-40B4-BE49-F238E27FC236}">
                <a16:creationId xmlns:a16="http://schemas.microsoft.com/office/drawing/2014/main" id="{F955A3F4-A9ED-40E2-9F35-F0D7771DE826}"/>
              </a:ext>
            </a:extLst>
          </p:cNvPr>
          <p:cNvSpPr>
            <a:spLocks noGrp="1"/>
          </p:cNvSpPr>
          <p:nvPr>
            <p:ph type="body" sz="quarter" idx="36" hasCustomPrompt="1"/>
          </p:nvPr>
        </p:nvSpPr>
        <p:spPr>
          <a:xfrm>
            <a:off x="2047400" y="2988485"/>
            <a:ext cx="1745931" cy="245786"/>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Telefon +49 (0) 711 685-</a:t>
            </a:r>
          </a:p>
        </p:txBody>
      </p:sp>
      <p:sp>
        <p:nvSpPr>
          <p:cNvPr id="21" name="Durchwahl"/>
          <p:cNvSpPr>
            <a:spLocks noGrp="1"/>
          </p:cNvSpPr>
          <p:nvPr>
            <p:ph type="body" sz="quarter" idx="23" hasCustomPrompt="1"/>
          </p:nvPr>
        </p:nvSpPr>
        <p:spPr>
          <a:xfrm>
            <a:off x="3722581" y="2988485"/>
            <a:ext cx="649267" cy="245786"/>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28" name="www">
            <a:extLst>
              <a:ext uri="{FF2B5EF4-FFF2-40B4-BE49-F238E27FC236}">
                <a16:creationId xmlns:a16="http://schemas.microsoft.com/office/drawing/2014/main" id="{0C9B5FE3-03EB-49DA-BC90-A1346AD5A565}"/>
              </a:ext>
            </a:extLst>
          </p:cNvPr>
          <p:cNvSpPr>
            <a:spLocks noGrp="1"/>
          </p:cNvSpPr>
          <p:nvPr>
            <p:ph type="body" sz="quarter" idx="33" hasCustomPrompt="1"/>
          </p:nvPr>
        </p:nvSpPr>
        <p:spPr>
          <a:xfrm>
            <a:off x="2047401" y="3249157"/>
            <a:ext cx="364806"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22" name="Webadresse"/>
          <p:cNvSpPr>
            <a:spLocks noGrp="1"/>
          </p:cNvSpPr>
          <p:nvPr>
            <p:ph type="body" sz="quarter" idx="24" hasCustomPrompt="1"/>
          </p:nvPr>
        </p:nvSpPr>
        <p:spPr>
          <a:xfrm>
            <a:off x="2412208" y="3249157"/>
            <a:ext cx="1838323" cy="238329"/>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 eingeben</a:t>
            </a:r>
          </a:p>
        </p:txBody>
      </p:sp>
      <p:sp>
        <p:nvSpPr>
          <p:cNvPr id="29" name="Universität Stuttgart">
            <a:extLst>
              <a:ext uri="{FF2B5EF4-FFF2-40B4-BE49-F238E27FC236}">
                <a16:creationId xmlns:a16="http://schemas.microsoft.com/office/drawing/2014/main" id="{75DE3846-276C-4F79-9AB5-5EA3B1F9E9D2}"/>
              </a:ext>
            </a:extLst>
          </p:cNvPr>
          <p:cNvSpPr>
            <a:spLocks noGrp="1"/>
          </p:cNvSpPr>
          <p:nvPr>
            <p:ph type="body" sz="quarter" idx="34" hasCustomPrompt="1"/>
          </p:nvPr>
        </p:nvSpPr>
        <p:spPr>
          <a:xfrm>
            <a:off x="2047400" y="3693601"/>
            <a:ext cx="2500012" cy="218691"/>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Universität Stuttgart</a:t>
            </a:r>
          </a:p>
        </p:txBody>
      </p:sp>
      <p:sp>
        <p:nvSpPr>
          <p:cNvPr id="24" name="Abteilung Institut"/>
          <p:cNvSpPr>
            <a:spLocks noGrp="1"/>
          </p:cNvSpPr>
          <p:nvPr>
            <p:ph type="body" sz="quarter" idx="25" hasCustomPrompt="1"/>
          </p:nvPr>
        </p:nvSpPr>
        <p:spPr>
          <a:xfrm>
            <a:off x="2047400" y="3932546"/>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Abteilung oder Institutsname</a:t>
            </a:r>
          </a:p>
        </p:txBody>
      </p:sp>
      <p:sp>
        <p:nvSpPr>
          <p:cNvPr id="18" name="Adressfeld"/>
          <p:cNvSpPr>
            <a:spLocks noGrp="1"/>
          </p:cNvSpPr>
          <p:nvPr>
            <p:ph type="body" sz="quarter" idx="21" hasCustomPrompt="1"/>
          </p:nvPr>
        </p:nvSpPr>
        <p:spPr>
          <a:xfrm>
            <a:off x="2047400" y="4168800"/>
            <a:ext cx="3290054" cy="216000"/>
          </a:xfrm>
        </p:spPr>
        <p:txBody>
          <a:bodyPr/>
          <a:lstStyle>
            <a:lvl1pPr marL="0" indent="0">
              <a:buNone/>
              <a:defRPr sz="12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a:t>
            </a:r>
          </a:p>
        </p:txBody>
      </p:sp>
    </p:spTree>
    <p:extLst>
      <p:ext uri="{BB962C8B-B14F-4D97-AF65-F5344CB8AC3E}">
        <p14:creationId xmlns:p14="http://schemas.microsoft.com/office/powerpoint/2010/main" val="40896968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chlussfolie bla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C183D7F6-B498-43B3-948B-1728B52AA6E4}">
                <adec:decorative xmlns:adec="http://schemas.microsoft.com/office/drawing/2017/decorative" val="1"/>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392400" y="344528"/>
            <a:ext cx="2056867" cy="431998"/>
          </a:xfrm>
          <a:prstGeom prst="rect">
            <a:avLst/>
          </a:prstGeom>
        </p:spPr>
      </p:pic>
      <p:sp>
        <p:nvSpPr>
          <p:cNvPr id="18" name="Textfeld 17"/>
          <p:cNvSpPr txBox="1"/>
          <p:nvPr userDrawn="1"/>
        </p:nvSpPr>
        <p:spPr>
          <a:xfrm>
            <a:off x="396000" y="1486800"/>
            <a:ext cx="1800000" cy="3240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167"/>
              </a:spcBef>
              <a:spcAft>
                <a:spcPts val="0"/>
              </a:spcAft>
              <a:tabLst>
                <a:tab pos="451079" algn="l"/>
              </a:tabLst>
            </a:pPr>
            <a:r>
              <a:rPr lang="de-DE" sz="2000" b="1" dirty="0">
                <a:solidFill>
                  <a:schemeClr val="bg1"/>
                </a:solidFill>
              </a:rPr>
              <a:t>Vielen Dank!</a:t>
            </a:r>
          </a:p>
        </p:txBody>
      </p:sp>
      <p:sp>
        <p:nvSpPr>
          <p:cNvPr id="17" name="Bildplatzhalter 7">
            <a:extLst>
              <a:ext uri="{C183D7F6-B498-43B3-948B-1728B52AA6E4}">
                <adec:decorative xmlns:adec="http://schemas.microsoft.com/office/drawing/2017/decorative" val="1"/>
              </a:ext>
            </a:extLst>
          </p:cNvPr>
          <p:cNvSpPr>
            <a:spLocks noGrp="1"/>
          </p:cNvSpPr>
          <p:nvPr>
            <p:ph type="pic" sz="quarter" idx="14"/>
          </p:nvPr>
        </p:nvSpPr>
        <p:spPr>
          <a:xfrm>
            <a:off x="396000" y="2149167"/>
            <a:ext cx="1442516" cy="1442516"/>
          </a:xfrm>
          <a:prstGeom prst="ellipse">
            <a:avLst/>
          </a:prstGeom>
          <a:solidFill>
            <a:schemeClr val="bg1"/>
          </a:solidFill>
        </p:spPr>
        <p:txBody>
          <a:bodyPr tIns="0"/>
          <a:lstStyle>
            <a:lvl1pPr marL="0" indent="0" algn="ctr">
              <a:buNone/>
              <a:defRPr sz="1000"/>
            </a:lvl1pPr>
          </a:lstStyle>
          <a:p>
            <a:r>
              <a:rPr lang="de-DE"/>
              <a:t>Bild durch Klicken auf Symbol hinzufügen</a:t>
            </a:r>
            <a:endParaRPr lang="en-US" dirty="0"/>
          </a:p>
        </p:txBody>
      </p:sp>
      <p:sp>
        <p:nvSpPr>
          <p:cNvPr id="21" name="Textplatzhalter 10"/>
          <p:cNvSpPr>
            <a:spLocks noGrp="1"/>
          </p:cNvSpPr>
          <p:nvPr>
            <p:ph type="body" sz="quarter" idx="22" hasCustomPrompt="1"/>
          </p:nvPr>
        </p:nvSpPr>
        <p:spPr>
          <a:xfrm>
            <a:off x="2047400" y="2325600"/>
            <a:ext cx="3290054" cy="216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6" name="E-Mail">
            <a:extLst>
              <a:ext uri="{FF2B5EF4-FFF2-40B4-BE49-F238E27FC236}">
                <a16:creationId xmlns:a16="http://schemas.microsoft.com/office/drawing/2014/main" id="{BF0443F4-DFC2-493F-9983-12CD6B41F250}"/>
              </a:ext>
            </a:extLst>
          </p:cNvPr>
          <p:cNvSpPr>
            <a:spLocks noGrp="1"/>
          </p:cNvSpPr>
          <p:nvPr>
            <p:ph type="body" sz="quarter" idx="31" hasCustomPrompt="1"/>
          </p:nvPr>
        </p:nvSpPr>
        <p:spPr>
          <a:xfrm>
            <a:off x="2047400" y="2757117"/>
            <a:ext cx="542646" cy="216482"/>
          </a:xfrm>
        </p:spPr>
        <p:txBody>
          <a:bodyPr/>
          <a:lstStyle>
            <a:lvl1pPr>
              <a:buFontTx/>
              <a:buNone/>
              <a:defRPr lang="de-DE" sz="1200" b="0" kern="1200" dirty="0" smtClean="0">
                <a:solidFill>
                  <a:schemeClr val="bg1"/>
                </a:solidFill>
                <a:latin typeface="+mn-lt"/>
                <a:ea typeface="+mn-ea"/>
                <a:cs typeface="+mn-cs"/>
              </a:defRPr>
            </a:lvl1pPr>
            <a:lvl2pPr>
              <a:defRPr lang="de-DE" sz="1200" b="0" kern="1200" dirty="0" smtClean="0">
                <a:solidFill>
                  <a:schemeClr val="tx1"/>
                </a:solidFill>
                <a:latin typeface="+mn-lt"/>
                <a:ea typeface="+mn-ea"/>
                <a:cs typeface="+mn-cs"/>
              </a:defRPr>
            </a:lvl2pPr>
            <a:lvl3pPr>
              <a:defRPr lang="de-DE" sz="1200" b="0" kern="1200" dirty="0" smtClean="0">
                <a:solidFill>
                  <a:schemeClr val="tx1"/>
                </a:solidFill>
                <a:latin typeface="+mn-lt"/>
                <a:ea typeface="+mn-ea"/>
                <a:cs typeface="+mn-cs"/>
              </a:defRPr>
            </a:lvl3pPr>
            <a:lvl4pPr>
              <a:defRPr lang="de-DE" sz="1200" b="0" kern="1200" dirty="0" smtClean="0">
                <a:solidFill>
                  <a:schemeClr val="tx1"/>
                </a:solidFill>
                <a:latin typeface="+mn-lt"/>
                <a:ea typeface="+mn-ea"/>
                <a:cs typeface="+mn-cs"/>
              </a:defRPr>
            </a:lvl4pPr>
            <a:lvl5pPr>
              <a:defRPr lang="de-DE" sz="1200" b="0" kern="1200" dirty="0">
                <a:solidFill>
                  <a:schemeClr val="tx1"/>
                </a:solidFill>
                <a:latin typeface="+mn-lt"/>
                <a:ea typeface="+mn-ea"/>
                <a:cs typeface="+mn-cs"/>
              </a:defRPr>
            </a:lvl5pPr>
          </a:lstStyle>
          <a:p>
            <a:pPr marL="0" lvl="0" indent="0" algn="l" defTabSz="571454" rtl="0" eaLnBrk="1" latinLnBrk="0" hangingPunct="1">
              <a:lnSpc>
                <a:spcPct val="120000"/>
              </a:lnSpc>
              <a:spcBef>
                <a:spcPts val="625"/>
              </a:spcBef>
              <a:buClr>
                <a:schemeClr val="accent1"/>
              </a:buClr>
              <a:buFont typeface="Arial" panose="020B0604020202020204" pitchFamily="34" charset="0"/>
              <a:buNone/>
            </a:pPr>
            <a:r>
              <a:rPr lang="de-DE" dirty="0"/>
              <a:t>E-Mail</a:t>
            </a:r>
          </a:p>
        </p:txBody>
      </p:sp>
      <p:sp>
        <p:nvSpPr>
          <p:cNvPr id="19" name="Email Adresse">
            <a:extLst>
              <a:ext uri="{FF2B5EF4-FFF2-40B4-BE49-F238E27FC236}">
                <a16:creationId xmlns:a16="http://schemas.microsoft.com/office/drawing/2014/main" id="{7546D7B2-9CAB-4284-AF8C-AD6CCE42CFDD}"/>
              </a:ext>
            </a:extLst>
          </p:cNvPr>
          <p:cNvSpPr>
            <a:spLocks noGrp="1"/>
          </p:cNvSpPr>
          <p:nvPr>
            <p:ph type="body" sz="quarter" idx="26" hasCustomPrompt="1"/>
          </p:nvPr>
        </p:nvSpPr>
        <p:spPr>
          <a:xfrm>
            <a:off x="2590046" y="2757117"/>
            <a:ext cx="2747409"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 eingeben</a:t>
            </a:r>
          </a:p>
        </p:txBody>
      </p:sp>
      <p:sp>
        <p:nvSpPr>
          <p:cNvPr id="36" name="Telefonnummer">
            <a:extLst>
              <a:ext uri="{FF2B5EF4-FFF2-40B4-BE49-F238E27FC236}">
                <a16:creationId xmlns:a16="http://schemas.microsoft.com/office/drawing/2014/main" id="{23668930-8BF3-4A68-A11D-BC73CF477478}"/>
              </a:ext>
            </a:extLst>
          </p:cNvPr>
          <p:cNvSpPr>
            <a:spLocks noGrp="1"/>
          </p:cNvSpPr>
          <p:nvPr>
            <p:ph type="body" sz="quarter" idx="36" hasCustomPrompt="1"/>
          </p:nvPr>
        </p:nvSpPr>
        <p:spPr>
          <a:xfrm>
            <a:off x="2047400" y="2988485"/>
            <a:ext cx="1745931" cy="245786"/>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Telefon +49 (0) 711 685-</a:t>
            </a:r>
          </a:p>
        </p:txBody>
      </p:sp>
      <p:sp>
        <p:nvSpPr>
          <p:cNvPr id="29" name="Durchwahl">
            <a:extLst>
              <a:ext uri="{FF2B5EF4-FFF2-40B4-BE49-F238E27FC236}">
                <a16:creationId xmlns:a16="http://schemas.microsoft.com/office/drawing/2014/main" id="{1921F0CE-BFA9-42C4-A8DD-AB041A893769}"/>
              </a:ext>
            </a:extLst>
          </p:cNvPr>
          <p:cNvSpPr>
            <a:spLocks noGrp="1"/>
          </p:cNvSpPr>
          <p:nvPr>
            <p:ph type="body" sz="quarter" idx="23" hasCustomPrompt="1"/>
          </p:nvPr>
        </p:nvSpPr>
        <p:spPr>
          <a:xfrm>
            <a:off x="3722581" y="2988485"/>
            <a:ext cx="649267" cy="245786"/>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t>
            </a:r>
          </a:p>
        </p:txBody>
      </p:sp>
      <p:sp>
        <p:nvSpPr>
          <p:cNvPr id="30" name="www">
            <a:extLst>
              <a:ext uri="{FF2B5EF4-FFF2-40B4-BE49-F238E27FC236}">
                <a16:creationId xmlns:a16="http://schemas.microsoft.com/office/drawing/2014/main" id="{09416BCD-2DBB-4BBC-AFF9-7DC6D02F741C}"/>
              </a:ext>
            </a:extLst>
          </p:cNvPr>
          <p:cNvSpPr>
            <a:spLocks noGrp="1"/>
          </p:cNvSpPr>
          <p:nvPr>
            <p:ph type="body" sz="quarter" idx="33" hasCustomPrompt="1"/>
          </p:nvPr>
        </p:nvSpPr>
        <p:spPr>
          <a:xfrm>
            <a:off x="2047401" y="3249157"/>
            <a:ext cx="364806"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www.</a:t>
            </a:r>
          </a:p>
        </p:txBody>
      </p:sp>
      <p:sp>
        <p:nvSpPr>
          <p:cNvPr id="31" name="Webadresse">
            <a:extLst>
              <a:ext uri="{FF2B5EF4-FFF2-40B4-BE49-F238E27FC236}">
                <a16:creationId xmlns:a16="http://schemas.microsoft.com/office/drawing/2014/main" id="{7344AF70-8AC3-4F89-8A3F-5C0B1D774638}"/>
              </a:ext>
            </a:extLst>
          </p:cNvPr>
          <p:cNvSpPr>
            <a:spLocks noGrp="1"/>
          </p:cNvSpPr>
          <p:nvPr>
            <p:ph type="body" sz="quarter" idx="24" hasCustomPrompt="1"/>
          </p:nvPr>
        </p:nvSpPr>
        <p:spPr>
          <a:xfrm>
            <a:off x="2412208" y="3249157"/>
            <a:ext cx="1838323" cy="238329"/>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 eingeben</a:t>
            </a:r>
          </a:p>
        </p:txBody>
      </p:sp>
      <p:sp>
        <p:nvSpPr>
          <p:cNvPr id="32" name="Universität Stuttgart">
            <a:extLst>
              <a:ext uri="{FF2B5EF4-FFF2-40B4-BE49-F238E27FC236}">
                <a16:creationId xmlns:a16="http://schemas.microsoft.com/office/drawing/2014/main" id="{32F32CE3-4617-42AC-9A82-3A96D6F61992}"/>
              </a:ext>
            </a:extLst>
          </p:cNvPr>
          <p:cNvSpPr>
            <a:spLocks noGrp="1"/>
          </p:cNvSpPr>
          <p:nvPr>
            <p:ph type="body" sz="quarter" idx="34" hasCustomPrompt="1"/>
          </p:nvPr>
        </p:nvSpPr>
        <p:spPr>
          <a:xfrm>
            <a:off x="2047400" y="3693601"/>
            <a:ext cx="2500012" cy="218691"/>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defTabSz="571454" rtl="0" eaLnBrk="1" latinLnBrk="0" hangingPunct="1">
              <a:lnSpc>
                <a:spcPct val="120000"/>
              </a:lnSpc>
              <a:spcBef>
                <a:spcPts val="625"/>
              </a:spcBef>
              <a:spcAft>
                <a:spcPts val="0"/>
              </a:spcAft>
              <a:buClr>
                <a:schemeClr val="accent1"/>
              </a:buClr>
              <a:buFont typeface="Arial" panose="020B0604020202020204" pitchFamily="34" charset="0"/>
              <a:buNone/>
              <a:tabLst>
                <a:tab pos="541338" algn="l"/>
              </a:tabLst>
            </a:pPr>
            <a:r>
              <a:rPr lang="de-DE" dirty="0"/>
              <a:t>Universität Stuttgart</a:t>
            </a:r>
          </a:p>
        </p:txBody>
      </p:sp>
      <p:sp>
        <p:nvSpPr>
          <p:cNvPr id="33" name="Abteilung Institut">
            <a:extLst>
              <a:ext uri="{FF2B5EF4-FFF2-40B4-BE49-F238E27FC236}">
                <a16:creationId xmlns:a16="http://schemas.microsoft.com/office/drawing/2014/main" id="{EEB15C4C-A746-4AAC-B02C-E26BECDBA7E2}"/>
              </a:ext>
            </a:extLst>
          </p:cNvPr>
          <p:cNvSpPr>
            <a:spLocks noGrp="1"/>
          </p:cNvSpPr>
          <p:nvPr>
            <p:ph type="body" sz="quarter" idx="25" hasCustomPrompt="1"/>
          </p:nvPr>
        </p:nvSpPr>
        <p:spPr>
          <a:xfrm>
            <a:off x="2047400" y="3932546"/>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Abteilung oder Institutsname</a:t>
            </a:r>
          </a:p>
        </p:txBody>
      </p:sp>
      <p:sp>
        <p:nvSpPr>
          <p:cNvPr id="34" name="Adressfeld">
            <a:extLst>
              <a:ext uri="{FF2B5EF4-FFF2-40B4-BE49-F238E27FC236}">
                <a16:creationId xmlns:a16="http://schemas.microsoft.com/office/drawing/2014/main" id="{94BFE5BA-87E4-4985-B91A-8E1A38E5CBB2}"/>
              </a:ext>
            </a:extLst>
          </p:cNvPr>
          <p:cNvSpPr>
            <a:spLocks noGrp="1"/>
          </p:cNvSpPr>
          <p:nvPr>
            <p:ph type="body" sz="quarter" idx="21" hasCustomPrompt="1"/>
          </p:nvPr>
        </p:nvSpPr>
        <p:spPr>
          <a:xfrm>
            <a:off x="2047400" y="4168800"/>
            <a:ext cx="3290054"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Adresse</a:t>
            </a:r>
          </a:p>
        </p:txBody>
      </p:sp>
    </p:spTree>
    <p:extLst>
      <p:ext uri="{BB962C8B-B14F-4D97-AF65-F5344CB8AC3E}">
        <p14:creationId xmlns:p14="http://schemas.microsoft.com/office/powerpoint/2010/main" val="411612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0263" y="396000"/>
            <a:ext cx="6839479" cy="278290"/>
          </a:xfrm>
          <a:prstGeom prst="rect">
            <a:avLst/>
          </a:prstGeom>
        </p:spPr>
        <p:txBody>
          <a:bodyPr vert="horz" lIns="0" tIns="0" rIns="0" bIns="0" rtlCol="0" anchor="b">
            <a:noAutofit/>
          </a:bodyPr>
          <a:lstStyle/>
          <a:p>
            <a:r>
              <a:rPr lang="de-DE" dirty="0"/>
              <a:t>Titelmasterformat durch Klicken bearbeiten</a:t>
            </a:r>
            <a:endParaRPr lang="en-US" dirty="0"/>
          </a:p>
        </p:txBody>
      </p:sp>
      <p:sp>
        <p:nvSpPr>
          <p:cNvPr id="3" name="Text Placeholder 2"/>
          <p:cNvSpPr>
            <a:spLocks noGrp="1"/>
          </p:cNvSpPr>
          <p:nvPr>
            <p:ph type="body" idx="1"/>
          </p:nvPr>
        </p:nvSpPr>
        <p:spPr>
          <a:xfrm>
            <a:off x="390263" y="1381125"/>
            <a:ext cx="6839479" cy="37084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Footer Placeholder 4"/>
          <p:cNvSpPr>
            <a:spLocks noGrp="1"/>
          </p:cNvSpPr>
          <p:nvPr>
            <p:ph type="ftr" sz="quarter" idx="3"/>
          </p:nvPr>
        </p:nvSpPr>
        <p:spPr>
          <a:xfrm>
            <a:off x="390263" y="5418004"/>
            <a:ext cx="5040000"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en-US" dirty="0"/>
              <a:t>Name</a:t>
            </a:r>
          </a:p>
        </p:txBody>
      </p:sp>
      <p:sp>
        <p:nvSpPr>
          <p:cNvPr id="4" name="Date Placeholder 3"/>
          <p:cNvSpPr>
            <a:spLocks noGrp="1"/>
          </p:cNvSpPr>
          <p:nvPr>
            <p:ph type="dt" sz="half" idx="2"/>
          </p:nvPr>
        </p:nvSpPr>
        <p:spPr>
          <a:xfrm>
            <a:off x="6305702" y="5418004"/>
            <a:ext cx="600298" cy="123111"/>
          </a:xfrm>
          <a:prstGeom prst="rect">
            <a:avLst/>
          </a:prstGeom>
        </p:spPr>
        <p:txBody>
          <a:bodyPr vert="horz" wrap="square" lIns="0" tIns="0" rIns="0" bIns="0" rtlCol="0" anchor="t" anchorCtr="0">
            <a:spAutoFit/>
          </a:bodyPr>
          <a:lstStyle>
            <a:lvl1pPr>
              <a:defRPr lang="en-US" sz="800" smtClean="0"/>
            </a:lvl1pPr>
          </a:lstStyle>
          <a:p>
            <a:r>
              <a:rPr lang="de-DE"/>
              <a:t>25.01.2022</a:t>
            </a:r>
            <a:endParaRPr lang="de-DE" dirty="0"/>
          </a:p>
        </p:txBody>
      </p:sp>
      <p:sp>
        <p:nvSpPr>
          <p:cNvPr id="6" name="Slide Number Placeholder 5"/>
          <p:cNvSpPr>
            <a:spLocks noGrp="1"/>
          </p:cNvSpPr>
          <p:nvPr>
            <p:ph type="sldNum" sz="quarter" idx="4"/>
          </p:nvPr>
        </p:nvSpPr>
        <p:spPr>
          <a:xfrm>
            <a:off x="7081114" y="5418004"/>
            <a:ext cx="220886" cy="123111"/>
          </a:xfrm>
          <a:prstGeom prst="rect">
            <a:avLst/>
          </a:prstGeom>
        </p:spPr>
        <p:txBody>
          <a:bodyPr vert="horz" wrap="square" lIns="0" tIns="0" rIns="0" bIns="0" rtlCol="0" anchor="t" anchorCtr="0">
            <a:spAutoFit/>
          </a:bodyPr>
          <a:lstStyle>
            <a:lvl1pPr algn="l">
              <a:defRPr sz="800">
                <a:solidFill>
                  <a:schemeClr val="tx1"/>
                </a:solidFill>
              </a:defRPr>
            </a:lvl1pPr>
          </a:lstStyle>
          <a:p>
            <a:fld id="{9E82CC3C-1DC0-4FDA-9590-6CC506AB67F8}" type="slidenum">
              <a:rPr lang="en-US" smtClean="0"/>
              <a:pPr/>
              <a:t>‹Nr.›</a:t>
            </a:fld>
            <a:endParaRPr lang="en-US" dirty="0"/>
          </a:p>
        </p:txBody>
      </p:sp>
    </p:spTree>
    <p:extLst>
      <p:ext uri="{BB962C8B-B14F-4D97-AF65-F5344CB8AC3E}">
        <p14:creationId xmlns:p14="http://schemas.microsoft.com/office/powerpoint/2010/main" val="1297630091"/>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92" r:id="rId3"/>
    <p:sldLayoutId id="2147483688" r:id="rId4"/>
    <p:sldLayoutId id="2147483675" r:id="rId5"/>
    <p:sldLayoutId id="2147483662" r:id="rId6"/>
    <p:sldLayoutId id="2147483663" r:id="rId7"/>
    <p:sldLayoutId id="2147483676" r:id="rId8"/>
    <p:sldLayoutId id="2147483680" r:id="rId9"/>
    <p:sldLayoutId id="2147483664" r:id="rId10"/>
    <p:sldLayoutId id="2147483665" r:id="rId11"/>
    <p:sldLayoutId id="2147483677" r:id="rId12"/>
    <p:sldLayoutId id="2147483678" r:id="rId13"/>
    <p:sldLayoutId id="2147483679" r:id="rId14"/>
    <p:sldLayoutId id="2147483684" r:id="rId15"/>
    <p:sldLayoutId id="2147483685" r:id="rId16"/>
    <p:sldLayoutId id="2147483682" r:id="rId17"/>
    <p:sldLayoutId id="2147483681" r:id="rId18"/>
    <p:sldLayoutId id="2147483683" r:id="rId19"/>
    <p:sldLayoutId id="2147483666" r:id="rId20"/>
    <p:sldLayoutId id="2147483667" r:id="rId21"/>
    <p:sldLayoutId id="2147483686" r:id="rId22"/>
    <p:sldLayoutId id="2147483687" r:id="rId23"/>
  </p:sldLayoutIdLst>
  <p:hf hdr="0"/>
  <p:txStyles>
    <p:titleStyle>
      <a:lvl1pPr algn="l" defTabSz="571454" rtl="0" eaLnBrk="1" latinLnBrk="0" hangingPunct="1">
        <a:lnSpc>
          <a:spcPct val="90000"/>
        </a:lnSpc>
        <a:spcBef>
          <a:spcPct val="0"/>
        </a:spcBef>
        <a:buNone/>
        <a:defRPr sz="1800" b="1" kern="1200">
          <a:solidFill>
            <a:schemeClr val="tx1"/>
          </a:solidFill>
          <a:latin typeface="+mj-lt"/>
          <a:ea typeface="+mj-ea"/>
          <a:cs typeface="+mj-cs"/>
        </a:defRPr>
      </a:lvl1pPr>
    </p:titleStyle>
    <p:bodyStyle>
      <a:lvl1pPr marL="142863" indent="-142863" algn="l" defTabSz="571454" rtl="0" eaLnBrk="1" latinLnBrk="0" hangingPunct="1">
        <a:lnSpc>
          <a:spcPct val="120000"/>
        </a:lnSpc>
        <a:spcBef>
          <a:spcPts val="625"/>
        </a:spcBef>
        <a:buClr>
          <a:schemeClr val="accent1"/>
        </a:buClr>
        <a:buFont typeface="Arial" panose="020B0604020202020204" pitchFamily="34" charset="0"/>
        <a:buChar char="•"/>
        <a:defRPr sz="1600" kern="1200">
          <a:solidFill>
            <a:schemeClr val="tx1"/>
          </a:solidFill>
          <a:latin typeface="+mn-lt"/>
          <a:ea typeface="+mn-ea"/>
          <a:cs typeface="+mn-cs"/>
        </a:defRPr>
      </a:lvl1pPr>
      <a:lvl2pPr marL="300278" indent="-153446" algn="l" defTabSz="571454" rtl="0" eaLnBrk="1" latinLnBrk="0" hangingPunct="1">
        <a:lnSpc>
          <a:spcPct val="120000"/>
        </a:lnSpc>
        <a:spcBef>
          <a:spcPts val="312"/>
        </a:spcBef>
        <a:buClr>
          <a:schemeClr val="tx1"/>
        </a:buClr>
        <a:buFont typeface="Arial" panose="020B0604020202020204" pitchFamily="34" charset="0"/>
        <a:buChar char="•"/>
        <a:defRPr sz="1600" kern="1200">
          <a:solidFill>
            <a:schemeClr val="tx1"/>
          </a:solidFill>
          <a:latin typeface="+mn-lt"/>
          <a:ea typeface="+mn-ea"/>
          <a:cs typeface="+mn-cs"/>
        </a:defRPr>
      </a:lvl2pPr>
      <a:lvl3pPr marL="447110" indent="-146832" algn="l" defTabSz="571454" rtl="0" eaLnBrk="1" latinLnBrk="0" hangingPunct="1">
        <a:lnSpc>
          <a:spcPct val="120000"/>
        </a:lnSpc>
        <a:spcBef>
          <a:spcPts val="312"/>
        </a:spcBef>
        <a:buClr>
          <a:schemeClr val="tx1"/>
        </a:buClr>
        <a:buFont typeface="Arial" panose="020B0604020202020204" pitchFamily="34" charset="0"/>
        <a:buChar char="•"/>
        <a:defRPr sz="1400" kern="1200">
          <a:solidFill>
            <a:schemeClr val="tx1"/>
          </a:solidFill>
          <a:latin typeface="+mn-lt"/>
          <a:ea typeface="+mn-ea"/>
          <a:cs typeface="+mn-cs"/>
        </a:defRPr>
      </a:lvl3pPr>
      <a:lvl4pPr marL="600556" indent="-153446" algn="l" defTabSz="571454" rtl="0" eaLnBrk="1" latinLnBrk="0" hangingPunct="1">
        <a:lnSpc>
          <a:spcPct val="120000"/>
        </a:lnSpc>
        <a:spcBef>
          <a:spcPts val="312"/>
        </a:spcBef>
        <a:buClr>
          <a:schemeClr val="tx1"/>
        </a:buClr>
        <a:buFont typeface="Arial" panose="020B0604020202020204" pitchFamily="34" charset="0"/>
        <a:buChar char="•"/>
        <a:defRPr sz="1400" kern="1200">
          <a:solidFill>
            <a:schemeClr val="tx1"/>
          </a:solidFill>
          <a:latin typeface="+mn-lt"/>
          <a:ea typeface="+mn-ea"/>
          <a:cs typeface="+mn-cs"/>
        </a:defRPr>
      </a:lvl4pPr>
      <a:lvl5pPr marL="747388" indent="-146832" algn="l" defTabSz="571454" rtl="0" eaLnBrk="1" latinLnBrk="0" hangingPunct="1">
        <a:lnSpc>
          <a:spcPct val="120000"/>
        </a:lnSpc>
        <a:spcBef>
          <a:spcPts val="312"/>
        </a:spcBef>
        <a:buClr>
          <a:schemeClr val="tx1"/>
        </a:buClr>
        <a:buFont typeface="Arial" panose="020B0604020202020204" pitchFamily="34" charset="0"/>
        <a:buChar char="•"/>
        <a:defRPr sz="1400" kern="1200">
          <a:solidFill>
            <a:schemeClr val="tx1"/>
          </a:solidFill>
          <a:latin typeface="+mn-lt"/>
          <a:ea typeface="+mn-ea"/>
          <a:cs typeface="+mn-cs"/>
        </a:defRPr>
      </a:lvl5pPr>
      <a:lvl6pPr marL="1571499" indent="-142863" algn="l" defTabSz="571454"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6pPr>
      <a:lvl7pPr marL="1857227" indent="-142863" algn="l" defTabSz="571454"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7pPr>
      <a:lvl8pPr marL="2142953" indent="-142863" algn="l" defTabSz="571454"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8pPr>
      <a:lvl9pPr marL="2428681" indent="-142863" algn="l" defTabSz="571454"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9pPr>
    </p:bodyStyle>
    <p:otherStyle>
      <a:defPPr>
        <a:defRPr lang="en-US"/>
      </a:defPPr>
      <a:lvl1pPr marL="0" algn="l" defTabSz="571454" rtl="0" eaLnBrk="1" latinLnBrk="0" hangingPunct="1">
        <a:defRPr sz="1125" kern="1200">
          <a:solidFill>
            <a:schemeClr val="tx1"/>
          </a:solidFill>
          <a:latin typeface="+mn-lt"/>
          <a:ea typeface="+mn-ea"/>
          <a:cs typeface="+mn-cs"/>
        </a:defRPr>
      </a:lvl1pPr>
      <a:lvl2pPr marL="285728" algn="l" defTabSz="571454" rtl="0" eaLnBrk="1" latinLnBrk="0" hangingPunct="1">
        <a:defRPr sz="1125" kern="1200">
          <a:solidFill>
            <a:schemeClr val="tx1"/>
          </a:solidFill>
          <a:latin typeface="+mn-lt"/>
          <a:ea typeface="+mn-ea"/>
          <a:cs typeface="+mn-cs"/>
        </a:defRPr>
      </a:lvl2pPr>
      <a:lvl3pPr marL="571454" algn="l" defTabSz="571454" rtl="0" eaLnBrk="1" latinLnBrk="0" hangingPunct="1">
        <a:defRPr sz="1125" kern="1200">
          <a:solidFill>
            <a:schemeClr val="tx1"/>
          </a:solidFill>
          <a:latin typeface="+mn-lt"/>
          <a:ea typeface="+mn-ea"/>
          <a:cs typeface="+mn-cs"/>
        </a:defRPr>
      </a:lvl3pPr>
      <a:lvl4pPr marL="857182" algn="l" defTabSz="571454" rtl="0" eaLnBrk="1" latinLnBrk="0" hangingPunct="1">
        <a:defRPr sz="1125" kern="1200">
          <a:solidFill>
            <a:schemeClr val="tx1"/>
          </a:solidFill>
          <a:latin typeface="+mn-lt"/>
          <a:ea typeface="+mn-ea"/>
          <a:cs typeface="+mn-cs"/>
        </a:defRPr>
      </a:lvl4pPr>
      <a:lvl5pPr marL="1142908" algn="l" defTabSz="571454" rtl="0" eaLnBrk="1" latinLnBrk="0" hangingPunct="1">
        <a:defRPr sz="1125" kern="1200">
          <a:solidFill>
            <a:schemeClr val="tx1"/>
          </a:solidFill>
          <a:latin typeface="+mn-lt"/>
          <a:ea typeface="+mn-ea"/>
          <a:cs typeface="+mn-cs"/>
        </a:defRPr>
      </a:lvl5pPr>
      <a:lvl6pPr marL="1428636" algn="l" defTabSz="571454" rtl="0" eaLnBrk="1" latinLnBrk="0" hangingPunct="1">
        <a:defRPr sz="1125" kern="1200">
          <a:solidFill>
            <a:schemeClr val="tx1"/>
          </a:solidFill>
          <a:latin typeface="+mn-lt"/>
          <a:ea typeface="+mn-ea"/>
          <a:cs typeface="+mn-cs"/>
        </a:defRPr>
      </a:lvl6pPr>
      <a:lvl7pPr marL="1714362" algn="l" defTabSz="571454" rtl="0" eaLnBrk="1" latinLnBrk="0" hangingPunct="1">
        <a:defRPr sz="1125" kern="1200">
          <a:solidFill>
            <a:schemeClr val="tx1"/>
          </a:solidFill>
          <a:latin typeface="+mn-lt"/>
          <a:ea typeface="+mn-ea"/>
          <a:cs typeface="+mn-cs"/>
        </a:defRPr>
      </a:lvl7pPr>
      <a:lvl8pPr marL="2000090" algn="l" defTabSz="571454" rtl="0" eaLnBrk="1" latinLnBrk="0" hangingPunct="1">
        <a:defRPr sz="1125" kern="1200">
          <a:solidFill>
            <a:schemeClr val="tx1"/>
          </a:solidFill>
          <a:latin typeface="+mn-lt"/>
          <a:ea typeface="+mn-ea"/>
          <a:cs typeface="+mn-cs"/>
        </a:defRPr>
      </a:lvl8pPr>
      <a:lvl9pPr marL="2285818" algn="l" defTabSz="571454" rtl="0" eaLnBrk="1" latinLnBrk="0" hangingPunct="1">
        <a:defRPr sz="112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0" userDrawn="1">
          <p15:clr>
            <a:srgbClr val="F26B43"/>
          </p15:clr>
        </p15:guide>
        <p15:guide id="2" pos="246" userDrawn="1">
          <p15:clr>
            <a:srgbClr val="F26B43"/>
          </p15:clr>
        </p15:guide>
        <p15:guide id="3" orient="horz" pos="3206" userDrawn="1">
          <p15:clr>
            <a:srgbClr val="F26B43"/>
          </p15:clr>
        </p15:guide>
        <p15:guide id="4" pos="45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gutenberg.org/"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hyperlink" Target="https://doi.org/10.22148/001c.57195" TargetMode="External"/><Relationship Id="rId3" Type="http://schemas.openxmlformats.org/officeDocument/2006/relationships/hyperlink" Target="https://gephi.org/" TargetMode="External"/><Relationship Id="rId7" Type="http://schemas.openxmlformats.org/officeDocument/2006/relationships/hyperlink" Target="https://www.google.de/search?hl=de&amp;tbo=p&amp;tbm=bks&amp;q=inauthor:%22Ruth+Prigozy%22&amp;source=gbs_metadata_r&amp;cad=5" TargetMode="External"/><Relationship Id="rId12" Type="http://schemas.openxmlformats.org/officeDocument/2006/relationships/hyperlink" Target="https://www.snsoroka.com/data-lexicoder/" TargetMode="External"/><Relationship Id="rId2" Type="http://schemas.openxmlformats.org/officeDocument/2006/relationships/hyperlink" Target="http://www.antlab.sci.waseda.ac.jp/" TargetMode="External"/><Relationship Id="rId1" Type="http://schemas.openxmlformats.org/officeDocument/2006/relationships/slideLayout" Target="../slideLayouts/slideLayout6.xml"/><Relationship Id="rId6" Type="http://schemas.openxmlformats.org/officeDocument/2006/relationships/hyperlink" Target="https://www.google.de/search?hl=de&amp;tbo=p&amp;tbm=bks&amp;q=inauthor:%22Jerome+H.+Delamater%22&amp;source=gbs_metadata_r&amp;cad=5" TargetMode="External"/><Relationship Id="rId11" Type="http://schemas.openxmlformats.org/officeDocument/2006/relationships/hyperlink" Target="https://libstore.ugent.be/fulltxt/RUG01/001/414/024/RUG01-001414024_2010_0001_AC.pdf" TargetMode="External"/><Relationship Id="rId5" Type="http://schemas.openxmlformats.org/officeDocument/2006/relationships/hyperlink" Target="https://catma.de/" TargetMode="External"/><Relationship Id="rId10" Type="http://schemas.openxmlformats.org/officeDocument/2006/relationships/hyperlink" Target="https://fortext.net/routinen/methoden/netzwerkanalyse" TargetMode="External"/><Relationship Id="rId4" Type="http://schemas.openxmlformats.org/officeDocument/2006/relationships/hyperlink" Target="https://urn.nsk.hr/urn:nbn:hr:162:247069" TargetMode="External"/><Relationship Id="rId9" Type="http://schemas.openxmlformats.org/officeDocument/2006/relationships/hyperlink" Target="https://www.r-project.or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007F7552-AAE9-4E21-BD34-555747777CC3}"/>
              </a:ext>
            </a:extLst>
          </p:cNvPr>
          <p:cNvSpPr>
            <a:spLocks noGrp="1"/>
          </p:cNvSpPr>
          <p:nvPr>
            <p:ph type="pic" sz="quarter" idx="10"/>
          </p:nvPr>
        </p:nvSpPr>
        <p:spPr/>
      </p:sp>
      <p:sp>
        <p:nvSpPr>
          <p:cNvPr id="7" name="Titel 6">
            <a:extLst>
              <a:ext uri="{FF2B5EF4-FFF2-40B4-BE49-F238E27FC236}">
                <a16:creationId xmlns:a16="http://schemas.microsoft.com/office/drawing/2014/main" id="{E39B5CAB-F509-4AED-80D6-79B7982F43A4}"/>
              </a:ext>
            </a:extLst>
          </p:cNvPr>
          <p:cNvSpPr>
            <a:spLocks noGrp="1"/>
          </p:cNvSpPr>
          <p:nvPr>
            <p:ph type="ctrTitle"/>
          </p:nvPr>
        </p:nvSpPr>
        <p:spPr>
          <a:xfrm>
            <a:off x="3644443" y="993341"/>
            <a:ext cx="3771365" cy="3806352"/>
          </a:xfrm>
        </p:spPr>
        <p:txBody>
          <a:bodyPr/>
          <a:lstStyle/>
          <a:p>
            <a:r>
              <a:rPr lang="en-US" sz="1400" dirty="0">
                <a:solidFill>
                  <a:schemeClr val="bg1"/>
                </a:solidFill>
                <a:latin typeface="Times New Roman" panose="02020603050405020304" pitchFamily="18" charset="0"/>
                <a:cs typeface="Times New Roman" panose="02020603050405020304" pitchFamily="18" charset="0"/>
              </a:rPr>
              <a:t>A Digital Humanities Approach to Characterizing Murderers in</a:t>
            </a:r>
            <a:r>
              <a:rPr lang="de-DE" sz="1400" dirty="0">
                <a:solidFill>
                  <a:schemeClr val="bg1"/>
                </a:solidFill>
                <a:latin typeface="Times New Roman" panose="02020603050405020304" pitchFamily="18" charset="0"/>
                <a:cs typeface="Times New Roman" panose="02020603050405020304" pitchFamily="18" charset="0"/>
              </a:rPr>
              <a:t> </a:t>
            </a:r>
            <a:br>
              <a:rPr lang="de-DE" sz="1400" dirty="0">
                <a:solidFill>
                  <a:schemeClr val="bg1"/>
                </a:solidFill>
                <a:latin typeface="Times New Roman" panose="02020603050405020304" pitchFamily="18" charset="0"/>
                <a:cs typeface="Times New Roman" panose="02020603050405020304" pitchFamily="18" charset="0"/>
              </a:rPr>
            </a:br>
            <a:r>
              <a:rPr lang="de-DE" sz="1400" dirty="0">
                <a:solidFill>
                  <a:schemeClr val="bg1"/>
                </a:solidFill>
                <a:latin typeface="Times New Roman" panose="02020603050405020304" pitchFamily="18" charset="0"/>
                <a:cs typeface="Times New Roman" panose="02020603050405020304" pitchFamily="18" charset="0"/>
              </a:rPr>
              <a:t>Agatha Christie’s </a:t>
            </a:r>
            <a:r>
              <a:rPr lang="de-DE" sz="1400" dirty="0" err="1">
                <a:solidFill>
                  <a:schemeClr val="bg1"/>
                </a:solidFill>
                <a:latin typeface="Times New Roman" panose="02020603050405020304" pitchFamily="18" charset="0"/>
                <a:cs typeface="Times New Roman" panose="02020603050405020304" pitchFamily="18" charset="0"/>
              </a:rPr>
              <a:t>Detective</a:t>
            </a:r>
            <a:r>
              <a:rPr lang="de-DE" sz="1400" dirty="0">
                <a:solidFill>
                  <a:schemeClr val="bg1"/>
                </a:solidFill>
                <a:latin typeface="Times New Roman" panose="02020603050405020304" pitchFamily="18" charset="0"/>
                <a:cs typeface="Times New Roman" panose="02020603050405020304" pitchFamily="18" charset="0"/>
              </a:rPr>
              <a:t> </a:t>
            </a:r>
            <a:r>
              <a:rPr lang="de-DE" sz="1400" dirty="0" err="1">
                <a:solidFill>
                  <a:schemeClr val="bg1"/>
                </a:solidFill>
                <a:latin typeface="Times New Roman" panose="02020603050405020304" pitchFamily="18" charset="0"/>
                <a:cs typeface="Times New Roman" panose="02020603050405020304" pitchFamily="18" charset="0"/>
              </a:rPr>
              <a:t>Novels</a:t>
            </a:r>
            <a:r>
              <a:rPr lang="de-DE" sz="1400" dirty="0">
                <a:solidFill>
                  <a:schemeClr val="bg1"/>
                </a:solidFill>
                <a:latin typeface="Times New Roman" panose="02020603050405020304" pitchFamily="18" charset="0"/>
                <a:cs typeface="Times New Roman" panose="02020603050405020304" pitchFamily="18" charset="0"/>
              </a:rPr>
              <a:t> </a:t>
            </a:r>
            <a:br>
              <a:rPr lang="de-DE" sz="1400" dirty="0">
                <a:solidFill>
                  <a:schemeClr val="bg1"/>
                </a:solidFill>
                <a:latin typeface="Times New Roman" panose="02020603050405020304" pitchFamily="18" charset="0"/>
                <a:cs typeface="Times New Roman" panose="02020603050405020304" pitchFamily="18" charset="0"/>
              </a:rPr>
            </a:br>
            <a:endParaRPr lang="de-DE" sz="1400" dirty="0">
              <a:solidFill>
                <a:schemeClr val="bg1"/>
              </a:solidFill>
            </a:endParaRPr>
          </a:p>
        </p:txBody>
      </p:sp>
      <p:sp>
        <p:nvSpPr>
          <p:cNvPr id="8" name="Untertitel 7">
            <a:extLst>
              <a:ext uri="{FF2B5EF4-FFF2-40B4-BE49-F238E27FC236}">
                <a16:creationId xmlns:a16="http://schemas.microsoft.com/office/drawing/2014/main" id="{02BCA27C-5B44-4CF0-9D65-3EB73BA535DE}"/>
              </a:ext>
            </a:extLst>
          </p:cNvPr>
          <p:cNvSpPr>
            <a:spLocks noGrp="1"/>
          </p:cNvSpPr>
          <p:nvPr>
            <p:ph type="subTitle" idx="1"/>
          </p:nvPr>
        </p:nvSpPr>
        <p:spPr>
          <a:xfrm>
            <a:off x="4341784" y="3240000"/>
            <a:ext cx="2700573" cy="917560"/>
          </a:xfrm>
        </p:spPr>
        <p:txBody>
          <a:bodyPr>
            <a:normAutofit fontScale="77500" lnSpcReduction="20000"/>
          </a:bodyPr>
          <a:lstStyle/>
          <a:p>
            <a:r>
              <a:rPr lang="de-DE" dirty="0">
                <a:solidFill>
                  <a:schemeClr val="bg1"/>
                </a:solidFill>
                <a:latin typeface="Times New Roman" panose="02020603050405020304" pitchFamily="18" charset="0"/>
                <a:cs typeface="Times New Roman" panose="02020603050405020304" pitchFamily="18" charset="0"/>
              </a:rPr>
              <a:t>Masterarbeit-Verteidigung</a:t>
            </a:r>
          </a:p>
          <a:p>
            <a:r>
              <a:rPr lang="de-DE" dirty="0">
                <a:solidFill>
                  <a:schemeClr val="bg1"/>
                </a:solidFill>
                <a:latin typeface="Times New Roman" panose="02020603050405020304" pitchFamily="18" charset="0"/>
                <a:cs typeface="Times New Roman" panose="02020603050405020304" pitchFamily="18" charset="0"/>
              </a:rPr>
              <a:t>Mengjiao Li</a:t>
            </a:r>
          </a:p>
          <a:p>
            <a:r>
              <a:rPr lang="de-DE" dirty="0">
                <a:solidFill>
                  <a:schemeClr val="bg1"/>
                </a:solidFill>
                <a:latin typeface="Times New Roman" panose="02020603050405020304" pitchFamily="18" charset="0"/>
                <a:cs typeface="Times New Roman" panose="02020603050405020304" pitchFamily="18" charset="0"/>
              </a:rPr>
              <a:t>Matrikelnummer 3392731</a:t>
            </a:r>
          </a:p>
          <a:p>
            <a:r>
              <a:rPr lang="de-DE" dirty="0">
                <a:solidFill>
                  <a:schemeClr val="bg1"/>
                </a:solidFill>
                <a:latin typeface="Times New Roman" panose="02020603050405020304" pitchFamily="18" charset="0"/>
                <a:cs typeface="Times New Roman" panose="02020603050405020304" pitchFamily="18" charset="0"/>
              </a:rPr>
              <a:t>Institut für Literaturwissenschaft | Universität Stuttgart</a:t>
            </a:r>
          </a:p>
          <a:p>
            <a:r>
              <a:rPr lang="de-DE" dirty="0">
                <a:solidFill>
                  <a:schemeClr val="bg1"/>
                </a:solidFill>
                <a:latin typeface="Times New Roman" panose="02020603050405020304" pitchFamily="18" charset="0"/>
                <a:cs typeface="Times New Roman" panose="02020603050405020304" pitchFamily="18" charset="0"/>
              </a:rPr>
              <a:t>Betreuer: Dr. Anselm Küsters | Dr. Nora </a:t>
            </a:r>
            <a:r>
              <a:rPr lang="de-DE" dirty="0" err="1">
                <a:solidFill>
                  <a:schemeClr val="bg1"/>
                </a:solidFill>
                <a:latin typeface="Times New Roman" panose="02020603050405020304" pitchFamily="18" charset="0"/>
                <a:cs typeface="Times New Roman" panose="02020603050405020304" pitchFamily="18" charset="0"/>
              </a:rPr>
              <a:t>Ketschik</a:t>
            </a:r>
            <a:endParaRPr lang="de-DE" dirty="0">
              <a:solidFill>
                <a:schemeClr val="bg1"/>
              </a:solidFill>
              <a:latin typeface="Times New Roman" panose="02020603050405020304" pitchFamily="18" charset="0"/>
              <a:cs typeface="Times New Roman" panose="02020603050405020304" pitchFamily="18" charset="0"/>
            </a:endParaRPr>
          </a:p>
          <a:p>
            <a:endParaRPr lang="de-DE" dirty="0"/>
          </a:p>
          <a:p>
            <a:endParaRPr lang="de-DE" dirty="0"/>
          </a:p>
          <a:p>
            <a:endParaRPr lang="de-DE" dirty="0"/>
          </a:p>
          <a:p>
            <a:endParaRPr lang="de-DE" dirty="0"/>
          </a:p>
        </p:txBody>
      </p:sp>
    </p:spTree>
    <p:extLst>
      <p:ext uri="{BB962C8B-B14F-4D97-AF65-F5344CB8AC3E}">
        <p14:creationId xmlns:p14="http://schemas.microsoft.com/office/powerpoint/2010/main" val="80438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61A8D5BF-9CF9-460C-A18B-072964630AFE}"/>
              </a:ext>
            </a:extLst>
          </p:cNvPr>
          <p:cNvSpPr>
            <a:spLocks noGrp="1"/>
          </p:cNvSpPr>
          <p:nvPr>
            <p:ph type="title"/>
          </p:nvPr>
        </p:nvSpPr>
        <p:spPr/>
        <p:txBody>
          <a:bodyPr/>
          <a:lstStyle/>
          <a:p>
            <a:r>
              <a:rPr lang="de-DE" sz="2000" dirty="0">
                <a:latin typeface="Times New Roman" panose="02020603050405020304" pitchFamily="18" charset="0"/>
                <a:cs typeface="Times New Roman" panose="02020603050405020304" pitchFamily="18" charset="0"/>
              </a:rPr>
              <a:t>1. Research Question</a:t>
            </a:r>
          </a:p>
        </p:txBody>
      </p:sp>
      <p:sp>
        <p:nvSpPr>
          <p:cNvPr id="15" name="Textplatzhalter 14">
            <a:extLst>
              <a:ext uri="{FF2B5EF4-FFF2-40B4-BE49-F238E27FC236}">
                <a16:creationId xmlns:a16="http://schemas.microsoft.com/office/drawing/2014/main" id="{EF28D8CE-3B90-44FB-9099-DC6630939449}"/>
              </a:ext>
            </a:extLst>
          </p:cNvPr>
          <p:cNvSpPr>
            <a:spLocks noGrp="1"/>
          </p:cNvSpPr>
          <p:nvPr>
            <p:ph type="body" sz="quarter" idx="13"/>
          </p:nvPr>
        </p:nvSpPr>
        <p:spPr/>
        <p:txBody>
          <a:bodyPr/>
          <a:lstStyle/>
          <a:p>
            <a:endParaRPr lang="de-DE" dirty="0"/>
          </a:p>
        </p:txBody>
      </p:sp>
      <p:sp>
        <p:nvSpPr>
          <p:cNvPr id="14" name="Inhaltsplatzhalter 13">
            <a:extLst>
              <a:ext uri="{FF2B5EF4-FFF2-40B4-BE49-F238E27FC236}">
                <a16:creationId xmlns:a16="http://schemas.microsoft.com/office/drawing/2014/main" id="{5AFA9359-4A07-48DE-9543-E9B7AA33069F}"/>
              </a:ext>
            </a:extLst>
          </p:cNvPr>
          <p:cNvSpPr>
            <a:spLocks noGrp="1"/>
          </p:cNvSpPr>
          <p:nvPr>
            <p:ph idx="1"/>
          </p:nvPr>
        </p:nvSpPr>
        <p:spPr/>
        <p:txBody>
          <a:bodyPr/>
          <a:lstStyle/>
          <a:p>
            <a:pPr marL="0" indent="0">
              <a:buNone/>
            </a:pPr>
            <a:r>
              <a:rPr lang="en-US" sz="1400" b="1" dirty="0">
                <a:latin typeface="Times New Roman" panose="02020603050405020304" pitchFamily="18" charset="0"/>
                <a:cs typeface="Times New Roman" panose="02020603050405020304" pitchFamily="18" charset="0"/>
              </a:rPr>
              <a:t>Objective of the Study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quantitative and qualitative analysis of murderer characterizations in eight of Christie novels using digital methods.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Research Question</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How can digital methods analyze the portrayal of murderers in Agatha Christie’s novels, thereby revealing her conception of murderers and her moderate feminism?</a:t>
            </a:r>
          </a:p>
          <a:p>
            <a:pPr marL="0" indent="0">
              <a:buNone/>
            </a:pPr>
            <a:endParaRPr lang="en-US" sz="1400" dirty="0">
              <a:effectLst/>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Theoretical Frame</a:t>
            </a:r>
          </a:p>
          <a:p>
            <a:pPr marL="0" indent="0">
              <a:buNone/>
            </a:pPr>
            <a:r>
              <a:rPr lang="en-US" sz="1400" dirty="0">
                <a:effectLst/>
                <a:latin typeface="Times New Roman" panose="02020603050405020304" pitchFamily="18" charset="0"/>
                <a:cs typeface="Times New Roman" panose="02020603050405020304" pitchFamily="18" charset="0"/>
              </a:rPr>
              <a:t>Unreadability of  Christie’s Texts  (Ina Hark 1997)</a:t>
            </a:r>
          </a:p>
          <a:p>
            <a:pPr marL="0" indent="0">
              <a:buNone/>
            </a:pPr>
            <a:r>
              <a:rPr lang="en-US" sz="1400" dirty="0">
                <a:effectLst/>
                <a:latin typeface="Times New Roman" panose="02020603050405020304" pitchFamily="18" charset="0"/>
                <a:cs typeface="Times New Roman" panose="02020603050405020304" pitchFamily="18" charset="0"/>
              </a:rPr>
              <a:t>New Woman Concept (late 19</a:t>
            </a:r>
            <a:r>
              <a:rPr lang="en-US" sz="1400" baseline="30000" dirty="0">
                <a:effectLst/>
                <a:latin typeface="Times New Roman" panose="02020603050405020304" pitchFamily="18" charset="0"/>
                <a:cs typeface="Times New Roman" panose="02020603050405020304" pitchFamily="18" charset="0"/>
              </a:rPr>
              <a:t>th</a:t>
            </a:r>
            <a:r>
              <a:rPr lang="en-US" sz="1400" dirty="0">
                <a:effectLst/>
                <a:latin typeface="Times New Roman" panose="02020603050405020304" pitchFamily="18" charset="0"/>
                <a:cs typeface="Times New Roman" panose="02020603050405020304" pitchFamily="18" charset="0"/>
              </a:rPr>
              <a:t> Century)</a:t>
            </a:r>
          </a:p>
          <a:p>
            <a:pPr marL="0" indent="0">
              <a:buNone/>
            </a:pPr>
            <a:r>
              <a:rPr lang="en-US" sz="1400" dirty="0">
                <a:latin typeface="Times New Roman" panose="02020603050405020304" pitchFamily="18" charset="0"/>
                <a:cs typeface="Times New Roman" panose="02020603050405020304" pitchFamily="18" charset="0"/>
              </a:rPr>
              <a:t>Agatha Christie transcends simple repetition through inventive variation (</a:t>
            </a:r>
            <a:r>
              <a:rPr lang="en-US" sz="1400" dirty="0" err="1">
                <a:latin typeface="Times New Roman" panose="02020603050405020304" pitchFamily="18" charset="0"/>
                <a:cs typeface="Times New Roman" panose="02020603050405020304" pitchFamily="18" charset="0"/>
              </a:rPr>
              <a:t>Verbogen</a:t>
            </a:r>
            <a:r>
              <a:rPr lang="en-US" sz="1400" dirty="0">
                <a:latin typeface="Times New Roman" panose="02020603050405020304" pitchFamily="18" charset="0"/>
                <a:cs typeface="Times New Roman" panose="02020603050405020304" pitchFamily="18" charset="0"/>
              </a:rPr>
              <a:t> 2008)</a:t>
            </a:r>
            <a:endParaRPr lang="en-US" sz="1400" dirty="0">
              <a:effectLst/>
              <a:latin typeface="Times New Roman" panose="02020603050405020304" pitchFamily="18" charset="0"/>
              <a:cs typeface="Times New Roman" panose="02020603050405020304" pitchFamily="18" charset="0"/>
            </a:endParaRPr>
          </a:p>
        </p:txBody>
      </p:sp>
      <p:sp>
        <p:nvSpPr>
          <p:cNvPr id="6" name="Foliennummernplatzhalter 5">
            <a:extLst>
              <a:ext uri="{FF2B5EF4-FFF2-40B4-BE49-F238E27FC236}">
                <a16:creationId xmlns:a16="http://schemas.microsoft.com/office/drawing/2014/main" id="{86E0B882-AC99-401D-886D-3239BF758E18}"/>
              </a:ext>
            </a:extLst>
          </p:cNvPr>
          <p:cNvSpPr>
            <a:spLocks noGrp="1"/>
          </p:cNvSpPr>
          <p:nvPr>
            <p:ph type="sldNum" sz="quarter" idx="16"/>
          </p:nvPr>
        </p:nvSpPr>
        <p:spPr>
          <a:xfrm>
            <a:off x="7081114" y="5418004"/>
            <a:ext cx="220886" cy="123111"/>
          </a:xfrm>
        </p:spPr>
        <p:txBody>
          <a:bodyPr/>
          <a:lstStyle/>
          <a:p>
            <a:fld id="{9E82CC3C-1DC0-4FDA-9590-6CC506AB67F8}" type="slidenum">
              <a:rPr lang="en-US" smtClean="0"/>
              <a:pPr/>
              <a:t>2</a:t>
            </a:fld>
            <a:endParaRPr lang="en-US" dirty="0"/>
          </a:p>
        </p:txBody>
      </p:sp>
    </p:spTree>
    <p:extLst>
      <p:ext uri="{BB962C8B-B14F-4D97-AF65-F5344CB8AC3E}">
        <p14:creationId xmlns:p14="http://schemas.microsoft.com/office/powerpoint/2010/main" val="4274939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8E1563-7E16-3FC7-8EDD-76A8AC673208}"/>
              </a:ext>
            </a:extLst>
          </p:cNvPr>
          <p:cNvSpPr>
            <a:spLocks noGrp="1"/>
          </p:cNvSpPr>
          <p:nvPr>
            <p:ph type="title"/>
          </p:nvPr>
        </p:nvSpPr>
        <p:spPr/>
        <p:txBody>
          <a:bodyPr/>
          <a:lstStyle/>
          <a:p>
            <a:r>
              <a:rPr lang="de-DE" sz="2000" dirty="0">
                <a:latin typeface="Times New Roman" panose="02020603050405020304" pitchFamily="18" charset="0"/>
                <a:cs typeface="Times New Roman" panose="02020603050405020304" pitchFamily="18" charset="0"/>
              </a:rPr>
              <a:t>2. </a:t>
            </a:r>
            <a:r>
              <a:rPr lang="de-DE" sz="2000" dirty="0" err="1">
                <a:latin typeface="Times New Roman" panose="02020603050405020304" pitchFamily="18" charset="0"/>
                <a:cs typeface="Times New Roman" panose="02020603050405020304" pitchFamily="18" charset="0"/>
              </a:rPr>
              <a:t>Operationalization</a:t>
            </a:r>
            <a:endParaRPr lang="de-DE" sz="2000" dirty="0">
              <a:latin typeface="Times New Roman" panose="02020603050405020304" pitchFamily="18" charset="0"/>
              <a:cs typeface="Times New Roman" panose="02020603050405020304" pitchFamily="18" charset="0"/>
            </a:endParaRPr>
          </a:p>
        </p:txBody>
      </p:sp>
      <p:sp>
        <p:nvSpPr>
          <p:cNvPr id="3" name="Textplatzhalter 2">
            <a:extLst>
              <a:ext uri="{FF2B5EF4-FFF2-40B4-BE49-F238E27FC236}">
                <a16:creationId xmlns:a16="http://schemas.microsoft.com/office/drawing/2014/main" id="{C510326C-81AE-8F36-4E84-DF211D889EF6}"/>
              </a:ext>
            </a:extLst>
          </p:cNvPr>
          <p:cNvSpPr>
            <a:spLocks noGrp="1"/>
          </p:cNvSpPr>
          <p:nvPr>
            <p:ph type="body" sz="quarter" idx="13"/>
          </p:nvPr>
        </p:nvSpPr>
        <p:spPr/>
        <p:txBody>
          <a:bodyPr/>
          <a:lstStyle/>
          <a:p>
            <a:endParaRPr lang="de-DE" dirty="0"/>
          </a:p>
        </p:txBody>
      </p:sp>
      <p:sp>
        <p:nvSpPr>
          <p:cNvPr id="7" name="Foliennummernplatzhalter 6">
            <a:extLst>
              <a:ext uri="{FF2B5EF4-FFF2-40B4-BE49-F238E27FC236}">
                <a16:creationId xmlns:a16="http://schemas.microsoft.com/office/drawing/2014/main" id="{7E4AD34E-F10D-E533-C7C7-D3B4DBF58676}"/>
              </a:ext>
            </a:extLst>
          </p:cNvPr>
          <p:cNvSpPr>
            <a:spLocks noGrp="1"/>
          </p:cNvSpPr>
          <p:nvPr>
            <p:ph type="sldNum" sz="quarter" idx="16"/>
          </p:nvPr>
        </p:nvSpPr>
        <p:spPr/>
        <p:txBody>
          <a:bodyPr/>
          <a:lstStyle/>
          <a:p>
            <a:fld id="{9E82CC3C-1DC0-4FDA-9590-6CC506AB67F8}" type="slidenum">
              <a:rPr lang="en-US" smtClean="0"/>
              <a:pPr/>
              <a:t>3</a:t>
            </a:fld>
            <a:endParaRPr lang="en-US" dirty="0"/>
          </a:p>
        </p:txBody>
      </p:sp>
      <p:pic>
        <p:nvPicPr>
          <p:cNvPr id="8" name="Inhaltsplatzhalter 7">
            <a:extLst>
              <a:ext uri="{FF2B5EF4-FFF2-40B4-BE49-F238E27FC236}">
                <a16:creationId xmlns:a16="http://schemas.microsoft.com/office/drawing/2014/main" id="{D645BFFB-4822-DCD1-176F-6976C5287F4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97780" y="1582121"/>
            <a:ext cx="3878074" cy="2813994"/>
          </a:xfrm>
          <a:prstGeom prst="rect">
            <a:avLst/>
          </a:prstGeom>
          <a:noFill/>
          <a:ln>
            <a:noFill/>
          </a:ln>
        </p:spPr>
      </p:pic>
      <p:sp>
        <p:nvSpPr>
          <p:cNvPr id="9" name="Textfeld 8">
            <a:extLst>
              <a:ext uri="{FF2B5EF4-FFF2-40B4-BE49-F238E27FC236}">
                <a16:creationId xmlns:a16="http://schemas.microsoft.com/office/drawing/2014/main" id="{F8EAA57E-160D-64B9-806D-8D302DCC4EAA}"/>
              </a:ext>
            </a:extLst>
          </p:cNvPr>
          <p:cNvSpPr txBox="1"/>
          <p:nvPr/>
        </p:nvSpPr>
        <p:spPr>
          <a:xfrm>
            <a:off x="2041114" y="4592851"/>
            <a:ext cx="5040000" cy="257501"/>
          </a:xfrm>
          <a:prstGeom prst="rect">
            <a:avLst/>
          </a:prstGeom>
          <a:noFill/>
        </p:spPr>
        <p:txBody>
          <a:bodyPr wrap="none" lIns="0" tIns="0" rIns="0" bIns="0" rtlCol="0">
            <a:noAutofit/>
          </a:bodyPr>
          <a:lstStyle/>
          <a:p>
            <a:pPr>
              <a:buClr>
                <a:schemeClr val="accent1"/>
              </a:buClr>
            </a:pPr>
            <a:r>
              <a:rPr lang="en-US" sz="1000" dirty="0">
                <a:latin typeface="Times New Roman" panose="02020603050405020304" pitchFamily="18" charset="0"/>
                <a:cs typeface="Times New Roman" panose="02020603050405020304" pitchFamily="18" charset="0"/>
              </a:rPr>
              <a:t>Workflow for Reflected Text Analysis, Pichler &amp; Reiter (2022)</a:t>
            </a:r>
            <a:endParaRPr lang="de-DE" sz="1000" dirty="0">
              <a:latin typeface="Times New Roman" panose="02020603050405020304" pitchFamily="18" charset="0"/>
              <a:cs typeface="Times New Roman" panose="02020603050405020304" pitchFamily="18" charset="0"/>
            </a:endParaRPr>
          </a:p>
          <a:p>
            <a:pPr marL="179388" indent="-179388">
              <a:buClr>
                <a:schemeClr val="accent1"/>
              </a:buClr>
              <a:buFont typeface="Arial" panose="020B0604020202020204" pitchFamily="34" charset="0"/>
              <a:buChar char="•"/>
            </a:pPr>
            <a:endParaRPr lang="de-DE" sz="1000" dirty="0"/>
          </a:p>
        </p:txBody>
      </p:sp>
    </p:spTree>
    <p:extLst>
      <p:ext uri="{BB962C8B-B14F-4D97-AF65-F5344CB8AC3E}">
        <p14:creationId xmlns:p14="http://schemas.microsoft.com/office/powerpoint/2010/main" val="4199996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BC03893-A63F-3218-BD0C-976D1E8F9A9A}"/>
              </a:ext>
            </a:extLst>
          </p:cNvPr>
          <p:cNvSpPr>
            <a:spLocks noGrp="1"/>
          </p:cNvSpPr>
          <p:nvPr>
            <p:ph type="body" sz="quarter" idx="13"/>
          </p:nvPr>
        </p:nvSpPr>
        <p:spPr>
          <a:xfrm>
            <a:off x="390263" y="790898"/>
            <a:ext cx="6840000" cy="276225"/>
          </a:xfrm>
        </p:spPr>
        <p:txBody>
          <a:bodyPr/>
          <a:lstStyle/>
          <a:p>
            <a:r>
              <a:rPr lang="de-DE" dirty="0">
                <a:latin typeface="Times New Roman" panose="02020603050405020304" pitchFamily="18" charset="0"/>
                <a:cs typeface="Times New Roman" panose="02020603050405020304" pitchFamily="18" charset="0"/>
              </a:rPr>
              <a:t>Concept and Definition</a:t>
            </a:r>
          </a:p>
          <a:p>
            <a:endParaRPr lang="de-DE" dirty="0"/>
          </a:p>
        </p:txBody>
      </p:sp>
      <p:sp>
        <p:nvSpPr>
          <p:cNvPr id="4" name="Inhaltsplatzhalter 3">
            <a:extLst>
              <a:ext uri="{FF2B5EF4-FFF2-40B4-BE49-F238E27FC236}">
                <a16:creationId xmlns:a16="http://schemas.microsoft.com/office/drawing/2014/main" id="{997D6B6D-B8F2-6A83-F375-52185E6E63AD}"/>
              </a:ext>
            </a:extLst>
          </p:cNvPr>
          <p:cNvSpPr>
            <a:spLocks noGrp="1"/>
          </p:cNvSpPr>
          <p:nvPr>
            <p:ph idx="1"/>
          </p:nvPr>
        </p:nvSpPr>
        <p:spPr>
          <a:xfrm>
            <a:off x="390263" y="1558635"/>
            <a:ext cx="6839479" cy="3530889"/>
          </a:xfrm>
        </p:spPr>
        <p:txBody>
          <a:bodyPr/>
          <a:lstStyle/>
          <a:p>
            <a:r>
              <a:rPr lang="en-US" dirty="0">
                <a:latin typeface="Times New Roman" panose="02020603050405020304" pitchFamily="18" charset="0"/>
                <a:cs typeface="Times New Roman" panose="02020603050405020304" pitchFamily="18" charset="0"/>
              </a:rPr>
              <a:t>murderers’ characterizations</a:t>
            </a:r>
          </a:p>
          <a:p>
            <a:r>
              <a:rPr lang="en-US" dirty="0">
                <a:latin typeface="Times New Roman" panose="02020603050405020304" pitchFamily="18" charset="0"/>
                <a:cs typeface="Times New Roman" panose="02020603050405020304" pitchFamily="18" charset="0"/>
              </a:rPr>
              <a:t>Agatha Christie’s conception of the murderers</a:t>
            </a:r>
          </a:p>
          <a:p>
            <a:r>
              <a:rPr lang="en-US" dirty="0">
                <a:latin typeface="Times New Roman" panose="02020603050405020304" pitchFamily="18" charset="0"/>
                <a:cs typeface="Times New Roman" panose="02020603050405020304" pitchFamily="18" charset="0"/>
              </a:rPr>
              <a:t>Agatha Christie’s moderate feminism</a:t>
            </a:r>
            <a:endParaRPr lang="de-DE" dirty="0">
              <a:latin typeface="Times New Roman" panose="02020603050405020304" pitchFamily="18" charset="0"/>
              <a:cs typeface="Times New Roman" panose="02020603050405020304" pitchFamily="18" charset="0"/>
            </a:endParaRPr>
          </a:p>
          <a:p>
            <a:pPr marL="0" indent="0">
              <a:buNone/>
            </a:pPr>
            <a:endParaRPr lang="de-DE" dirty="0"/>
          </a:p>
        </p:txBody>
      </p:sp>
      <p:sp>
        <p:nvSpPr>
          <p:cNvPr id="7" name="Foliennummernplatzhalter 6">
            <a:extLst>
              <a:ext uri="{FF2B5EF4-FFF2-40B4-BE49-F238E27FC236}">
                <a16:creationId xmlns:a16="http://schemas.microsoft.com/office/drawing/2014/main" id="{8A68E051-9D02-B968-CAAB-0622F5E62D69}"/>
              </a:ext>
            </a:extLst>
          </p:cNvPr>
          <p:cNvSpPr>
            <a:spLocks noGrp="1"/>
          </p:cNvSpPr>
          <p:nvPr>
            <p:ph type="sldNum" sz="quarter" idx="16"/>
          </p:nvPr>
        </p:nvSpPr>
        <p:spPr/>
        <p:txBody>
          <a:bodyPr/>
          <a:lstStyle/>
          <a:p>
            <a:fld id="{9E82CC3C-1DC0-4FDA-9590-6CC506AB67F8}" type="slidenum">
              <a:rPr lang="en-US" smtClean="0"/>
              <a:pPr/>
              <a:t>4</a:t>
            </a:fld>
            <a:endParaRPr lang="en-US" dirty="0"/>
          </a:p>
        </p:txBody>
      </p:sp>
    </p:spTree>
    <p:extLst>
      <p:ext uri="{BB962C8B-B14F-4D97-AF65-F5344CB8AC3E}">
        <p14:creationId xmlns:p14="http://schemas.microsoft.com/office/powerpoint/2010/main" val="394637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37BF2D5E-AC95-9DA7-589C-67F68E80163E}"/>
              </a:ext>
            </a:extLst>
          </p:cNvPr>
          <p:cNvSpPr>
            <a:spLocks noGrp="1"/>
          </p:cNvSpPr>
          <p:nvPr>
            <p:ph type="body" sz="quarter" idx="13"/>
          </p:nvPr>
        </p:nvSpPr>
        <p:spPr>
          <a:xfrm>
            <a:off x="351557" y="694793"/>
            <a:ext cx="6840000" cy="276225"/>
          </a:xfrm>
        </p:spPr>
        <p:txBody>
          <a:bodyPr/>
          <a:lstStyle/>
          <a:p>
            <a:r>
              <a:rPr lang="de-DE" dirty="0">
                <a:latin typeface="Times New Roman" panose="02020603050405020304" pitchFamily="18" charset="0"/>
                <a:cs typeface="Times New Roman" panose="02020603050405020304" pitchFamily="18" charset="0"/>
              </a:rPr>
              <a:t>Corpus and Methods</a:t>
            </a:r>
          </a:p>
          <a:p>
            <a:endParaRPr lang="de-DE" dirty="0"/>
          </a:p>
        </p:txBody>
      </p:sp>
      <p:sp>
        <p:nvSpPr>
          <p:cNvPr id="4" name="Inhaltsplatzhalter 3">
            <a:extLst>
              <a:ext uri="{FF2B5EF4-FFF2-40B4-BE49-F238E27FC236}">
                <a16:creationId xmlns:a16="http://schemas.microsoft.com/office/drawing/2014/main" id="{CC697640-392B-23B3-0168-30FD3536A4B0}"/>
              </a:ext>
            </a:extLst>
          </p:cNvPr>
          <p:cNvSpPr>
            <a:spLocks noGrp="1"/>
          </p:cNvSpPr>
          <p:nvPr>
            <p:ph idx="1"/>
          </p:nvPr>
        </p:nvSpPr>
        <p:spPr>
          <a:xfrm>
            <a:off x="352078" y="1340311"/>
            <a:ext cx="7267922" cy="4271450"/>
          </a:xfrm>
        </p:spPr>
        <p:txBody>
          <a:bodyPr/>
          <a:lstStyle/>
          <a:p>
            <a:pPr marL="0" indent="0">
              <a:buNone/>
            </a:pPr>
            <a:r>
              <a:rPr lang="de-DE" dirty="0">
                <a:latin typeface="Times New Roman" panose="02020603050405020304" pitchFamily="18" charset="0"/>
                <a:cs typeface="Times New Roman" panose="02020603050405020304" pitchFamily="18" charset="0"/>
              </a:rPr>
              <a:t>Corpus (total </a:t>
            </a:r>
            <a:r>
              <a:rPr lang="de-DE" dirty="0" err="1">
                <a:latin typeface="Times New Roman" panose="02020603050405020304" pitchFamily="18" charset="0"/>
                <a:cs typeface="Times New Roman" panose="02020603050405020304" pitchFamily="18" charset="0"/>
              </a:rPr>
              <a:t>tokens</a:t>
            </a:r>
            <a:r>
              <a:rPr lang="de-DE" dirty="0">
                <a:latin typeface="Times New Roman" panose="02020603050405020304" pitchFamily="18" charset="0"/>
                <a:cs typeface="Times New Roman" panose="02020603050405020304" pitchFamily="18" charset="0"/>
              </a:rPr>
              <a:t> 805,967):						</a:t>
            </a:r>
          </a:p>
          <a:p>
            <a:pPr lvl="0"/>
            <a:r>
              <a:rPr lang="en-US" sz="1400" i="1" dirty="0">
                <a:latin typeface="Times New Roman" panose="02020603050405020304" pitchFamily="18" charset="0"/>
                <a:cs typeface="Times New Roman" panose="02020603050405020304" pitchFamily="18" charset="0"/>
              </a:rPr>
              <a:t>The Murder of Roger Ackroyd</a:t>
            </a:r>
            <a:r>
              <a:rPr lang="en-US" sz="1400" dirty="0">
                <a:latin typeface="Times New Roman" panose="02020603050405020304" pitchFamily="18" charset="0"/>
                <a:cs typeface="Times New Roman" panose="02020603050405020304" pitchFamily="18" charset="0"/>
              </a:rPr>
              <a:t> (1926)</a:t>
            </a:r>
            <a:endParaRPr lang="de-DE" sz="1400" dirty="0">
              <a:latin typeface="Times New Roman" panose="02020603050405020304" pitchFamily="18" charset="0"/>
              <a:cs typeface="Times New Roman" panose="02020603050405020304" pitchFamily="18" charset="0"/>
            </a:endParaRPr>
          </a:p>
          <a:p>
            <a:pPr lvl="0"/>
            <a:r>
              <a:rPr lang="en-US" sz="1400" i="1" dirty="0">
                <a:latin typeface="Times New Roman" panose="02020603050405020304" pitchFamily="18" charset="0"/>
                <a:cs typeface="Times New Roman" panose="02020603050405020304" pitchFamily="18" charset="0"/>
              </a:rPr>
              <a:t>The A.B.C. Murders</a:t>
            </a:r>
            <a:r>
              <a:rPr lang="en-US" sz="1400" dirty="0">
                <a:latin typeface="Times New Roman" panose="02020603050405020304" pitchFamily="18" charset="0"/>
                <a:cs typeface="Times New Roman" panose="02020603050405020304" pitchFamily="18" charset="0"/>
              </a:rPr>
              <a:t> (1936)</a:t>
            </a:r>
            <a:endParaRPr lang="de-DE" sz="1400" dirty="0">
              <a:latin typeface="Times New Roman" panose="02020603050405020304" pitchFamily="18" charset="0"/>
              <a:cs typeface="Times New Roman" panose="02020603050405020304" pitchFamily="18" charset="0"/>
            </a:endParaRPr>
          </a:p>
          <a:p>
            <a:pPr lvl="0"/>
            <a:r>
              <a:rPr lang="en-US" sz="1400" i="1" dirty="0">
                <a:latin typeface="Times New Roman" panose="02020603050405020304" pitchFamily="18" charset="0"/>
                <a:cs typeface="Times New Roman" panose="02020603050405020304" pitchFamily="18" charset="0"/>
              </a:rPr>
              <a:t>And Then There Were None</a:t>
            </a:r>
            <a:r>
              <a:rPr lang="en-US" sz="1400" dirty="0">
                <a:latin typeface="Times New Roman" panose="02020603050405020304" pitchFamily="18" charset="0"/>
                <a:cs typeface="Times New Roman" panose="02020603050405020304" pitchFamily="18" charset="0"/>
              </a:rPr>
              <a:t> (1939)</a:t>
            </a:r>
            <a:endParaRPr lang="de-DE" sz="1400" dirty="0">
              <a:latin typeface="Times New Roman" panose="02020603050405020304" pitchFamily="18" charset="0"/>
              <a:cs typeface="Times New Roman" panose="02020603050405020304" pitchFamily="18" charset="0"/>
            </a:endParaRPr>
          </a:p>
          <a:p>
            <a:pPr lvl="0"/>
            <a:r>
              <a:rPr lang="de-DE" sz="1400" i="1" dirty="0">
                <a:latin typeface="Times New Roman" panose="02020603050405020304" pitchFamily="18" charset="0"/>
                <a:cs typeface="Times New Roman" panose="02020603050405020304" pitchFamily="18" charset="0"/>
              </a:rPr>
              <a:t>Lord </a:t>
            </a:r>
            <a:r>
              <a:rPr lang="de-DE" sz="1400" i="1" dirty="0" err="1">
                <a:latin typeface="Times New Roman" panose="02020603050405020304" pitchFamily="18" charset="0"/>
                <a:cs typeface="Times New Roman" panose="02020603050405020304" pitchFamily="18" charset="0"/>
              </a:rPr>
              <a:t>Edgware</a:t>
            </a:r>
            <a:r>
              <a:rPr lang="de-DE" sz="1400" i="1" dirty="0">
                <a:latin typeface="Times New Roman" panose="02020603050405020304" pitchFamily="18" charset="0"/>
                <a:cs typeface="Times New Roman" panose="02020603050405020304" pitchFamily="18" charset="0"/>
              </a:rPr>
              <a:t> Dies</a:t>
            </a:r>
            <a:r>
              <a:rPr lang="de-DE" sz="1400" dirty="0">
                <a:latin typeface="Times New Roman" panose="02020603050405020304" pitchFamily="18" charset="0"/>
                <a:cs typeface="Times New Roman" panose="02020603050405020304" pitchFamily="18" charset="0"/>
              </a:rPr>
              <a:t> (1933)</a:t>
            </a:r>
          </a:p>
          <a:p>
            <a:pPr lvl="0"/>
            <a:r>
              <a:rPr lang="de-DE" sz="1400" i="1" dirty="0">
                <a:latin typeface="Times New Roman" panose="02020603050405020304" pitchFamily="18" charset="0"/>
                <a:cs typeface="Times New Roman" panose="02020603050405020304" pitchFamily="18" charset="0"/>
              </a:rPr>
              <a:t>A Murder </a:t>
            </a:r>
            <a:r>
              <a:rPr lang="de-DE" sz="1400" i="1" dirty="0" err="1">
                <a:latin typeface="Times New Roman" panose="02020603050405020304" pitchFamily="18" charset="0"/>
                <a:cs typeface="Times New Roman" panose="02020603050405020304" pitchFamily="18" charset="0"/>
              </a:rPr>
              <a:t>is</a:t>
            </a:r>
            <a:r>
              <a:rPr lang="de-DE" sz="1400" i="1" dirty="0">
                <a:latin typeface="Times New Roman" panose="02020603050405020304" pitchFamily="18" charset="0"/>
                <a:cs typeface="Times New Roman" panose="02020603050405020304" pitchFamily="18" charset="0"/>
              </a:rPr>
              <a:t> </a:t>
            </a:r>
            <a:r>
              <a:rPr lang="de-DE" sz="1400" i="1" dirty="0" err="1">
                <a:latin typeface="Times New Roman" panose="02020603050405020304" pitchFamily="18" charset="0"/>
                <a:cs typeface="Times New Roman" panose="02020603050405020304" pitchFamily="18" charset="0"/>
              </a:rPr>
              <a:t>Announced</a:t>
            </a:r>
            <a:r>
              <a:rPr lang="de-DE" sz="1400" dirty="0">
                <a:latin typeface="Times New Roman" panose="02020603050405020304" pitchFamily="18" charset="0"/>
                <a:cs typeface="Times New Roman" panose="02020603050405020304" pitchFamily="18" charset="0"/>
              </a:rPr>
              <a:t> (1950)</a:t>
            </a:r>
          </a:p>
          <a:p>
            <a:pPr lvl="0"/>
            <a:r>
              <a:rPr lang="en-US" sz="1400" i="1" dirty="0">
                <a:latin typeface="Times New Roman" panose="02020603050405020304" pitchFamily="18" charset="0"/>
                <a:cs typeface="Times New Roman" panose="02020603050405020304" pitchFamily="18" charset="0"/>
              </a:rPr>
              <a:t>The Mirror Cracked from Side to Side</a:t>
            </a:r>
            <a:r>
              <a:rPr lang="en-US" sz="1400" dirty="0">
                <a:latin typeface="Times New Roman" panose="02020603050405020304" pitchFamily="18" charset="0"/>
                <a:cs typeface="Times New Roman" panose="02020603050405020304" pitchFamily="18" charset="0"/>
              </a:rPr>
              <a:t> (1962)</a:t>
            </a:r>
            <a:endParaRPr lang="de-DE" sz="1400" dirty="0">
              <a:latin typeface="Times New Roman" panose="02020603050405020304" pitchFamily="18" charset="0"/>
              <a:cs typeface="Times New Roman" panose="02020603050405020304" pitchFamily="18" charset="0"/>
            </a:endParaRPr>
          </a:p>
          <a:p>
            <a:pPr lvl="0"/>
            <a:r>
              <a:rPr lang="en-US" sz="1400" i="1" dirty="0">
                <a:latin typeface="Times New Roman" panose="02020603050405020304" pitchFamily="18" charset="0"/>
                <a:cs typeface="Times New Roman" panose="02020603050405020304" pitchFamily="18" charset="0"/>
              </a:rPr>
              <a:t>The Mystery of the Blue Train</a:t>
            </a:r>
            <a:r>
              <a:rPr lang="en-US" sz="1400" dirty="0">
                <a:latin typeface="Times New Roman" panose="02020603050405020304" pitchFamily="18" charset="0"/>
                <a:cs typeface="Times New Roman" panose="02020603050405020304" pitchFamily="18" charset="0"/>
              </a:rPr>
              <a:t> (1928)</a:t>
            </a:r>
            <a:endParaRPr lang="de-DE" sz="1400" dirty="0">
              <a:latin typeface="Times New Roman" panose="02020603050405020304" pitchFamily="18" charset="0"/>
              <a:cs typeface="Times New Roman" panose="02020603050405020304" pitchFamily="18" charset="0"/>
            </a:endParaRPr>
          </a:p>
          <a:p>
            <a:pPr lvl="0"/>
            <a:r>
              <a:rPr lang="de-DE" sz="1400" i="1" dirty="0">
                <a:latin typeface="Times New Roman" panose="02020603050405020304" pitchFamily="18" charset="0"/>
                <a:cs typeface="Times New Roman" panose="02020603050405020304" pitchFamily="18" charset="0"/>
              </a:rPr>
              <a:t>Evil Under </a:t>
            </a:r>
            <a:r>
              <a:rPr lang="de-DE" sz="1400" i="1" dirty="0" err="1">
                <a:latin typeface="Times New Roman" panose="02020603050405020304" pitchFamily="18" charset="0"/>
                <a:cs typeface="Times New Roman" panose="02020603050405020304" pitchFamily="18" charset="0"/>
              </a:rPr>
              <a:t>the</a:t>
            </a:r>
            <a:r>
              <a:rPr lang="de-DE" sz="1400" i="1" dirty="0">
                <a:latin typeface="Times New Roman" panose="02020603050405020304" pitchFamily="18" charset="0"/>
                <a:cs typeface="Times New Roman" panose="02020603050405020304" pitchFamily="18" charset="0"/>
              </a:rPr>
              <a:t> Sun</a:t>
            </a:r>
            <a:r>
              <a:rPr lang="de-DE" sz="1400" dirty="0">
                <a:latin typeface="Times New Roman" panose="02020603050405020304" pitchFamily="18" charset="0"/>
                <a:cs typeface="Times New Roman" panose="02020603050405020304" pitchFamily="18" charset="0"/>
              </a:rPr>
              <a:t> (1941)</a:t>
            </a:r>
          </a:p>
          <a:p>
            <a:pPr marL="0" indent="0">
              <a:buNone/>
            </a:pPr>
            <a:endParaRPr lang="de-DE" dirty="0"/>
          </a:p>
          <a:p>
            <a:pPr marL="0" indent="0">
              <a:buNone/>
            </a:pPr>
            <a:endParaRPr lang="de-DE" dirty="0"/>
          </a:p>
          <a:p>
            <a:pPr marL="0" indent="0">
              <a:buNone/>
            </a:pPr>
            <a:r>
              <a:rPr lang="de-DE" sz="1100" dirty="0" err="1">
                <a:latin typeface="Times New Roman" panose="02020603050405020304" pitchFamily="18" charset="0"/>
                <a:cs typeface="Times New Roman" panose="02020603050405020304" pitchFamily="18" charset="0"/>
              </a:rPr>
              <a:t>Resource</a:t>
            </a:r>
            <a:r>
              <a:rPr lang="de-DE" sz="1100" dirty="0">
                <a:latin typeface="Times New Roman" panose="02020603050405020304" pitchFamily="18" charset="0"/>
                <a:cs typeface="Times New Roman" panose="02020603050405020304" pitchFamily="18" charset="0"/>
              </a:rPr>
              <a:t>: </a:t>
            </a:r>
            <a:r>
              <a:rPr lang="en-US" sz="1100" u="sng" dirty="0">
                <a:solidFill>
                  <a:schemeClr val="accent4">
                    <a:lumMod val="7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https://www.gutenberg.org</a:t>
            </a:r>
            <a:r>
              <a:rPr lang="en-US" sz="1100" u="sng" dirty="0">
                <a:solidFill>
                  <a:schemeClr val="accent4">
                    <a:lumMod val="75000"/>
                  </a:schemeClr>
                </a:solidFill>
                <a:latin typeface="Times New Roman" panose="02020603050405020304" pitchFamily="18" charset="0"/>
                <a:cs typeface="Times New Roman" panose="02020603050405020304" pitchFamily="18" charset="0"/>
              </a:rPr>
              <a:t> </a:t>
            </a:r>
            <a:r>
              <a:rPr lang="de-DE" sz="1100" dirty="0">
                <a:latin typeface="Times New Roman" panose="02020603050405020304" pitchFamily="18" charset="0"/>
                <a:cs typeface="Times New Roman" panose="02020603050405020304" pitchFamily="18" charset="0"/>
              </a:rPr>
              <a:t>&amp; </a:t>
            </a:r>
            <a:r>
              <a:rPr lang="en-US" sz="1100" u="sng" dirty="0">
                <a:solidFill>
                  <a:schemeClr val="accent1">
                    <a:lumMod val="75000"/>
                  </a:schemeClr>
                </a:solidFill>
                <a:latin typeface="Times New Roman" panose="02020603050405020304" pitchFamily="18" charset="0"/>
                <a:cs typeface="Times New Roman" panose="02020603050405020304" pitchFamily="18" charset="0"/>
              </a:rPr>
              <a:t>https://detective.gumer.info</a:t>
            </a:r>
            <a:endParaRPr lang="de-DE" sz="1100"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42388190-A244-D647-E3E3-18BCD6B30C3B}"/>
              </a:ext>
            </a:extLst>
          </p:cNvPr>
          <p:cNvSpPr>
            <a:spLocks noGrp="1"/>
          </p:cNvSpPr>
          <p:nvPr>
            <p:ph type="sldNum" sz="quarter" idx="16"/>
          </p:nvPr>
        </p:nvSpPr>
        <p:spPr/>
        <p:txBody>
          <a:bodyPr/>
          <a:lstStyle/>
          <a:p>
            <a:fld id="{9E82CC3C-1DC0-4FDA-9590-6CC506AB67F8}" type="slidenum">
              <a:rPr lang="en-US" smtClean="0"/>
              <a:pPr/>
              <a:t>5</a:t>
            </a:fld>
            <a:endParaRPr lang="en-US" dirty="0"/>
          </a:p>
        </p:txBody>
      </p:sp>
      <p:sp>
        <p:nvSpPr>
          <p:cNvPr id="5" name="Textfeld 4">
            <a:extLst>
              <a:ext uri="{FF2B5EF4-FFF2-40B4-BE49-F238E27FC236}">
                <a16:creationId xmlns:a16="http://schemas.microsoft.com/office/drawing/2014/main" id="{8A0520D3-46B2-E78B-8C2C-587D2537524B}"/>
              </a:ext>
            </a:extLst>
          </p:cNvPr>
          <p:cNvSpPr txBox="1"/>
          <p:nvPr/>
        </p:nvSpPr>
        <p:spPr>
          <a:xfrm flipH="1">
            <a:off x="4337500" y="2857500"/>
            <a:ext cx="2879867" cy="45719"/>
          </a:xfrm>
          <a:prstGeom prst="rect">
            <a:avLst/>
          </a:prstGeom>
          <a:noFill/>
        </p:spPr>
        <p:txBody>
          <a:bodyPr wrap="square" lIns="0" tIns="0" rIns="0" bIns="0" rtlCol="0">
            <a:noAutofit/>
          </a:bodyPr>
          <a:lstStyle/>
          <a:p>
            <a:pPr marL="179388" indent="-179388">
              <a:buClr>
                <a:schemeClr val="accent1"/>
              </a:buClr>
              <a:buFont typeface="Arial" panose="020B0604020202020204" pitchFamily="34" charset="0"/>
              <a:buChar char="•"/>
            </a:pPr>
            <a:endParaRPr lang="de-DE" sz="1600" dirty="0"/>
          </a:p>
        </p:txBody>
      </p:sp>
      <p:sp>
        <p:nvSpPr>
          <p:cNvPr id="6" name="Geschweifte Klammer rechts 5">
            <a:extLst>
              <a:ext uri="{FF2B5EF4-FFF2-40B4-BE49-F238E27FC236}">
                <a16:creationId xmlns:a16="http://schemas.microsoft.com/office/drawing/2014/main" id="{CD506032-9DF3-C106-F6A7-106434623A09}"/>
              </a:ext>
            </a:extLst>
          </p:cNvPr>
          <p:cNvSpPr/>
          <p:nvPr/>
        </p:nvSpPr>
        <p:spPr>
          <a:xfrm>
            <a:off x="3495368" y="1821426"/>
            <a:ext cx="204189" cy="722671"/>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 name="Textfeld 7">
            <a:extLst>
              <a:ext uri="{FF2B5EF4-FFF2-40B4-BE49-F238E27FC236}">
                <a16:creationId xmlns:a16="http://schemas.microsoft.com/office/drawing/2014/main" id="{A4084770-6D51-AF54-E794-8CBF46D5114A}"/>
              </a:ext>
            </a:extLst>
          </p:cNvPr>
          <p:cNvSpPr txBox="1"/>
          <p:nvPr/>
        </p:nvSpPr>
        <p:spPr>
          <a:xfrm>
            <a:off x="3771557" y="2049593"/>
            <a:ext cx="3496365" cy="564417"/>
          </a:xfrm>
          <a:prstGeom prst="rect">
            <a:avLst/>
          </a:prstGeom>
          <a:noFill/>
        </p:spPr>
        <p:txBody>
          <a:bodyPr wrap="none" lIns="0" tIns="0" rIns="0" bIns="0" rtlCol="0">
            <a:noAutofit/>
          </a:bodyPr>
          <a:lstStyle/>
          <a:p>
            <a:pPr>
              <a:buClr>
                <a:schemeClr val="accent1"/>
              </a:buClr>
            </a:pPr>
            <a:r>
              <a:rPr lang="de-DE" sz="1200" dirty="0" err="1">
                <a:latin typeface="Times New Roman" panose="02020603050405020304" pitchFamily="18" charset="0"/>
                <a:cs typeface="Times New Roman" panose="02020603050405020304" pitchFamily="18" charset="0"/>
              </a:rPr>
              <a:t>featuring</a:t>
            </a:r>
            <a:r>
              <a:rPr lang="de-DE" sz="1200" dirty="0">
                <a:latin typeface="Times New Roman" panose="02020603050405020304" pitchFamily="18" charset="0"/>
                <a:cs typeface="Times New Roman" panose="02020603050405020304" pitchFamily="18" charset="0"/>
              </a:rPr>
              <a:t> male solo </a:t>
            </a:r>
            <a:r>
              <a:rPr lang="de-DE" sz="1200" dirty="0" err="1">
                <a:latin typeface="Times New Roman" panose="02020603050405020304" pitchFamily="18" charset="0"/>
                <a:cs typeface="Times New Roman" panose="02020603050405020304" pitchFamily="18" charset="0"/>
              </a:rPr>
              <a:t>murderers</a:t>
            </a:r>
            <a:r>
              <a:rPr lang="de-DE" sz="1200" dirty="0">
                <a:latin typeface="Times New Roman" panose="02020603050405020304" pitchFamily="18" charset="0"/>
                <a:cs typeface="Times New Roman" panose="02020603050405020304" pitchFamily="18" charset="0"/>
              </a:rPr>
              <a:t>, 31.9% </a:t>
            </a:r>
            <a:r>
              <a:rPr lang="de-DE" sz="1200" dirty="0" err="1">
                <a:latin typeface="Times New Roman" panose="02020603050405020304" pitchFamily="18" charset="0"/>
                <a:cs typeface="Times New Roman" panose="02020603050405020304" pitchFamily="18" charset="0"/>
              </a:rPr>
              <a:t>of</a:t>
            </a:r>
            <a:r>
              <a:rPr lang="de-DE" sz="1200" dirty="0">
                <a:latin typeface="Times New Roman" panose="02020603050405020304" pitchFamily="18" charset="0"/>
                <a:cs typeface="Times New Roman" panose="02020603050405020304" pitchFamily="18" charset="0"/>
              </a:rPr>
              <a:t> total </a:t>
            </a:r>
            <a:r>
              <a:rPr lang="de-DE" sz="1200" dirty="0" err="1">
                <a:latin typeface="Times New Roman" panose="02020603050405020304" pitchFamily="18" charset="0"/>
                <a:cs typeface="Times New Roman" panose="02020603050405020304" pitchFamily="18" charset="0"/>
              </a:rPr>
              <a:t>tokens</a:t>
            </a:r>
            <a:endParaRPr lang="de-DE" sz="1200" dirty="0">
              <a:latin typeface="Times New Roman" panose="02020603050405020304" pitchFamily="18" charset="0"/>
              <a:cs typeface="Times New Roman" panose="02020603050405020304" pitchFamily="18" charset="0"/>
            </a:endParaRPr>
          </a:p>
        </p:txBody>
      </p:sp>
      <p:sp>
        <p:nvSpPr>
          <p:cNvPr id="9" name="Geschweifte Klammer rechts 8">
            <a:extLst>
              <a:ext uri="{FF2B5EF4-FFF2-40B4-BE49-F238E27FC236}">
                <a16:creationId xmlns:a16="http://schemas.microsoft.com/office/drawing/2014/main" id="{39B4FEFD-F357-AD0A-A600-C23A2D1CF047}"/>
              </a:ext>
            </a:extLst>
          </p:cNvPr>
          <p:cNvSpPr/>
          <p:nvPr/>
        </p:nvSpPr>
        <p:spPr>
          <a:xfrm>
            <a:off x="3947327" y="2763310"/>
            <a:ext cx="204189" cy="722671"/>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 name="Textfeld 9">
            <a:extLst>
              <a:ext uri="{FF2B5EF4-FFF2-40B4-BE49-F238E27FC236}">
                <a16:creationId xmlns:a16="http://schemas.microsoft.com/office/drawing/2014/main" id="{FB1AB3F1-9D43-3ABB-3FC6-929A0C4950D5}"/>
              </a:ext>
            </a:extLst>
          </p:cNvPr>
          <p:cNvSpPr txBox="1"/>
          <p:nvPr/>
        </p:nvSpPr>
        <p:spPr>
          <a:xfrm>
            <a:off x="4226075" y="2921958"/>
            <a:ext cx="2879867" cy="914400"/>
          </a:xfrm>
          <a:prstGeom prst="rect">
            <a:avLst/>
          </a:prstGeom>
          <a:noFill/>
        </p:spPr>
        <p:txBody>
          <a:bodyPr wrap="none" lIns="0" tIns="0" rIns="0" bIns="0" rtlCol="0">
            <a:noAutofit/>
          </a:bodyPr>
          <a:lstStyle/>
          <a:p>
            <a:pPr>
              <a:buClr>
                <a:schemeClr val="accent1"/>
              </a:buClr>
            </a:pPr>
            <a:r>
              <a:rPr lang="de-DE" sz="1200" dirty="0" err="1">
                <a:latin typeface="Times New Roman" panose="02020603050405020304" pitchFamily="18" charset="0"/>
                <a:cs typeface="Times New Roman" panose="02020603050405020304" pitchFamily="18" charset="0"/>
              </a:rPr>
              <a:t>featuring</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female</a:t>
            </a:r>
            <a:r>
              <a:rPr lang="de-DE" sz="1200" dirty="0">
                <a:latin typeface="Times New Roman" panose="02020603050405020304" pitchFamily="18" charset="0"/>
                <a:cs typeface="Times New Roman" panose="02020603050405020304" pitchFamily="18" charset="0"/>
              </a:rPr>
              <a:t> solo murderers,37.6% </a:t>
            </a:r>
            <a:r>
              <a:rPr lang="de-DE" sz="1200" dirty="0" err="1">
                <a:latin typeface="Times New Roman" panose="02020603050405020304" pitchFamily="18" charset="0"/>
                <a:cs typeface="Times New Roman" panose="02020603050405020304" pitchFamily="18" charset="0"/>
              </a:rPr>
              <a:t>of</a:t>
            </a:r>
            <a:r>
              <a:rPr lang="de-DE" sz="1200" dirty="0">
                <a:latin typeface="Times New Roman" panose="02020603050405020304" pitchFamily="18" charset="0"/>
                <a:cs typeface="Times New Roman" panose="02020603050405020304" pitchFamily="18" charset="0"/>
              </a:rPr>
              <a:t> total </a:t>
            </a:r>
          </a:p>
          <a:p>
            <a:pPr>
              <a:buClr>
                <a:schemeClr val="accent1"/>
              </a:buClr>
            </a:pPr>
            <a:r>
              <a:rPr lang="de-DE" sz="1200" dirty="0" err="1">
                <a:latin typeface="Times New Roman" panose="02020603050405020304" pitchFamily="18" charset="0"/>
                <a:cs typeface="Times New Roman" panose="02020603050405020304" pitchFamily="18" charset="0"/>
              </a:rPr>
              <a:t>tokens</a:t>
            </a:r>
            <a:endParaRPr lang="de-DE" sz="1200" dirty="0">
              <a:latin typeface="Times New Roman" panose="02020603050405020304" pitchFamily="18" charset="0"/>
              <a:cs typeface="Times New Roman" panose="02020603050405020304" pitchFamily="18" charset="0"/>
            </a:endParaRPr>
          </a:p>
        </p:txBody>
      </p:sp>
      <p:sp>
        <p:nvSpPr>
          <p:cNvPr id="11" name="Geschweifte Klammer rechts 10">
            <a:extLst>
              <a:ext uri="{FF2B5EF4-FFF2-40B4-BE49-F238E27FC236}">
                <a16:creationId xmlns:a16="http://schemas.microsoft.com/office/drawing/2014/main" id="{625A5A6A-735E-32AC-7B4B-F5F9F184ABDE}"/>
              </a:ext>
            </a:extLst>
          </p:cNvPr>
          <p:cNvSpPr/>
          <p:nvPr/>
        </p:nvSpPr>
        <p:spPr>
          <a:xfrm>
            <a:off x="3507828" y="3793381"/>
            <a:ext cx="204189" cy="468903"/>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2" name="Textfeld 11">
            <a:extLst>
              <a:ext uri="{FF2B5EF4-FFF2-40B4-BE49-F238E27FC236}">
                <a16:creationId xmlns:a16="http://schemas.microsoft.com/office/drawing/2014/main" id="{B7FFD227-10FD-2918-4B24-D7E9170E3A65}"/>
              </a:ext>
            </a:extLst>
          </p:cNvPr>
          <p:cNvSpPr txBox="1"/>
          <p:nvPr/>
        </p:nvSpPr>
        <p:spPr>
          <a:xfrm>
            <a:off x="3837268" y="3917489"/>
            <a:ext cx="2879867" cy="914400"/>
          </a:xfrm>
          <a:prstGeom prst="rect">
            <a:avLst/>
          </a:prstGeom>
          <a:noFill/>
        </p:spPr>
        <p:txBody>
          <a:bodyPr wrap="none" lIns="0" tIns="0" rIns="0" bIns="0" rtlCol="0">
            <a:noAutofit/>
          </a:bodyPr>
          <a:lstStyle/>
          <a:p>
            <a:pPr>
              <a:buClr>
                <a:schemeClr val="accent1"/>
              </a:buClr>
            </a:pPr>
            <a:r>
              <a:rPr lang="de-DE" sz="1200" dirty="0" err="1">
                <a:latin typeface="Times New Roman" panose="02020603050405020304" pitchFamily="18" charset="0"/>
                <a:cs typeface="Times New Roman" panose="02020603050405020304" pitchFamily="18" charset="0"/>
              </a:rPr>
              <a:t>featuring</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co-murderers</a:t>
            </a:r>
            <a:r>
              <a:rPr lang="de-DE" sz="1200" dirty="0">
                <a:latin typeface="Times New Roman" panose="02020603050405020304" pitchFamily="18" charset="0"/>
                <a:cs typeface="Times New Roman" panose="02020603050405020304" pitchFamily="18" charset="0"/>
              </a:rPr>
              <a:t>, 30.9% </a:t>
            </a:r>
            <a:r>
              <a:rPr lang="de-DE" sz="1200" dirty="0" err="1">
                <a:latin typeface="Times New Roman" panose="02020603050405020304" pitchFamily="18" charset="0"/>
                <a:cs typeface="Times New Roman" panose="02020603050405020304" pitchFamily="18" charset="0"/>
              </a:rPr>
              <a:t>of</a:t>
            </a:r>
            <a:r>
              <a:rPr lang="de-DE" sz="1200" dirty="0">
                <a:latin typeface="Times New Roman" panose="02020603050405020304" pitchFamily="18" charset="0"/>
                <a:cs typeface="Times New Roman" panose="02020603050405020304" pitchFamily="18" charset="0"/>
              </a:rPr>
              <a:t> total </a:t>
            </a:r>
            <a:r>
              <a:rPr lang="de-DE" sz="1200" dirty="0" err="1">
                <a:latin typeface="Times New Roman" panose="02020603050405020304" pitchFamily="18" charset="0"/>
                <a:cs typeface="Times New Roman" panose="02020603050405020304" pitchFamily="18" charset="0"/>
              </a:rPr>
              <a:t>tokens</a:t>
            </a:r>
            <a:endParaRPr lang="de-D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8562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ECEA5E87-0914-493D-6363-A3C4ECD2B3B6}"/>
              </a:ext>
            </a:extLst>
          </p:cNvPr>
          <p:cNvSpPr>
            <a:spLocks noGrp="1"/>
          </p:cNvSpPr>
          <p:nvPr>
            <p:ph idx="1"/>
          </p:nvPr>
        </p:nvSpPr>
        <p:spPr>
          <a:xfrm>
            <a:off x="390260" y="722671"/>
            <a:ext cx="6839479" cy="4175125"/>
          </a:xfrm>
        </p:spPr>
        <p:txBody>
          <a:bodyPr/>
          <a:lstStyle/>
          <a:p>
            <a:pPr marL="0" indent="0">
              <a:buNone/>
            </a:pPr>
            <a:r>
              <a:rPr lang="de-DE" dirty="0">
                <a:latin typeface="Times New Roman" panose="02020603050405020304" pitchFamily="18" charset="0"/>
                <a:cs typeface="Times New Roman" panose="02020603050405020304" pitchFamily="18" charset="0"/>
              </a:rPr>
              <a:t>Methods and Tools: </a:t>
            </a:r>
          </a:p>
          <a:p>
            <a:pPr marL="0" indent="0">
              <a:buNone/>
            </a:pPr>
            <a:endParaRPr lang="de-DE" dirty="0">
              <a:latin typeface="Times New Roman" panose="02020603050405020304" pitchFamily="18" charset="0"/>
              <a:cs typeface="Times New Roman" panose="02020603050405020304" pitchFamily="18" charset="0"/>
            </a:endParaRPr>
          </a:p>
          <a:p>
            <a:pPr lvl="0"/>
            <a:r>
              <a:rPr lang="de-DE" dirty="0" err="1">
                <a:latin typeface="Times New Roman" panose="02020603050405020304" pitchFamily="18" charset="0"/>
                <a:cs typeface="Times New Roman" panose="02020603050405020304" pitchFamily="18" charset="0"/>
              </a:rPr>
              <a:t>Social</a:t>
            </a:r>
            <a:r>
              <a:rPr lang="de-DE" dirty="0">
                <a:latin typeface="Times New Roman" panose="02020603050405020304" pitchFamily="18" charset="0"/>
                <a:cs typeface="Times New Roman" panose="02020603050405020304" pitchFamily="18" charset="0"/>
              </a:rPr>
              <a:t> Network Analysis (</a:t>
            </a:r>
            <a:r>
              <a:rPr lang="de-DE" dirty="0" err="1">
                <a:latin typeface="Times New Roman" panose="02020603050405020304" pitchFamily="18" charset="0"/>
                <a:cs typeface="Times New Roman" panose="02020603050405020304" pitchFamily="18" charset="0"/>
              </a:rPr>
              <a:t>Gephi</a:t>
            </a:r>
            <a:r>
              <a:rPr lang="de-DE" dirty="0">
                <a:latin typeface="Times New Roman" panose="02020603050405020304" pitchFamily="18" charset="0"/>
                <a:cs typeface="Times New Roman" panose="02020603050405020304" pitchFamily="18" charset="0"/>
              </a:rPr>
              <a:t>)</a:t>
            </a:r>
          </a:p>
          <a:p>
            <a:pPr lvl="0"/>
            <a:r>
              <a:rPr lang="en-US" dirty="0">
                <a:latin typeface="Times New Roman" panose="02020603050405020304" pitchFamily="18" charset="0"/>
                <a:cs typeface="Times New Roman" panose="02020603050405020304" pitchFamily="18" charset="0"/>
              </a:rPr>
              <a:t>Speech/Appearance Rate (R, ggplot2)</a:t>
            </a:r>
          </a:p>
          <a:p>
            <a:pPr lvl="0"/>
            <a:r>
              <a:rPr lang="de-DE" dirty="0">
                <a:latin typeface="Times New Roman" panose="02020603050405020304" pitchFamily="18" charset="0"/>
                <a:cs typeface="Times New Roman" panose="02020603050405020304" pitchFamily="18" charset="0"/>
              </a:rPr>
              <a:t>Word2Vec(t-SNE </a:t>
            </a:r>
            <a:r>
              <a:rPr lang="de-DE" dirty="0" err="1">
                <a:latin typeface="Times New Roman" panose="02020603050405020304" pitchFamily="18" charset="0"/>
                <a:cs typeface="Times New Roman" panose="02020603050405020304" pitchFamily="18" charset="0"/>
              </a:rPr>
              <a:t>Visualization</a:t>
            </a:r>
            <a:r>
              <a:rPr lang="de-DE" dirty="0">
                <a:latin typeface="Times New Roman" panose="02020603050405020304" pitchFamily="18" charset="0"/>
                <a:cs typeface="Times New Roman" panose="02020603050405020304" pitchFamily="18" charset="0"/>
              </a:rPr>
              <a:t>)</a:t>
            </a:r>
          </a:p>
          <a:p>
            <a:pPr lvl="0"/>
            <a:r>
              <a:rPr lang="de-DE" dirty="0">
                <a:latin typeface="Times New Roman" panose="02020603050405020304" pitchFamily="18" charset="0"/>
                <a:cs typeface="Times New Roman" panose="02020603050405020304" pitchFamily="18" charset="0"/>
              </a:rPr>
              <a:t>Sentiment Analysis (R, </a:t>
            </a:r>
            <a:r>
              <a:rPr lang="de-DE" dirty="0" err="1">
                <a:latin typeface="Times New Roman" panose="02020603050405020304" pitchFamily="18" charset="0"/>
                <a:cs typeface="Times New Roman" panose="02020603050405020304" pitchFamily="18" charset="0"/>
              </a:rPr>
              <a:t>Lexicoder</a:t>
            </a:r>
            <a:r>
              <a:rPr lang="de-DE" dirty="0">
                <a:latin typeface="Times New Roman" panose="02020603050405020304" pitchFamily="18" charset="0"/>
                <a:cs typeface="Times New Roman" panose="02020603050405020304" pitchFamily="18" charset="0"/>
              </a:rPr>
              <a:t> Sentiment Dictionary)</a:t>
            </a:r>
          </a:p>
          <a:p>
            <a:pPr lvl="0"/>
            <a:r>
              <a:rPr lang="de-DE" dirty="0" err="1">
                <a:latin typeface="Times New Roman" panose="02020603050405020304" pitchFamily="18" charset="0"/>
                <a:cs typeface="Times New Roman" panose="02020603050405020304" pitchFamily="18" charset="0"/>
              </a:rPr>
              <a:t>Linguistic</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Representation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Gephi</a:t>
            </a:r>
            <a:r>
              <a:rPr lang="de-DE" dirty="0">
                <a:latin typeface="Times New Roman" panose="02020603050405020304" pitchFamily="18" charset="0"/>
                <a:cs typeface="Times New Roman" panose="02020603050405020304" pitchFamily="18" charset="0"/>
              </a:rPr>
              <a:t>)</a:t>
            </a:r>
          </a:p>
          <a:p>
            <a:endParaRPr lang="de-DE" dirty="0"/>
          </a:p>
        </p:txBody>
      </p:sp>
      <p:sp>
        <p:nvSpPr>
          <p:cNvPr id="7" name="Foliennummernplatzhalter 6">
            <a:extLst>
              <a:ext uri="{FF2B5EF4-FFF2-40B4-BE49-F238E27FC236}">
                <a16:creationId xmlns:a16="http://schemas.microsoft.com/office/drawing/2014/main" id="{AA8DAFFB-FDD9-918B-3CAC-CEC614854A13}"/>
              </a:ext>
            </a:extLst>
          </p:cNvPr>
          <p:cNvSpPr>
            <a:spLocks noGrp="1"/>
          </p:cNvSpPr>
          <p:nvPr>
            <p:ph type="sldNum" sz="quarter" idx="16"/>
          </p:nvPr>
        </p:nvSpPr>
        <p:spPr/>
        <p:txBody>
          <a:bodyPr/>
          <a:lstStyle/>
          <a:p>
            <a:fld id="{9E82CC3C-1DC0-4FDA-9590-6CC506AB67F8}" type="slidenum">
              <a:rPr lang="en-US" smtClean="0"/>
              <a:pPr/>
              <a:t>6</a:t>
            </a:fld>
            <a:endParaRPr lang="en-US" dirty="0"/>
          </a:p>
        </p:txBody>
      </p:sp>
    </p:spTree>
    <p:extLst>
      <p:ext uri="{BB962C8B-B14F-4D97-AF65-F5344CB8AC3E}">
        <p14:creationId xmlns:p14="http://schemas.microsoft.com/office/powerpoint/2010/main" val="897662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96080D-95C5-ECA1-738F-2A64B5727262}"/>
              </a:ext>
            </a:extLst>
          </p:cNvPr>
          <p:cNvSpPr>
            <a:spLocks noGrp="1"/>
          </p:cNvSpPr>
          <p:nvPr>
            <p:ph type="title"/>
          </p:nvPr>
        </p:nvSpPr>
        <p:spPr/>
        <p:txBody>
          <a:bodyPr/>
          <a:lstStyle/>
          <a:p>
            <a:r>
              <a:rPr lang="de-DE" sz="2000" dirty="0">
                <a:latin typeface="Times New Roman" panose="02020603050405020304" pitchFamily="18" charset="0"/>
                <a:cs typeface="Times New Roman" panose="02020603050405020304" pitchFamily="18" charset="0"/>
              </a:rPr>
              <a:t>3. Quantitative </a:t>
            </a:r>
            <a:r>
              <a:rPr lang="de-DE" sz="2000" dirty="0" err="1">
                <a:latin typeface="Times New Roman" panose="02020603050405020304" pitchFamily="18" charset="0"/>
                <a:cs typeface="Times New Roman" panose="02020603050405020304" pitchFamily="18" charset="0"/>
              </a:rPr>
              <a:t>Analyses</a:t>
            </a:r>
            <a:endParaRPr lang="de-DE" sz="2000" dirty="0">
              <a:latin typeface="Times New Roman" panose="02020603050405020304" pitchFamily="18" charset="0"/>
              <a:cs typeface="Times New Roman" panose="02020603050405020304" pitchFamily="18" charset="0"/>
            </a:endParaRPr>
          </a:p>
        </p:txBody>
      </p:sp>
      <p:sp>
        <p:nvSpPr>
          <p:cNvPr id="3" name="Textplatzhalter 2">
            <a:extLst>
              <a:ext uri="{FF2B5EF4-FFF2-40B4-BE49-F238E27FC236}">
                <a16:creationId xmlns:a16="http://schemas.microsoft.com/office/drawing/2014/main" id="{C1013523-4F1B-C005-203B-A90DF0207D70}"/>
              </a:ext>
            </a:extLst>
          </p:cNvPr>
          <p:cNvSpPr>
            <a:spLocks noGrp="1"/>
          </p:cNvSpPr>
          <p:nvPr>
            <p:ph type="body" sz="quarter" idx="13"/>
          </p:nvPr>
        </p:nvSpPr>
        <p:spPr>
          <a:xfrm>
            <a:off x="390263" y="864656"/>
            <a:ext cx="6840000" cy="276225"/>
          </a:xfrm>
        </p:spPr>
        <p:txBody>
          <a:bodyPr/>
          <a:lstStyle/>
          <a:p>
            <a:r>
              <a:rPr lang="de-DE" sz="1600" b="1" dirty="0">
                <a:latin typeface="Times New Roman" panose="02020603050405020304" pitchFamily="18" charset="0"/>
                <a:cs typeface="Times New Roman" panose="02020603050405020304" pitchFamily="18" charset="0"/>
              </a:rPr>
              <a:t>3.1 </a:t>
            </a:r>
            <a:r>
              <a:rPr lang="de-DE" sz="1600" b="1" dirty="0" err="1">
                <a:latin typeface="Times New Roman" panose="02020603050405020304" pitchFamily="18" charset="0"/>
                <a:cs typeface="Times New Roman" panose="02020603050405020304" pitchFamily="18" charset="0"/>
              </a:rPr>
              <a:t>Social</a:t>
            </a:r>
            <a:r>
              <a:rPr lang="de-DE" sz="1600" b="1" dirty="0">
                <a:latin typeface="Times New Roman" panose="02020603050405020304" pitchFamily="18" charset="0"/>
                <a:cs typeface="Times New Roman" panose="02020603050405020304" pitchFamily="18" charset="0"/>
              </a:rPr>
              <a:t> Network Analysis (SNA)</a:t>
            </a:r>
          </a:p>
        </p:txBody>
      </p:sp>
      <p:sp>
        <p:nvSpPr>
          <p:cNvPr id="4" name="Inhaltsplatzhalter 3">
            <a:extLst>
              <a:ext uri="{FF2B5EF4-FFF2-40B4-BE49-F238E27FC236}">
                <a16:creationId xmlns:a16="http://schemas.microsoft.com/office/drawing/2014/main" id="{EB3C2F8E-875E-D16A-1539-19EEDE7DB858}"/>
              </a:ext>
            </a:extLst>
          </p:cNvPr>
          <p:cNvSpPr>
            <a:spLocks noGrp="1"/>
          </p:cNvSpPr>
          <p:nvPr>
            <p:ph idx="1"/>
          </p:nvPr>
        </p:nvSpPr>
        <p:spPr>
          <a:xfrm>
            <a:off x="390263" y="1381125"/>
            <a:ext cx="7035773" cy="3708400"/>
          </a:xfrm>
        </p:spPr>
        <p:txBody>
          <a:bodyPr/>
          <a:lstStyle/>
          <a:p>
            <a:pPr marL="0" indent="0">
              <a:buNone/>
            </a:pPr>
            <a:r>
              <a:rPr lang="de-DE" dirty="0" err="1">
                <a:latin typeface="Times New Roman" panose="02020603050405020304" pitchFamily="18" charset="0"/>
                <a:cs typeface="Times New Roman" panose="02020603050405020304" pitchFamily="18" charset="0"/>
              </a:rPr>
              <a:t>Process</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Co-</a:t>
            </a:r>
            <a:r>
              <a:rPr lang="de-DE" dirty="0" err="1">
                <a:latin typeface="Times New Roman" panose="02020603050405020304" pitchFamily="18" charset="0"/>
                <a:cs typeface="Times New Roman" panose="02020603050405020304" pitchFamily="18" charset="0"/>
              </a:rPr>
              <a:t>occurrence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relationships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manually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recorded</a:t>
            </a:r>
            <a:r>
              <a:rPr lang="de-DE" dirty="0">
                <a:latin typeface="Times New Roman" panose="02020603050405020304" pitchFamily="18" charset="0"/>
                <a:cs typeface="Times New Roman" panose="02020603050405020304" pitchFamily="18" charset="0"/>
              </a:rPr>
              <a:t>.</a:t>
            </a:r>
          </a:p>
          <a:p>
            <a:r>
              <a:rPr lang="de-DE" dirty="0" err="1">
                <a:latin typeface="Times New Roman" panose="02020603050405020304" pitchFamily="18" charset="0"/>
                <a:cs typeface="Times New Roman" panose="02020603050405020304" pitchFamily="18" charset="0"/>
              </a:rPr>
              <a:t>Addtional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attributes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murderers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manually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annotated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CATMA: </a:t>
            </a:r>
            <a:r>
              <a:rPr lang="de-DE" dirty="0" err="1">
                <a:latin typeface="Times New Roman" panose="02020603050405020304" pitchFamily="18" charset="0"/>
                <a:cs typeface="Times New Roman" panose="02020603050405020304" pitchFamily="18" charset="0"/>
              </a:rPr>
              <a:t>quoted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speeches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tagged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name</a:t>
            </a:r>
            <a:r>
              <a:rPr lang="de-DE" dirty="0">
                <a:latin typeface="Times New Roman" panose="02020603050405020304" pitchFamily="18" charset="0"/>
                <a:cs typeface="Times New Roman" panose="02020603050405020304" pitchFamily="18" charset="0"/>
              </a:rPr>
              <a:t>) &amp; </a:t>
            </a:r>
            <a:r>
              <a:rPr lang="de-DE" dirty="0" err="1">
                <a:latin typeface="Times New Roman" panose="02020603050405020304" pitchFamily="18" charset="0"/>
                <a:cs typeface="Times New Roman" panose="02020603050405020304" pitchFamily="18" charset="0"/>
              </a:rPr>
              <a:t>mention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tagged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mention</a:t>
            </a:r>
            <a:r>
              <a:rPr lang="de-DE" dirty="0">
                <a:latin typeface="Times New Roman" panose="02020603050405020304" pitchFamily="18" charset="0"/>
                <a:cs typeface="Times New Roman" panose="02020603050405020304" pitchFamily="18" charset="0"/>
              </a:rPr>
              <a:t>_(</a:t>
            </a:r>
            <a:r>
              <a:rPr lang="de-DE" dirty="0" err="1">
                <a:latin typeface="Times New Roman" panose="02020603050405020304" pitchFamily="18" charset="0"/>
                <a:cs typeface="Times New Roman" panose="02020603050405020304" pitchFamily="18" charset="0"/>
              </a:rPr>
              <a:t>name</a:t>
            </a:r>
            <a:r>
              <a:rPr lang="de-DE" dirty="0">
                <a:latin typeface="Times New Roman" panose="02020603050405020304" pitchFamily="18" charset="0"/>
                <a:cs typeface="Times New Roman" panose="02020603050405020304" pitchFamily="18" charset="0"/>
              </a:rPr>
              <a:t>)).</a:t>
            </a:r>
          </a:p>
          <a:p>
            <a:r>
              <a:rPr lang="de-DE" dirty="0" err="1">
                <a:latin typeface="Times New Roman" panose="02020603050405020304" pitchFamily="18" charset="0"/>
                <a:cs typeface="Times New Roman" panose="02020603050405020304" pitchFamily="18" charset="0"/>
              </a:rPr>
              <a:t>Ezlinavis</a:t>
            </a:r>
            <a:r>
              <a:rPr lang="de-DE" dirty="0">
                <a:latin typeface="Times New Roman" panose="02020603050405020304" pitchFamily="18" charset="0"/>
                <a:cs typeface="Times New Roman" panose="02020603050405020304" pitchFamily="18" charset="0"/>
              </a:rPr>
              <a:t>: initial </a:t>
            </a:r>
            <a:r>
              <a:rPr lang="de-DE" dirty="0" err="1">
                <a:latin typeface="Times New Roman" panose="02020603050405020304" pitchFamily="18" charset="0"/>
                <a:cs typeface="Times New Roman" panose="02020603050405020304" pitchFamily="18" charset="0"/>
              </a:rPr>
              <a:t>networks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based</a:t>
            </a:r>
            <a:r>
              <a:rPr lang="de-DE" dirty="0">
                <a:latin typeface="Times New Roman" panose="02020603050405020304" pitchFamily="18" charset="0"/>
                <a:cs typeface="Times New Roman" panose="02020603050405020304" pitchFamily="18" charset="0"/>
              </a:rPr>
              <a:t> on </a:t>
            </a:r>
            <a:r>
              <a:rPr lang="de-DE" dirty="0" err="1">
                <a:latin typeface="Times New Roman" panose="02020603050405020304" pitchFamily="18" charset="0"/>
                <a:cs typeface="Times New Roman" panose="02020603050405020304" pitchFamily="18" charset="0"/>
              </a:rPr>
              <a:t>co-occurrence</a:t>
            </a:r>
            <a:endParaRPr lang="de-DE" dirty="0">
              <a:latin typeface="Times New Roman" panose="02020603050405020304" pitchFamily="18" charset="0"/>
              <a:cs typeface="Times New Roman" panose="02020603050405020304" pitchFamily="18" charset="0"/>
            </a:endParaRPr>
          </a:p>
          <a:p>
            <a:r>
              <a:rPr lang="de-DE" dirty="0" err="1">
                <a:latin typeface="Times New Roman" panose="02020603050405020304" pitchFamily="18" charset="0"/>
                <a:cs typeface="Times New Roman" panose="02020603050405020304" pitchFamily="18" charset="0"/>
              </a:rPr>
              <a:t>Gephi</a:t>
            </a:r>
            <a:r>
              <a:rPr lang="de-DE" dirty="0">
                <a:latin typeface="Times New Roman" panose="02020603050405020304" pitchFamily="18" charset="0"/>
                <a:cs typeface="Times New Roman" panose="02020603050405020304" pitchFamily="18" charset="0"/>
              </a:rPr>
              <a:t>: final </a:t>
            </a:r>
            <a:r>
              <a:rPr lang="de-DE" dirty="0" err="1">
                <a:latin typeface="Times New Roman" panose="02020603050405020304" pitchFamily="18" charset="0"/>
                <a:cs typeface="Times New Roman" panose="02020603050405020304" pitchFamily="18" charset="0"/>
              </a:rPr>
              <a:t>networks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attributes</a:t>
            </a:r>
            <a:r>
              <a:rPr lang="de-DE" dirty="0">
                <a:latin typeface="Times New Roman" panose="02020603050405020304" pitchFamily="18" charset="0"/>
                <a:cs typeface="Times New Roman" panose="02020603050405020304" pitchFamily="18" charset="0"/>
              </a:rPr>
              <a:t> </a:t>
            </a:r>
          </a:p>
          <a:p>
            <a:pPr marL="0" indent="0">
              <a:buNone/>
            </a:pPr>
            <a:r>
              <a:rPr lang="de-DE" dirty="0"/>
              <a:t> </a:t>
            </a:r>
          </a:p>
          <a:p>
            <a:pPr marL="0" indent="0">
              <a:buNone/>
            </a:pPr>
            <a:endParaRPr lang="de-DE" dirty="0"/>
          </a:p>
          <a:p>
            <a:pPr marL="0" indent="0">
              <a:buNone/>
            </a:pPr>
            <a:endParaRPr lang="de-DE" dirty="0"/>
          </a:p>
        </p:txBody>
      </p:sp>
      <p:sp>
        <p:nvSpPr>
          <p:cNvPr id="7" name="Foliennummernplatzhalter 6">
            <a:extLst>
              <a:ext uri="{FF2B5EF4-FFF2-40B4-BE49-F238E27FC236}">
                <a16:creationId xmlns:a16="http://schemas.microsoft.com/office/drawing/2014/main" id="{9D4E2C38-32E3-66B0-02D7-8E8943C19108}"/>
              </a:ext>
            </a:extLst>
          </p:cNvPr>
          <p:cNvSpPr>
            <a:spLocks noGrp="1"/>
          </p:cNvSpPr>
          <p:nvPr>
            <p:ph type="sldNum" sz="quarter" idx="16"/>
          </p:nvPr>
        </p:nvSpPr>
        <p:spPr/>
        <p:txBody>
          <a:bodyPr/>
          <a:lstStyle/>
          <a:p>
            <a:fld id="{9E82CC3C-1DC0-4FDA-9590-6CC506AB67F8}" type="slidenum">
              <a:rPr lang="en-US" smtClean="0"/>
              <a:pPr/>
              <a:t>7</a:t>
            </a:fld>
            <a:endParaRPr lang="en-US" dirty="0"/>
          </a:p>
        </p:txBody>
      </p:sp>
    </p:spTree>
    <p:extLst>
      <p:ext uri="{BB962C8B-B14F-4D97-AF65-F5344CB8AC3E}">
        <p14:creationId xmlns:p14="http://schemas.microsoft.com/office/powerpoint/2010/main" val="2083414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0A79EC-FF42-4630-A1F8-DC62C83E0BA5}"/>
              </a:ext>
            </a:extLst>
          </p:cNvPr>
          <p:cNvSpPr>
            <a:spLocks noGrp="1"/>
          </p:cNvSpPr>
          <p:nvPr>
            <p:ph type="title"/>
          </p:nvPr>
        </p:nvSpPr>
        <p:spPr/>
        <p:txBody>
          <a:bodyPr/>
          <a:lstStyle/>
          <a:p>
            <a:endParaRPr lang="de-DE" dirty="0"/>
          </a:p>
        </p:txBody>
      </p:sp>
      <p:sp>
        <p:nvSpPr>
          <p:cNvPr id="3" name="Textplatzhalter 2">
            <a:extLst>
              <a:ext uri="{FF2B5EF4-FFF2-40B4-BE49-F238E27FC236}">
                <a16:creationId xmlns:a16="http://schemas.microsoft.com/office/drawing/2014/main" id="{4F8319DF-E851-68E0-61E9-0DF0C640354F}"/>
              </a:ext>
            </a:extLst>
          </p:cNvPr>
          <p:cNvSpPr>
            <a:spLocks noGrp="1"/>
          </p:cNvSpPr>
          <p:nvPr>
            <p:ph type="body" sz="quarter" idx="13"/>
          </p:nvPr>
        </p:nvSpPr>
        <p:spPr>
          <a:xfrm>
            <a:off x="390000" y="737670"/>
            <a:ext cx="6840000" cy="276225"/>
          </a:xfrm>
        </p:spPr>
        <p:txBody>
          <a:bodyPr/>
          <a:lstStyle/>
          <a:p>
            <a:r>
              <a:rPr lang="de-DE" sz="1600" dirty="0" err="1">
                <a:latin typeface="Times New Roman" panose="02020603050405020304" pitchFamily="18" charset="0"/>
                <a:cs typeface="Times New Roman" panose="02020603050405020304" pitchFamily="18" charset="0"/>
              </a:rPr>
              <a:t>Metrics</a:t>
            </a:r>
            <a:endParaRPr lang="de-DE" sz="1600"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5D0BF310-C147-0F8C-F231-9CD3E41EF41C}"/>
              </a:ext>
            </a:extLst>
          </p:cNvPr>
          <p:cNvSpPr>
            <a:spLocks noGrp="1"/>
          </p:cNvSpPr>
          <p:nvPr>
            <p:ph idx="1"/>
          </p:nvPr>
        </p:nvSpPr>
        <p:spPr>
          <a:xfrm>
            <a:off x="390000" y="1191947"/>
            <a:ext cx="6839479" cy="3708400"/>
          </a:xfrm>
        </p:spPr>
        <p:txBody>
          <a:bodyPr/>
          <a:lstStyle/>
          <a:p>
            <a:pPr marL="0" indent="0">
              <a:buNone/>
            </a:pPr>
            <a:r>
              <a:rPr lang="de-DE" dirty="0" err="1">
                <a:latin typeface="Times New Roman" panose="02020603050405020304" pitchFamily="18" charset="0"/>
                <a:cs typeface="Times New Roman" panose="02020603050405020304" pitchFamily="18" charset="0"/>
              </a:rPr>
              <a:t>Quoted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Speeches</a:t>
            </a:r>
            <a:endParaRPr lang="de-DE" dirty="0">
              <a:latin typeface="Times New Roman" panose="02020603050405020304" pitchFamily="18" charset="0"/>
              <a:cs typeface="Times New Roman" panose="02020603050405020304" pitchFamily="18" charset="0"/>
            </a:endParaRPr>
          </a:p>
          <a:p>
            <a:pPr marL="0" indent="0">
              <a:buNone/>
            </a:pPr>
            <a:r>
              <a:rPr lang="de-DE" dirty="0">
                <a:latin typeface="Times New Roman" panose="02020603050405020304" pitchFamily="18" charset="0"/>
                <a:cs typeface="Times New Roman" panose="02020603050405020304" pitchFamily="18" charset="0"/>
              </a:rPr>
              <a:t>Mention</a:t>
            </a:r>
          </a:p>
          <a:p>
            <a:pPr marL="0" indent="0">
              <a:buNone/>
            </a:pPr>
            <a:r>
              <a:rPr lang="de-DE" dirty="0">
                <a:latin typeface="Times New Roman" panose="02020603050405020304" pitchFamily="18" charset="0"/>
                <a:cs typeface="Times New Roman" panose="02020603050405020304" pitchFamily="18" charset="0"/>
              </a:rPr>
              <a:t>Degree </a:t>
            </a:r>
            <a:r>
              <a:rPr lang="de-DE" dirty="0" err="1">
                <a:latin typeface="Times New Roman" panose="02020603050405020304" pitchFamily="18" charset="0"/>
                <a:cs typeface="Times New Roman" panose="02020603050405020304" pitchFamily="18" charset="0"/>
              </a:rPr>
              <a:t>Centrality</a:t>
            </a:r>
            <a:endParaRPr lang="de-DE" dirty="0">
              <a:latin typeface="Times New Roman" panose="02020603050405020304" pitchFamily="18" charset="0"/>
              <a:cs typeface="Times New Roman" panose="02020603050405020304" pitchFamily="18" charset="0"/>
            </a:endParaRPr>
          </a:p>
          <a:p>
            <a:pPr marL="0" indent="0">
              <a:buNone/>
            </a:pPr>
            <a:r>
              <a:rPr lang="de-DE" dirty="0" err="1">
                <a:latin typeface="Times New Roman" panose="02020603050405020304" pitchFamily="18" charset="0"/>
                <a:cs typeface="Times New Roman" panose="02020603050405020304" pitchFamily="18" charset="0"/>
              </a:rPr>
              <a:t>Closeness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Centrality</a:t>
            </a:r>
            <a:endParaRPr lang="de-DE" dirty="0">
              <a:latin typeface="Times New Roman" panose="02020603050405020304" pitchFamily="18" charset="0"/>
              <a:cs typeface="Times New Roman" panose="02020603050405020304" pitchFamily="18" charset="0"/>
            </a:endParaRPr>
          </a:p>
          <a:p>
            <a:pPr marL="0" indent="0">
              <a:buNone/>
            </a:pPr>
            <a:r>
              <a:rPr lang="de-DE" dirty="0" err="1">
                <a:latin typeface="Times New Roman" panose="02020603050405020304" pitchFamily="18" charset="0"/>
                <a:cs typeface="Times New Roman" panose="02020603050405020304" pitchFamily="18" charset="0"/>
              </a:rPr>
              <a:t>Betweenness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Centrality</a:t>
            </a:r>
            <a:endParaRPr lang="de-DE" dirty="0">
              <a:latin typeface="Times New Roman" panose="02020603050405020304" pitchFamily="18" charset="0"/>
              <a:cs typeface="Times New Roman" panose="02020603050405020304" pitchFamily="18" charset="0"/>
            </a:endParaRPr>
          </a:p>
          <a:p>
            <a:pPr marL="0" indent="0">
              <a:buNone/>
            </a:pPr>
            <a:r>
              <a:rPr lang="de-DE" dirty="0" err="1">
                <a:latin typeface="Times New Roman" panose="02020603050405020304" pitchFamily="18" charset="0"/>
                <a:cs typeface="Times New Roman" panose="02020603050405020304" pitchFamily="18" charset="0"/>
              </a:rPr>
              <a:t>Eigenvector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Centrality</a:t>
            </a:r>
            <a:endParaRPr lang="de-DE" dirty="0">
              <a:latin typeface="Times New Roman" panose="02020603050405020304" pitchFamily="18" charset="0"/>
              <a:cs typeface="Times New Roman" panose="02020603050405020304" pitchFamily="18" charset="0"/>
            </a:endParaRPr>
          </a:p>
          <a:p>
            <a:pPr marL="0" indent="0">
              <a:buNone/>
            </a:pPr>
            <a:endParaRPr lang="de-DE"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6003A0ED-BC09-3BF8-4DFF-8340ABF026DE}"/>
              </a:ext>
            </a:extLst>
          </p:cNvPr>
          <p:cNvSpPr>
            <a:spLocks noGrp="1"/>
          </p:cNvSpPr>
          <p:nvPr>
            <p:ph type="sldNum" sz="quarter" idx="16"/>
          </p:nvPr>
        </p:nvSpPr>
        <p:spPr/>
        <p:txBody>
          <a:bodyPr/>
          <a:lstStyle/>
          <a:p>
            <a:fld id="{9E82CC3C-1DC0-4FDA-9590-6CC506AB67F8}" type="slidenum">
              <a:rPr lang="en-US" smtClean="0"/>
              <a:pPr/>
              <a:t>8</a:t>
            </a:fld>
            <a:endParaRPr lang="en-US" dirty="0"/>
          </a:p>
        </p:txBody>
      </p:sp>
    </p:spTree>
    <p:extLst>
      <p:ext uri="{BB962C8B-B14F-4D97-AF65-F5344CB8AC3E}">
        <p14:creationId xmlns:p14="http://schemas.microsoft.com/office/powerpoint/2010/main" val="3343542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nhaltsplatzhalter 8">
            <a:extLst>
              <a:ext uri="{FF2B5EF4-FFF2-40B4-BE49-F238E27FC236}">
                <a16:creationId xmlns:a16="http://schemas.microsoft.com/office/drawing/2014/main" id="{26F6C4E3-41E4-53B2-7C40-3CCEB7CA6934}"/>
              </a:ext>
            </a:extLst>
          </p:cNvPr>
          <p:cNvPicPr>
            <a:picLocks noGrp="1" noChangeAspect="1"/>
          </p:cNvPicPr>
          <p:nvPr>
            <p:ph idx="1"/>
          </p:nvPr>
        </p:nvPicPr>
        <p:blipFill>
          <a:blip r:embed="rId3"/>
          <a:stretch>
            <a:fillRect/>
          </a:stretch>
        </p:blipFill>
        <p:spPr>
          <a:xfrm>
            <a:off x="1815708" y="1182659"/>
            <a:ext cx="3600000" cy="3600000"/>
          </a:xfrm>
        </p:spPr>
      </p:pic>
      <p:sp>
        <p:nvSpPr>
          <p:cNvPr id="7" name="Foliennummernplatzhalter 6">
            <a:extLst>
              <a:ext uri="{FF2B5EF4-FFF2-40B4-BE49-F238E27FC236}">
                <a16:creationId xmlns:a16="http://schemas.microsoft.com/office/drawing/2014/main" id="{6353E228-C143-D133-1875-8D938FF18D09}"/>
              </a:ext>
            </a:extLst>
          </p:cNvPr>
          <p:cNvSpPr>
            <a:spLocks noGrp="1"/>
          </p:cNvSpPr>
          <p:nvPr>
            <p:ph type="sldNum" sz="quarter" idx="16"/>
          </p:nvPr>
        </p:nvSpPr>
        <p:spPr/>
        <p:txBody>
          <a:bodyPr/>
          <a:lstStyle/>
          <a:p>
            <a:fld id="{9E82CC3C-1DC0-4FDA-9590-6CC506AB67F8}" type="slidenum">
              <a:rPr lang="en-US" smtClean="0"/>
              <a:pPr/>
              <a:t>9</a:t>
            </a:fld>
            <a:endParaRPr lang="en-US" dirty="0"/>
          </a:p>
        </p:txBody>
      </p:sp>
      <p:sp>
        <p:nvSpPr>
          <p:cNvPr id="14" name="Textfeld 13">
            <a:extLst>
              <a:ext uri="{FF2B5EF4-FFF2-40B4-BE49-F238E27FC236}">
                <a16:creationId xmlns:a16="http://schemas.microsoft.com/office/drawing/2014/main" id="{5A35EB7F-1AE8-BAC2-8CDC-4EBE2229E915}"/>
              </a:ext>
            </a:extLst>
          </p:cNvPr>
          <p:cNvSpPr txBox="1"/>
          <p:nvPr/>
        </p:nvSpPr>
        <p:spPr>
          <a:xfrm>
            <a:off x="1053707" y="4678881"/>
            <a:ext cx="6077196" cy="207555"/>
          </a:xfrm>
          <a:prstGeom prst="rect">
            <a:avLst/>
          </a:prstGeom>
          <a:noFill/>
        </p:spPr>
        <p:txBody>
          <a:bodyPr wrap="none" lIns="0" tIns="0" rIns="0" bIns="0" rtlCol="0">
            <a:noAutofit/>
          </a:bodyPr>
          <a:lstStyle/>
          <a:p>
            <a:pPr>
              <a:buClr>
                <a:schemeClr val="accent1"/>
              </a:buClr>
            </a:pPr>
            <a:r>
              <a:rPr lang="en-US" sz="1000" dirty="0">
                <a:latin typeface="Times New Roman" panose="02020603050405020304" pitchFamily="18" charset="0"/>
                <a:cs typeface="Times New Roman" panose="02020603050405020304" pitchFamily="18" charset="0"/>
              </a:rPr>
              <a:t>Visualization of Character Relationships in  </a:t>
            </a:r>
            <a:r>
              <a:rPr lang="en-US" sz="1000" i="1" dirty="0">
                <a:latin typeface="Times New Roman" panose="02020603050405020304" pitchFamily="18" charset="0"/>
                <a:cs typeface="Times New Roman" panose="02020603050405020304" pitchFamily="18" charset="0"/>
              </a:rPr>
              <a:t>A Murder is Announced</a:t>
            </a:r>
            <a:r>
              <a:rPr lang="en-US" sz="1000" dirty="0">
                <a:latin typeface="Times New Roman" panose="02020603050405020304" pitchFamily="18" charset="0"/>
                <a:cs typeface="Times New Roman" panose="02020603050405020304" pitchFamily="18" charset="0"/>
              </a:rPr>
              <a:t> with Nodes Ranked by Degree, Layout: Yifan Hu</a:t>
            </a:r>
            <a:endParaRPr lang="de-DE" sz="1000" dirty="0">
              <a:latin typeface="Times New Roman" panose="02020603050405020304" pitchFamily="18" charset="0"/>
              <a:cs typeface="Times New Roman" panose="02020603050405020304" pitchFamily="18" charset="0"/>
            </a:endParaRPr>
          </a:p>
          <a:p>
            <a:pPr marL="179388" indent="-179388">
              <a:buClr>
                <a:schemeClr val="accent1"/>
              </a:buClr>
              <a:buFont typeface="Arial" panose="020B0604020202020204" pitchFamily="34" charset="0"/>
              <a:buChar char="•"/>
            </a:pPr>
            <a:endParaRPr lang="de-DE" sz="1000" dirty="0">
              <a:latin typeface="Times New Roman" panose="02020603050405020304" pitchFamily="18" charset="0"/>
              <a:cs typeface="Times New Roman" panose="02020603050405020304" pitchFamily="18" charset="0"/>
            </a:endParaRPr>
          </a:p>
        </p:txBody>
      </p:sp>
      <p:sp>
        <p:nvSpPr>
          <p:cNvPr id="17" name="Textfeld 16">
            <a:extLst>
              <a:ext uri="{FF2B5EF4-FFF2-40B4-BE49-F238E27FC236}">
                <a16:creationId xmlns:a16="http://schemas.microsoft.com/office/drawing/2014/main" id="{BDFE2313-22BE-0492-BEF5-9A1F2267C4DD}"/>
              </a:ext>
            </a:extLst>
          </p:cNvPr>
          <p:cNvSpPr txBox="1"/>
          <p:nvPr/>
        </p:nvSpPr>
        <p:spPr>
          <a:xfrm>
            <a:off x="262269" y="517451"/>
            <a:ext cx="1935125" cy="914400"/>
          </a:xfrm>
          <a:prstGeom prst="rect">
            <a:avLst/>
          </a:prstGeom>
          <a:noFill/>
        </p:spPr>
        <p:txBody>
          <a:bodyPr wrap="none" lIns="0" tIns="0" rIns="0" bIns="0" rtlCol="0">
            <a:noAutofit/>
          </a:bodyPr>
          <a:lstStyle/>
          <a:p>
            <a:pPr>
              <a:buClr>
                <a:schemeClr val="accent1"/>
              </a:buClr>
            </a:pPr>
            <a:r>
              <a:rPr lang="de-DE" sz="1600" dirty="0" err="1">
                <a:latin typeface="Times New Roman" panose="02020603050405020304" pitchFamily="18" charset="0"/>
                <a:cs typeface="Times New Roman" panose="02020603050405020304" pitchFamily="18" charset="0"/>
              </a:rPr>
              <a:t>Visualization</a:t>
            </a:r>
            <a:endParaRPr lang="de-DE"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273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5F4B7D-DEF9-1BC3-102C-77A064B8A37F}"/>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601CC25D-1536-EAB2-2395-218065886D40}"/>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577D08B3-19F6-B858-0A9F-9942895732E5}"/>
              </a:ext>
            </a:extLst>
          </p:cNvPr>
          <p:cNvSpPr>
            <a:spLocks noGrp="1"/>
          </p:cNvSpPr>
          <p:nvPr>
            <p:ph type="sldNum" sz="quarter" idx="16"/>
          </p:nvPr>
        </p:nvSpPr>
        <p:spPr/>
        <p:txBody>
          <a:bodyPr/>
          <a:lstStyle/>
          <a:p>
            <a:fld id="{9E82CC3C-1DC0-4FDA-9590-6CC506AB67F8}" type="slidenum">
              <a:rPr lang="en-US" smtClean="0"/>
              <a:pPr/>
              <a:t>10</a:t>
            </a:fld>
            <a:endParaRPr lang="en-US" dirty="0"/>
          </a:p>
        </p:txBody>
      </p:sp>
      <p:pic>
        <p:nvPicPr>
          <p:cNvPr id="11" name="Inhaltsplatzhalter 10">
            <a:extLst>
              <a:ext uri="{FF2B5EF4-FFF2-40B4-BE49-F238E27FC236}">
                <a16:creationId xmlns:a16="http://schemas.microsoft.com/office/drawing/2014/main" id="{8EE75512-763B-1C79-6C9A-2AB3783F48D4}"/>
              </a:ext>
            </a:extLst>
          </p:cNvPr>
          <p:cNvPicPr>
            <a:picLocks noGrp="1" noChangeAspect="1"/>
          </p:cNvPicPr>
          <p:nvPr>
            <p:ph idx="1"/>
          </p:nvPr>
        </p:nvPicPr>
        <p:blipFill>
          <a:blip r:embed="rId2"/>
          <a:stretch>
            <a:fillRect/>
          </a:stretch>
        </p:blipFill>
        <p:spPr>
          <a:xfrm>
            <a:off x="1799856" y="1003300"/>
            <a:ext cx="3708400" cy="3708400"/>
          </a:xfrm>
          <a:prstGeom prst="rect">
            <a:avLst/>
          </a:prstGeom>
        </p:spPr>
      </p:pic>
      <p:sp>
        <p:nvSpPr>
          <p:cNvPr id="16" name="Textfeld 15">
            <a:extLst>
              <a:ext uri="{FF2B5EF4-FFF2-40B4-BE49-F238E27FC236}">
                <a16:creationId xmlns:a16="http://schemas.microsoft.com/office/drawing/2014/main" id="{8A1C289D-0446-0DF2-2E91-A65C1E5FB337}"/>
              </a:ext>
            </a:extLst>
          </p:cNvPr>
          <p:cNvSpPr txBox="1"/>
          <p:nvPr/>
        </p:nvSpPr>
        <p:spPr>
          <a:xfrm>
            <a:off x="865267" y="4695456"/>
            <a:ext cx="6088426" cy="267697"/>
          </a:xfrm>
          <a:prstGeom prst="rect">
            <a:avLst/>
          </a:prstGeom>
          <a:noFill/>
        </p:spPr>
        <p:txBody>
          <a:bodyPr wrap="none" lIns="0" tIns="0" rIns="0" bIns="0" rtlCol="0">
            <a:noAutofit/>
          </a:bodyPr>
          <a:lstStyle/>
          <a:p>
            <a:pPr>
              <a:buClr>
                <a:schemeClr val="accent1"/>
              </a:buClr>
            </a:pPr>
            <a:r>
              <a:rPr lang="en-US" sz="1000" dirty="0">
                <a:latin typeface="Times New Roman" panose="02020603050405020304" pitchFamily="18" charset="0"/>
                <a:cs typeface="Times New Roman" panose="02020603050405020304" pitchFamily="18" charset="0"/>
              </a:rPr>
              <a:t>Visualization of Character Relationships in </a:t>
            </a:r>
            <a:r>
              <a:rPr lang="en-US" sz="1000" i="1" dirty="0">
                <a:latin typeface="Times New Roman" panose="02020603050405020304" pitchFamily="18" charset="0"/>
                <a:cs typeface="Times New Roman" panose="02020603050405020304" pitchFamily="18" charset="0"/>
              </a:rPr>
              <a:t>A Murder is Announced</a:t>
            </a:r>
            <a:r>
              <a:rPr lang="en-US" sz="1000" dirty="0">
                <a:latin typeface="Times New Roman" panose="02020603050405020304" pitchFamily="18" charset="0"/>
                <a:cs typeface="Times New Roman" panose="02020603050405020304" pitchFamily="18" charset="0"/>
              </a:rPr>
              <a:t> with Nodes Ranked by Mention, Layout: Yifan Hu</a:t>
            </a:r>
            <a:endParaRPr lang="de-DE" sz="1000" dirty="0">
              <a:latin typeface="Times New Roman" panose="02020603050405020304" pitchFamily="18" charset="0"/>
              <a:cs typeface="Times New Roman" panose="02020603050405020304" pitchFamily="18" charset="0"/>
            </a:endParaRPr>
          </a:p>
          <a:p>
            <a:pPr marL="179388" indent="-179388">
              <a:buClr>
                <a:schemeClr val="accent1"/>
              </a:buClr>
              <a:buFont typeface="Arial" panose="020B0604020202020204" pitchFamily="34" charset="0"/>
              <a:buChar char="•"/>
            </a:pPr>
            <a:endParaRPr lang="de-DE"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197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735DFBC8-B696-A71F-3847-5CA5582BD6BC}"/>
              </a:ext>
            </a:extLst>
          </p:cNvPr>
          <p:cNvSpPr>
            <a:spLocks noGrp="1"/>
          </p:cNvSpPr>
          <p:nvPr>
            <p:ph type="sldNum" sz="quarter" idx="16"/>
          </p:nvPr>
        </p:nvSpPr>
        <p:spPr/>
        <p:txBody>
          <a:bodyPr/>
          <a:lstStyle/>
          <a:p>
            <a:fld id="{9E82CC3C-1DC0-4FDA-9590-6CC506AB67F8}" type="slidenum">
              <a:rPr lang="en-US" smtClean="0"/>
              <a:pPr/>
              <a:t>11</a:t>
            </a:fld>
            <a:endParaRPr lang="en-US" dirty="0"/>
          </a:p>
        </p:txBody>
      </p:sp>
      <p:pic>
        <p:nvPicPr>
          <p:cNvPr id="13" name="Inhaltsplatzhalter 12">
            <a:extLst>
              <a:ext uri="{FF2B5EF4-FFF2-40B4-BE49-F238E27FC236}">
                <a16:creationId xmlns:a16="http://schemas.microsoft.com/office/drawing/2014/main" id="{08A694F2-C590-6E81-0272-EF81E94C0BC5}"/>
              </a:ext>
            </a:extLst>
          </p:cNvPr>
          <p:cNvPicPr>
            <a:picLocks noGrp="1" noChangeAspect="1"/>
          </p:cNvPicPr>
          <p:nvPr>
            <p:ph idx="1"/>
          </p:nvPr>
        </p:nvPicPr>
        <p:blipFill>
          <a:blip r:embed="rId2"/>
          <a:stretch>
            <a:fillRect/>
          </a:stretch>
        </p:blipFill>
        <p:spPr>
          <a:xfrm>
            <a:off x="1863651" y="1032777"/>
            <a:ext cx="3708400" cy="3708400"/>
          </a:xfrm>
          <a:prstGeom prst="rect">
            <a:avLst/>
          </a:prstGeom>
        </p:spPr>
      </p:pic>
      <p:sp>
        <p:nvSpPr>
          <p:cNvPr id="15" name="Textfeld 14">
            <a:extLst>
              <a:ext uri="{FF2B5EF4-FFF2-40B4-BE49-F238E27FC236}">
                <a16:creationId xmlns:a16="http://schemas.microsoft.com/office/drawing/2014/main" id="{5E7AF63F-EB27-CA77-A707-32115394FCA1}"/>
              </a:ext>
            </a:extLst>
          </p:cNvPr>
          <p:cNvSpPr txBox="1"/>
          <p:nvPr/>
        </p:nvSpPr>
        <p:spPr>
          <a:xfrm>
            <a:off x="710518" y="4722370"/>
            <a:ext cx="6618521" cy="276225"/>
          </a:xfrm>
          <a:prstGeom prst="rect">
            <a:avLst/>
          </a:prstGeom>
          <a:noFill/>
        </p:spPr>
        <p:txBody>
          <a:bodyPr wrap="none" lIns="0" tIns="0" rIns="0" bIns="0" rtlCol="0">
            <a:noAutofit/>
          </a:bodyPr>
          <a:lstStyle/>
          <a:p>
            <a:pPr>
              <a:buClr>
                <a:schemeClr val="accent1"/>
              </a:buClr>
            </a:pPr>
            <a:r>
              <a:rPr lang="en-US" sz="1000" dirty="0">
                <a:latin typeface="Times New Roman" panose="02020603050405020304" pitchFamily="18" charset="0"/>
                <a:cs typeface="Times New Roman" panose="02020603050405020304" pitchFamily="18" charset="0"/>
              </a:rPr>
              <a:t>Visualization of Character Relationships in </a:t>
            </a:r>
            <a:r>
              <a:rPr lang="en-US" sz="1000" i="1" dirty="0">
                <a:latin typeface="Times New Roman" panose="02020603050405020304" pitchFamily="18" charset="0"/>
                <a:cs typeface="Times New Roman" panose="02020603050405020304" pitchFamily="18" charset="0"/>
              </a:rPr>
              <a:t>A Murder is Announced</a:t>
            </a:r>
            <a:r>
              <a:rPr lang="en-US" sz="1000" dirty="0">
                <a:latin typeface="Times New Roman" panose="02020603050405020304" pitchFamily="18" charset="0"/>
                <a:cs typeface="Times New Roman" panose="02020603050405020304" pitchFamily="18" charset="0"/>
              </a:rPr>
              <a:t>  with Nodes Ranked by Quoted Speeches, Layout: Yifan Hu</a:t>
            </a:r>
            <a:endParaRPr lang="de-DE" sz="1000" dirty="0">
              <a:latin typeface="Times New Roman" panose="02020603050405020304" pitchFamily="18" charset="0"/>
              <a:cs typeface="Times New Roman" panose="02020603050405020304" pitchFamily="18" charset="0"/>
            </a:endParaRPr>
          </a:p>
          <a:p>
            <a:pPr marL="179388" indent="-179388">
              <a:buClr>
                <a:schemeClr val="accent1"/>
              </a:buClr>
              <a:buFont typeface="Arial" panose="020B0604020202020204" pitchFamily="34" charset="0"/>
              <a:buChar char="•"/>
            </a:pPr>
            <a:endParaRPr lang="de-DE"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54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752A4B-B0BC-B961-81D1-F912C9D570A6}"/>
              </a:ext>
            </a:extLst>
          </p:cNvPr>
          <p:cNvSpPr>
            <a:spLocks noGrp="1"/>
          </p:cNvSpPr>
          <p:nvPr>
            <p:ph type="title"/>
          </p:nvPr>
        </p:nvSpPr>
        <p:spPr>
          <a:xfrm>
            <a:off x="169037" y="408542"/>
            <a:ext cx="6839479" cy="614841"/>
          </a:xfrm>
        </p:spPr>
        <p:txBody>
          <a:bodyPr/>
          <a:lstStyle/>
          <a:p>
            <a:br>
              <a:rPr lang="de-DE" b="0" dirty="0">
                <a:latin typeface="Times New Roman" panose="02020603050405020304" pitchFamily="18" charset="0"/>
                <a:cs typeface="Times New Roman" panose="02020603050405020304" pitchFamily="18" charset="0"/>
              </a:rPr>
            </a:br>
            <a:br>
              <a:rPr lang="de-DE" b="0" dirty="0">
                <a:latin typeface="Times New Roman" panose="02020603050405020304" pitchFamily="18" charset="0"/>
                <a:cs typeface="Times New Roman" panose="02020603050405020304" pitchFamily="18" charset="0"/>
              </a:rPr>
            </a:br>
            <a:br>
              <a:rPr lang="de-DE" b="0" dirty="0">
                <a:latin typeface="Times New Roman" panose="02020603050405020304" pitchFamily="18" charset="0"/>
                <a:cs typeface="Times New Roman" panose="02020603050405020304" pitchFamily="18" charset="0"/>
              </a:rPr>
            </a:br>
            <a:r>
              <a:rPr lang="de-DE" sz="1600" b="0" dirty="0">
                <a:latin typeface="Times New Roman" panose="02020603050405020304" pitchFamily="18" charset="0"/>
                <a:cs typeface="Times New Roman" panose="02020603050405020304" pitchFamily="18" charset="0"/>
              </a:rPr>
              <a:t>Synthesis </a:t>
            </a:r>
            <a:r>
              <a:rPr lang="de-DE" sz="1600" b="0" dirty="0" err="1">
                <a:latin typeface="Times New Roman" panose="02020603050405020304" pitchFamily="18" charset="0"/>
                <a:cs typeface="Times New Roman" panose="02020603050405020304" pitchFamily="18" charset="0"/>
              </a:rPr>
              <a:t>of</a:t>
            </a:r>
            <a:r>
              <a:rPr lang="de-DE" sz="1600" b="0" dirty="0">
                <a:latin typeface="Times New Roman" panose="02020603050405020304" pitchFamily="18" charset="0"/>
                <a:cs typeface="Times New Roman" panose="02020603050405020304" pitchFamily="18" charset="0"/>
              </a:rPr>
              <a:t> SNA </a:t>
            </a:r>
            <a:r>
              <a:rPr lang="de-DE" sz="1600" b="0" dirty="0" err="1">
                <a:latin typeface="Times New Roman" panose="02020603050405020304" pitchFamily="18" charset="0"/>
                <a:cs typeface="Times New Roman" panose="02020603050405020304" pitchFamily="18" charset="0"/>
              </a:rPr>
              <a:t>Results</a:t>
            </a:r>
            <a:br>
              <a:rPr lang="de-DE" b="0" dirty="0">
                <a:latin typeface="Times New Roman" panose="02020603050405020304" pitchFamily="18" charset="0"/>
                <a:cs typeface="Times New Roman" panose="02020603050405020304" pitchFamily="18" charset="0"/>
              </a:rPr>
            </a:br>
            <a:endParaRPr lang="de-DE" b="0" dirty="0"/>
          </a:p>
        </p:txBody>
      </p:sp>
      <p:graphicFrame>
        <p:nvGraphicFramePr>
          <p:cNvPr id="8" name="Inhaltsplatzhalter 7">
            <a:extLst>
              <a:ext uri="{FF2B5EF4-FFF2-40B4-BE49-F238E27FC236}">
                <a16:creationId xmlns:a16="http://schemas.microsoft.com/office/drawing/2014/main" id="{829C77FB-C4E9-A044-5C72-5330F641A5E7}"/>
              </a:ext>
            </a:extLst>
          </p:cNvPr>
          <p:cNvGraphicFramePr>
            <a:graphicFrameLocks noGrp="1"/>
          </p:cNvGraphicFramePr>
          <p:nvPr>
            <p:ph idx="1"/>
            <p:extLst>
              <p:ext uri="{D42A27DB-BD31-4B8C-83A1-F6EECF244321}">
                <p14:modId xmlns:p14="http://schemas.microsoft.com/office/powerpoint/2010/main" val="2066057289"/>
              </p:ext>
            </p:extLst>
          </p:nvPr>
        </p:nvGraphicFramePr>
        <p:xfrm>
          <a:off x="3015390" y="83883"/>
          <a:ext cx="4065724" cy="5547233"/>
        </p:xfrm>
        <a:graphic>
          <a:graphicData uri="http://schemas.openxmlformats.org/drawingml/2006/table">
            <a:tbl>
              <a:tblPr firstRow="1" firstCol="1" bandRow="1">
                <a:tableStyleId>{5C22544A-7EE6-4342-B048-85BDC9FD1C3A}</a:tableStyleId>
              </a:tblPr>
              <a:tblGrid>
                <a:gridCol w="444143">
                  <a:extLst>
                    <a:ext uri="{9D8B030D-6E8A-4147-A177-3AD203B41FA5}">
                      <a16:colId xmlns:a16="http://schemas.microsoft.com/office/drawing/2014/main" val="3758249762"/>
                    </a:ext>
                  </a:extLst>
                </a:gridCol>
                <a:gridCol w="380183">
                  <a:extLst>
                    <a:ext uri="{9D8B030D-6E8A-4147-A177-3AD203B41FA5}">
                      <a16:colId xmlns:a16="http://schemas.microsoft.com/office/drawing/2014/main" val="4134954534"/>
                    </a:ext>
                  </a:extLst>
                </a:gridCol>
                <a:gridCol w="509893">
                  <a:extLst>
                    <a:ext uri="{9D8B030D-6E8A-4147-A177-3AD203B41FA5}">
                      <a16:colId xmlns:a16="http://schemas.microsoft.com/office/drawing/2014/main" val="1751357016"/>
                    </a:ext>
                  </a:extLst>
                </a:gridCol>
                <a:gridCol w="509893">
                  <a:extLst>
                    <a:ext uri="{9D8B030D-6E8A-4147-A177-3AD203B41FA5}">
                      <a16:colId xmlns:a16="http://schemas.microsoft.com/office/drawing/2014/main" val="3380635143"/>
                    </a:ext>
                  </a:extLst>
                </a:gridCol>
                <a:gridCol w="570722">
                  <a:extLst>
                    <a:ext uri="{9D8B030D-6E8A-4147-A177-3AD203B41FA5}">
                      <a16:colId xmlns:a16="http://schemas.microsoft.com/office/drawing/2014/main" val="2471979984"/>
                    </a:ext>
                  </a:extLst>
                </a:gridCol>
                <a:gridCol w="570722">
                  <a:extLst>
                    <a:ext uri="{9D8B030D-6E8A-4147-A177-3AD203B41FA5}">
                      <a16:colId xmlns:a16="http://schemas.microsoft.com/office/drawing/2014/main" val="690329416"/>
                    </a:ext>
                  </a:extLst>
                </a:gridCol>
                <a:gridCol w="570275">
                  <a:extLst>
                    <a:ext uri="{9D8B030D-6E8A-4147-A177-3AD203B41FA5}">
                      <a16:colId xmlns:a16="http://schemas.microsoft.com/office/drawing/2014/main" val="1835869378"/>
                    </a:ext>
                  </a:extLst>
                </a:gridCol>
                <a:gridCol w="509893">
                  <a:extLst>
                    <a:ext uri="{9D8B030D-6E8A-4147-A177-3AD203B41FA5}">
                      <a16:colId xmlns:a16="http://schemas.microsoft.com/office/drawing/2014/main" val="1896889173"/>
                    </a:ext>
                  </a:extLst>
                </a:gridCol>
              </a:tblGrid>
              <a:tr h="434247">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Murderer</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Gender</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Degree/</a:t>
                      </a:r>
                      <a:r>
                        <a:rPr lang="en-US" sz="700" kern="100" dirty="0" err="1">
                          <a:effectLst/>
                          <a:latin typeface="Times New Roman" panose="02020603050405020304" pitchFamily="18" charset="0"/>
                          <a:cs typeface="Times New Roman" panose="02020603050405020304" pitchFamily="18" charset="0"/>
                        </a:rPr>
                        <a:t>Ave.Degree</a:t>
                      </a:r>
                      <a:r>
                        <a:rPr lang="en-US" sz="700" kern="100" dirty="0">
                          <a:effectLst/>
                          <a:latin typeface="Times New Roman" panose="02020603050405020304" pitchFamily="18" charset="0"/>
                          <a:cs typeface="Times New Roman" panose="02020603050405020304" pitchFamily="18" charset="0"/>
                        </a:rPr>
                        <a:t>/Max</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QS/</a:t>
                      </a:r>
                      <a:r>
                        <a:rPr lang="en-US" sz="700" kern="100" dirty="0" err="1">
                          <a:effectLst/>
                          <a:latin typeface="Times New Roman" panose="02020603050405020304" pitchFamily="18" charset="0"/>
                          <a:cs typeface="Times New Roman" panose="02020603050405020304" pitchFamily="18" charset="0"/>
                        </a:rPr>
                        <a:t>Ave.QS</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/Max</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Men/Ave.Men</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/Max</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CC/Ave.CC</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/Max</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BC/Ave.BC</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/Max</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EC/AVE.EC</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/Max</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2011597864"/>
                  </a:ext>
                </a:extLst>
              </a:tr>
              <a:tr h="471080">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Sheppard</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male</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21/11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/21</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699/193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/1361(Poi.)</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0/49</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/285(R. Paton)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1/0.69</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48.69/5.23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/48.69</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1/0.63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2158400386"/>
                  </a:ext>
                </a:extLst>
              </a:tr>
              <a:tr h="471080">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 Clarke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11/8</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/37 (P, H)</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229/81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/1557(P)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20/11</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/178 (Cust)</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0.54/0.51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/0.81 (P, H)</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4.57/24.63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/319.39 (P,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0.47/0.3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3896053413"/>
                  </a:ext>
                </a:extLst>
              </a:tr>
              <a:tr h="471080">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Wargrave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13/10</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/14 (Lom.)</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349/181</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/599 (Lom.)</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23/23</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/77 (Arms.)</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0.96/0.91</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(Lomb.)</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3.3/2.21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/16.3(Lomb.)</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0.99/0.85</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(Lomb.)</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1307738882"/>
                  </a:ext>
                </a:extLst>
              </a:tr>
              <a:tr h="471080">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Jane Wilkinson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14/8</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/25 (P,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272/186</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/2047 (P,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418/37</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/418</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0.69/0.62</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9.4/8.35</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/88.83(P,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0.75/0.47</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/1(P, 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1098826661"/>
                  </a:ext>
                </a:extLst>
              </a:tr>
              <a:tr h="471080">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Miss Blacklog</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15/11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/25 (Crad.)</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647/175</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/742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198/30</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/198</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0.7/0.63</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/0.96 (Crad.)</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0.07/8.11</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/160.4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0.92/0.59</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2241871526"/>
                  </a:ext>
                </a:extLst>
              </a:tr>
              <a:tr h="471080">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Marina Gregg</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11/8</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/19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251/143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/884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628/35</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/628</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0.52/0.48</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/0.69 (Crad.)</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1.9/19.6</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/149.3 (Crad.)</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0.75/0.42</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 (Preston)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733038021"/>
                  </a:ext>
                </a:extLst>
              </a:tr>
              <a:tr h="341606">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Knighton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18/8</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/23(Kath.)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152/119</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/947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45/23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/209 (Derek)</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0.68/0.54</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/0.76 (Kath.)</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47.42/15.34</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/171 (Kath.)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0.88/0.44</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1827619013"/>
                  </a:ext>
                </a:extLst>
              </a:tr>
              <a:tr h="341606">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Mason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10/8</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/23 (Kath.)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73/110</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/947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43/23</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/209 (Derek)</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0.59/0.54</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/0.76 (Kath.)</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3.59/15.34</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/171 (Kath.)</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0.61/0.44</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2297472320"/>
                  </a:ext>
                </a:extLst>
              </a:tr>
              <a:tr h="341606">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P. Redfern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16/12</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/18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224/220</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/1009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117/48</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/181 (Kenn.)</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0.9/0.76</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4.97/3.1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/15.21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0.95/0.7</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599907716"/>
                  </a:ext>
                </a:extLst>
              </a:tr>
              <a:tr h="341606">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C. Redfern</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16/12</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/18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229/220</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/1009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136/48.1</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/181 (Kenn.)</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0.9/0.76</a:t>
                      </a:r>
                      <a:endParaRPr lang="de-DE" sz="700" kern="10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 (P)</a:t>
                      </a:r>
                      <a:endParaRPr lang="de-DE" sz="7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4.97/3.1</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/15.21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0.96/0.7</a:t>
                      </a:r>
                      <a:endParaRPr lang="de-DE" sz="7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/1 (P)</a:t>
                      </a:r>
                      <a:endParaRPr lang="de-DE" sz="7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3656" marR="43656" marT="0" marB="0"/>
                </a:tc>
                <a:extLst>
                  <a:ext uri="{0D108BD9-81ED-4DB2-BD59-A6C34878D82A}">
                    <a16:rowId xmlns:a16="http://schemas.microsoft.com/office/drawing/2014/main" val="2072155901"/>
                  </a:ext>
                </a:extLst>
              </a:tr>
            </a:tbl>
          </a:graphicData>
        </a:graphic>
      </p:graphicFrame>
      <p:sp>
        <p:nvSpPr>
          <p:cNvPr id="7" name="Foliennummernplatzhalter 6">
            <a:extLst>
              <a:ext uri="{FF2B5EF4-FFF2-40B4-BE49-F238E27FC236}">
                <a16:creationId xmlns:a16="http://schemas.microsoft.com/office/drawing/2014/main" id="{E6345E2F-2E1B-7093-6E7D-3254DE6F3BA0}"/>
              </a:ext>
            </a:extLst>
          </p:cNvPr>
          <p:cNvSpPr>
            <a:spLocks noGrp="1"/>
          </p:cNvSpPr>
          <p:nvPr>
            <p:ph type="sldNum" sz="quarter" idx="16"/>
          </p:nvPr>
        </p:nvSpPr>
        <p:spPr/>
        <p:txBody>
          <a:bodyPr/>
          <a:lstStyle/>
          <a:p>
            <a:fld id="{9E82CC3C-1DC0-4FDA-9590-6CC506AB67F8}" type="slidenum">
              <a:rPr lang="en-US" smtClean="0"/>
              <a:pPr/>
              <a:t>12</a:t>
            </a:fld>
            <a:endParaRPr lang="en-US" dirty="0"/>
          </a:p>
        </p:txBody>
      </p:sp>
      <p:sp>
        <p:nvSpPr>
          <p:cNvPr id="9" name="Rectangle 1">
            <a:extLst>
              <a:ext uri="{FF2B5EF4-FFF2-40B4-BE49-F238E27FC236}">
                <a16:creationId xmlns:a16="http://schemas.microsoft.com/office/drawing/2014/main" id="{FFF9F38A-FBD8-9AC8-967A-9B5C63C32E02}"/>
              </a:ext>
            </a:extLst>
          </p:cNvPr>
          <p:cNvSpPr>
            <a:spLocks noChangeArrowheads="1"/>
          </p:cNvSpPr>
          <p:nvPr/>
        </p:nvSpPr>
        <p:spPr bwMode="auto">
          <a:xfrm>
            <a:off x="1976438" y="884238"/>
            <a:ext cx="7620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a:ln>
                  <a:noFill/>
                </a:ln>
                <a:solidFill>
                  <a:schemeClr val="tx1"/>
                </a:solidFill>
                <a:effectLst/>
                <a:latin typeface="Arial" panose="020B0604020202020204" pitchFamily="34" charset="0"/>
              </a:rPr>
            </a:br>
            <a:endParaRPr kumimoji="0" lang="de-DE" altLang="de-D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1480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B025C1F7-E4D1-26B6-EE2D-2C457FA28E97}"/>
              </a:ext>
            </a:extLst>
          </p:cNvPr>
          <p:cNvSpPr>
            <a:spLocks noGrp="1"/>
          </p:cNvSpPr>
          <p:nvPr>
            <p:ph idx="1"/>
          </p:nvPr>
        </p:nvSpPr>
        <p:spPr>
          <a:xfrm>
            <a:off x="352078" y="612059"/>
            <a:ext cx="6839479" cy="5038780"/>
          </a:xfrm>
        </p:spPr>
        <p:txBody>
          <a:bodyPr/>
          <a:lstStyle/>
          <a:p>
            <a:pPr marL="0" indent="0">
              <a:buNone/>
            </a:pPr>
            <a:r>
              <a:rPr lang="de-DE" sz="1400" b="1" dirty="0">
                <a:latin typeface="Times New Roman" panose="02020603050405020304" pitchFamily="18" charset="0"/>
                <a:cs typeface="Times New Roman" panose="02020603050405020304" pitchFamily="18" charset="0"/>
              </a:rPr>
              <a:t>Patterns in </a:t>
            </a:r>
            <a:r>
              <a:rPr lang="de-DE" sz="1400" b="1" dirty="0" err="1">
                <a:latin typeface="Times New Roman" panose="02020603050405020304" pitchFamily="18" charset="0"/>
                <a:cs typeface="Times New Roman" panose="02020603050405020304" pitchFamily="18" charset="0"/>
              </a:rPr>
              <a:t>Female</a:t>
            </a:r>
            <a:r>
              <a:rPr lang="de-DE" sz="1400" b="1" dirty="0">
                <a:latin typeface="Times New Roman" panose="02020603050405020304" pitchFamily="18" charset="0"/>
                <a:cs typeface="Times New Roman" panose="02020603050405020304" pitchFamily="18" charset="0"/>
              </a:rPr>
              <a:t> Solo </a:t>
            </a:r>
            <a:r>
              <a:rPr lang="de-DE" sz="1400" b="1" dirty="0" err="1">
                <a:latin typeface="Times New Roman" panose="02020603050405020304" pitchFamily="18" charset="0"/>
                <a:cs typeface="Times New Roman" panose="02020603050405020304" pitchFamily="18" charset="0"/>
              </a:rPr>
              <a:t>Murderers</a:t>
            </a:r>
            <a:r>
              <a:rPr lang="de-DE" sz="1400" b="1" dirty="0">
                <a:latin typeface="Times New Roman" panose="02020603050405020304" pitchFamily="18" charset="0"/>
                <a:cs typeface="Times New Roman" panose="02020603050405020304" pitchFamily="18" charset="0"/>
              </a:rPr>
              <a:t>:</a:t>
            </a:r>
            <a:endParaRPr lang="de-DE" sz="1200" b="1"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above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average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Quoted</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Speeches</a:t>
            </a:r>
            <a:r>
              <a:rPr lang="de-DE" sz="1200" dirty="0">
                <a:latin typeface="Times New Roman" panose="02020603050405020304" pitchFamily="18" charset="0"/>
                <a:cs typeface="Times New Roman" panose="02020603050405020304" pitchFamily="18" charset="0"/>
              </a:rPr>
              <a:t> and Degree → </a:t>
            </a:r>
            <a:r>
              <a:rPr lang="de-DE" sz="1200" dirty="0" err="1">
                <a:latin typeface="Times New Roman" panose="02020603050405020304" pitchFamily="18" charset="0"/>
                <a:cs typeface="Times New Roman" panose="02020603050405020304" pitchFamily="18" charset="0"/>
              </a:rPr>
              <a:t>active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talkative</a:t>
            </a:r>
            <a:endParaRPr lang="de-DE" sz="1200"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higher</a:t>
            </a:r>
            <a:r>
              <a:rPr lang="de-DE" sz="1200" dirty="0">
                <a:latin typeface="Times New Roman" panose="02020603050405020304" pitchFamily="18" charset="0"/>
                <a:cs typeface="Times New Roman" panose="02020603050405020304" pitchFamily="18" charset="0"/>
              </a:rPr>
              <a:t> Mention </a:t>
            </a:r>
            <a:r>
              <a:rPr lang="de-DE" sz="1200" dirty="0" err="1">
                <a:latin typeface="Times New Roman" panose="02020603050405020304" pitchFamily="18" charset="0"/>
                <a:cs typeface="Times New Roman" panose="02020603050405020304" pitchFamily="18" charset="0"/>
              </a:rPr>
              <a:t>values</a:t>
            </a:r>
            <a:r>
              <a:rPr lang="de-DE" sz="1200" dirty="0">
                <a:latin typeface="Times New Roman" panose="02020603050405020304" pitchFamily="18" charset="0"/>
                <a:cs typeface="Times New Roman" panose="02020603050405020304" pitchFamily="18" charset="0"/>
              </a:rPr>
              <a:t> → </a:t>
            </a:r>
            <a:r>
              <a:rPr lang="de-DE" sz="1200" dirty="0" err="1">
                <a:latin typeface="Times New Roman" panose="02020603050405020304" pitchFamily="18" charset="0"/>
                <a:cs typeface="Times New Roman" panose="02020603050405020304" pitchFamily="18" charset="0"/>
              </a:rPr>
              <a:t>stronger</a:t>
            </a:r>
            <a:r>
              <a:rPr lang="de-DE" sz="1200" dirty="0">
                <a:latin typeface="Times New Roman" panose="02020603050405020304" pitchFamily="18" charset="0"/>
                <a:cs typeface="Times New Roman" panose="02020603050405020304" pitchFamily="18" charset="0"/>
              </a:rPr>
              <a:t> narrative </a:t>
            </a:r>
            <a:r>
              <a:rPr lang="de-DE" sz="1200" dirty="0" err="1">
                <a:latin typeface="Times New Roman" panose="02020603050405020304" pitchFamily="18" charset="0"/>
                <a:cs typeface="Times New Roman" panose="02020603050405020304" pitchFamily="18" charset="0"/>
              </a:rPr>
              <a:t>attention</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suspicion</a:t>
            </a:r>
            <a:endParaRPr lang="de-DE" sz="1200" dirty="0">
              <a:latin typeface="Times New Roman" panose="02020603050405020304" pitchFamily="18" charset="0"/>
              <a:cs typeface="Times New Roman" panose="02020603050405020304" pitchFamily="18" charset="0"/>
            </a:endParaRPr>
          </a:p>
          <a:p>
            <a:r>
              <a:rPr lang="de-DE" sz="1200" dirty="0">
                <a:latin typeface="Times New Roman" panose="02020603050405020304" pitchFamily="18" charset="0"/>
                <a:cs typeface="Times New Roman" panose="02020603050405020304" pitchFamily="18" charset="0"/>
              </a:rPr>
              <a:t>high </a:t>
            </a:r>
            <a:r>
              <a:rPr lang="de-DE" sz="1200" dirty="0" err="1">
                <a:latin typeface="Times New Roman" panose="02020603050405020304" pitchFamily="18" charset="0"/>
                <a:cs typeface="Times New Roman" panose="02020603050405020304" pitchFamily="18" charset="0"/>
              </a:rPr>
              <a:t>Closeness</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well-</a:t>
            </a:r>
            <a:r>
              <a:rPr lang="de-DE" sz="1200" dirty="0" err="1">
                <a:latin typeface="Times New Roman" panose="02020603050405020304" pitchFamily="18" charset="0"/>
                <a:cs typeface="Times New Roman" panose="02020603050405020304" pitchFamily="18" charset="0"/>
              </a:rPr>
              <a:t>connected</a:t>
            </a:r>
            <a:endParaRPr lang="de-DE" sz="1200" dirty="0">
              <a:latin typeface="Times New Roman" panose="02020603050405020304" pitchFamily="18" charset="0"/>
              <a:cs typeface="Times New Roman" panose="02020603050405020304" pitchFamily="18" charset="0"/>
            </a:endParaRPr>
          </a:p>
          <a:p>
            <a:r>
              <a:rPr lang="de-DE" sz="1200" dirty="0">
                <a:latin typeface="Times New Roman" panose="02020603050405020304" pitchFamily="18" charset="0"/>
                <a:cs typeface="Times New Roman" panose="02020603050405020304" pitchFamily="18" charset="0"/>
              </a:rPr>
              <a:t>high </a:t>
            </a:r>
            <a:r>
              <a:rPr lang="de-DE" sz="1200" dirty="0" err="1">
                <a:latin typeface="Times New Roman" panose="02020603050405020304" pitchFamily="18" charset="0"/>
                <a:cs typeface="Times New Roman" panose="02020603050405020304" pitchFamily="18" charset="0"/>
              </a:rPr>
              <a:t>Eigenvector</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a:t>
            </a:r>
            <a:r>
              <a:rPr lang="de-DE" sz="1200" dirty="0" err="1">
                <a:latin typeface="Times New Roman" panose="02020603050405020304" pitchFamily="18" charset="0"/>
                <a:cs typeface="Times New Roman" panose="02020603050405020304" pitchFamily="18" charset="0"/>
              </a:rPr>
              <a:t>connected</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with</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resourceful</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characters</a:t>
            </a:r>
            <a:endParaRPr lang="de-DE" sz="1200"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low</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Betweenness</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a:t>
            </a:r>
            <a:r>
              <a:rPr lang="de-DE" sz="1200" dirty="0" err="1">
                <a:latin typeface="Times New Roman" panose="02020603050405020304" pitchFamily="18" charset="0"/>
                <a:cs typeface="Times New Roman" panose="02020603050405020304" pitchFamily="18" charset="0"/>
              </a:rPr>
              <a:t>act</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within</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groups</a:t>
            </a:r>
            <a:endParaRPr lang="de-DE" sz="1200" dirty="0">
              <a:latin typeface="Times New Roman" panose="02020603050405020304" pitchFamily="18" charset="0"/>
              <a:cs typeface="Times New Roman" panose="02020603050405020304" pitchFamily="18" charset="0"/>
            </a:endParaRPr>
          </a:p>
          <a:p>
            <a:pPr marL="0" indent="0">
              <a:buNone/>
            </a:pPr>
            <a:endParaRPr lang="de-DE" sz="1200" b="1" dirty="0">
              <a:latin typeface="Times New Roman" panose="02020603050405020304" pitchFamily="18" charset="0"/>
              <a:cs typeface="Times New Roman" panose="02020603050405020304" pitchFamily="18" charset="0"/>
            </a:endParaRPr>
          </a:p>
          <a:p>
            <a:pPr marL="0" indent="0">
              <a:buNone/>
            </a:pPr>
            <a:r>
              <a:rPr lang="de-DE" sz="1400" b="1" dirty="0">
                <a:latin typeface="Times New Roman" panose="02020603050405020304" pitchFamily="18" charset="0"/>
                <a:cs typeface="Times New Roman" panose="02020603050405020304" pitchFamily="18" charset="0"/>
              </a:rPr>
              <a:t>Patterns in Male Solo </a:t>
            </a:r>
            <a:r>
              <a:rPr lang="de-DE" sz="1400" b="1" dirty="0" err="1">
                <a:latin typeface="Times New Roman" panose="02020603050405020304" pitchFamily="18" charset="0"/>
                <a:cs typeface="Times New Roman" panose="02020603050405020304" pitchFamily="18" charset="0"/>
              </a:rPr>
              <a:t>Murderers</a:t>
            </a:r>
            <a:r>
              <a:rPr lang="de-DE" sz="1400" b="1" dirty="0">
                <a:latin typeface="Times New Roman" panose="02020603050405020304" pitchFamily="18" charset="0"/>
                <a:cs typeface="Times New Roman" panose="02020603050405020304" pitchFamily="18" charset="0"/>
              </a:rPr>
              <a:t>:</a:t>
            </a:r>
            <a:endParaRPr lang="de-DE" sz="1400"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above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average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Quoted</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Speeches</a:t>
            </a:r>
            <a:r>
              <a:rPr lang="de-DE" sz="1200" dirty="0">
                <a:latin typeface="Times New Roman" panose="02020603050405020304" pitchFamily="18" charset="0"/>
                <a:cs typeface="Times New Roman" panose="02020603050405020304" pitchFamily="18" charset="0"/>
              </a:rPr>
              <a:t> and Degree → </a:t>
            </a:r>
            <a:r>
              <a:rPr lang="de-DE" sz="1200" dirty="0" err="1">
                <a:latin typeface="Times New Roman" panose="02020603050405020304" pitchFamily="18" charset="0"/>
                <a:cs typeface="Times New Roman" panose="02020603050405020304" pitchFamily="18" charset="0"/>
              </a:rPr>
              <a:t>active</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talkative</a:t>
            </a:r>
            <a:endParaRPr lang="de-DE" sz="1200"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often</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lower</a:t>
            </a:r>
            <a:r>
              <a:rPr lang="de-DE" sz="1200" dirty="0">
                <a:latin typeface="Times New Roman" panose="02020603050405020304" pitchFamily="18" charset="0"/>
                <a:cs typeface="Times New Roman" panose="02020603050405020304" pitchFamily="18" charset="0"/>
              </a:rPr>
              <a:t> Mention </a:t>
            </a:r>
            <a:r>
              <a:rPr lang="de-DE" sz="1200" dirty="0" err="1">
                <a:latin typeface="Times New Roman" panose="02020603050405020304" pitchFamily="18" charset="0"/>
                <a:cs typeface="Times New Roman" panose="02020603050405020304" pitchFamily="18" charset="0"/>
              </a:rPr>
              <a:t>values</a:t>
            </a:r>
            <a:endParaRPr lang="de-DE" sz="1200" dirty="0">
              <a:latin typeface="Times New Roman" panose="02020603050405020304" pitchFamily="18" charset="0"/>
              <a:cs typeface="Times New Roman" panose="02020603050405020304" pitchFamily="18" charset="0"/>
            </a:endParaRPr>
          </a:p>
          <a:p>
            <a:r>
              <a:rPr lang="de-DE" sz="1200" dirty="0">
                <a:latin typeface="Times New Roman" panose="02020603050405020304" pitchFamily="18" charset="0"/>
                <a:cs typeface="Times New Roman" panose="02020603050405020304" pitchFamily="18" charset="0"/>
              </a:rPr>
              <a:t>high </a:t>
            </a:r>
            <a:r>
              <a:rPr lang="de-DE" sz="1200" dirty="0" err="1">
                <a:latin typeface="Times New Roman" panose="02020603050405020304" pitchFamily="18" charset="0"/>
                <a:cs typeface="Times New Roman" panose="02020603050405020304" pitchFamily="18" charset="0"/>
              </a:rPr>
              <a:t>Closeness</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well-</a:t>
            </a:r>
            <a:r>
              <a:rPr lang="de-DE" sz="1200" dirty="0" err="1">
                <a:latin typeface="Times New Roman" panose="02020603050405020304" pitchFamily="18" charset="0"/>
                <a:cs typeface="Times New Roman" panose="02020603050405020304" pitchFamily="18" charset="0"/>
              </a:rPr>
              <a:t>connected</a:t>
            </a:r>
            <a:endParaRPr lang="de-DE" sz="1200" dirty="0">
              <a:latin typeface="Times New Roman" panose="02020603050405020304" pitchFamily="18" charset="0"/>
              <a:cs typeface="Times New Roman" panose="02020603050405020304" pitchFamily="18" charset="0"/>
            </a:endParaRPr>
          </a:p>
          <a:p>
            <a:r>
              <a:rPr lang="de-DE" sz="1200" dirty="0">
                <a:latin typeface="Times New Roman" panose="02020603050405020304" pitchFamily="18" charset="0"/>
                <a:cs typeface="Times New Roman" panose="02020603050405020304" pitchFamily="18" charset="0"/>
              </a:rPr>
              <a:t>high </a:t>
            </a:r>
            <a:r>
              <a:rPr lang="de-DE" sz="1200" dirty="0" err="1">
                <a:latin typeface="Times New Roman" panose="02020603050405020304" pitchFamily="18" charset="0"/>
                <a:cs typeface="Times New Roman" panose="02020603050405020304" pitchFamily="18" charset="0"/>
              </a:rPr>
              <a:t>Eigenvector</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a:t>
            </a:r>
            <a:r>
              <a:rPr lang="de-DE" sz="1200" dirty="0" err="1">
                <a:latin typeface="Times New Roman" panose="02020603050405020304" pitchFamily="18" charset="0"/>
                <a:cs typeface="Times New Roman" panose="02020603050405020304" pitchFamily="18" charset="0"/>
              </a:rPr>
              <a:t>connected</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with</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resourceful</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characters</a:t>
            </a:r>
            <a:endParaRPr lang="de-DE" sz="1200" dirty="0">
              <a:latin typeface="Times New Roman" panose="02020603050405020304" pitchFamily="18" charset="0"/>
              <a:cs typeface="Times New Roman" panose="02020603050405020304" pitchFamily="18" charset="0"/>
            </a:endParaRPr>
          </a:p>
          <a:p>
            <a:r>
              <a:rPr lang="de-DE" sz="1200" dirty="0" err="1">
                <a:latin typeface="Times New Roman" panose="02020603050405020304" pitchFamily="18" charset="0"/>
                <a:cs typeface="Times New Roman" panose="02020603050405020304" pitchFamily="18" charset="0"/>
              </a:rPr>
              <a:t>low</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Betweenness</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Centrality</a:t>
            </a:r>
            <a:r>
              <a:rPr lang="de-DE" sz="1200" dirty="0">
                <a:latin typeface="Times New Roman" panose="02020603050405020304" pitchFamily="18" charset="0"/>
                <a:cs typeface="Times New Roman" panose="02020603050405020304" pitchFamily="18" charset="0"/>
              </a:rPr>
              <a:t> → </a:t>
            </a:r>
            <a:r>
              <a:rPr lang="de-DE" sz="1200" dirty="0" err="1">
                <a:latin typeface="Times New Roman" panose="02020603050405020304" pitchFamily="18" charset="0"/>
                <a:cs typeface="Times New Roman" panose="02020603050405020304" pitchFamily="18" charset="0"/>
              </a:rPr>
              <a:t>act</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within</a:t>
            </a:r>
            <a:r>
              <a:rPr lang="de-DE" sz="1200" dirty="0">
                <a:latin typeface="Times New Roman" panose="02020603050405020304" pitchFamily="18" charset="0"/>
                <a:cs typeface="Times New Roman" panose="02020603050405020304" pitchFamily="18" charset="0"/>
              </a:rPr>
              <a:t> </a:t>
            </a:r>
            <a:r>
              <a:rPr lang="de-DE" sz="1200" dirty="0" err="1">
                <a:latin typeface="Times New Roman" panose="02020603050405020304" pitchFamily="18" charset="0"/>
                <a:cs typeface="Times New Roman" panose="02020603050405020304" pitchFamily="18" charset="0"/>
              </a:rPr>
              <a:t>groups</a:t>
            </a:r>
            <a:endParaRPr lang="de-DE" sz="1200" dirty="0">
              <a:latin typeface="Times New Roman" panose="02020603050405020304" pitchFamily="18" charset="0"/>
              <a:cs typeface="Times New Roman" panose="02020603050405020304" pitchFamily="18" charset="0"/>
            </a:endParaRPr>
          </a:p>
          <a:p>
            <a:pPr marL="0" indent="0">
              <a:buNone/>
            </a:pPr>
            <a:endParaRPr lang="de-DE" sz="1200" dirty="0">
              <a:latin typeface="Times New Roman" panose="02020603050405020304" pitchFamily="18" charset="0"/>
              <a:cs typeface="Times New Roman" panose="02020603050405020304" pitchFamily="18" charset="0"/>
            </a:endParaRPr>
          </a:p>
          <a:p>
            <a:pPr marL="0" indent="0">
              <a:buNone/>
            </a:pPr>
            <a:endParaRPr lang="de-DE" sz="1200" dirty="0">
              <a:latin typeface="Times New Roman" panose="02020603050405020304" pitchFamily="18" charset="0"/>
              <a:cs typeface="Times New Roman" panose="02020603050405020304" pitchFamily="18" charset="0"/>
            </a:endParaRPr>
          </a:p>
          <a:p>
            <a:endParaRPr lang="de-DE" sz="1200" dirty="0">
              <a:latin typeface="Times New Roman" panose="02020603050405020304" pitchFamily="18" charset="0"/>
              <a:cs typeface="Times New Roman" panose="02020603050405020304" pitchFamily="18" charset="0"/>
            </a:endParaRPr>
          </a:p>
          <a:p>
            <a:endParaRPr lang="de-DE" sz="1200" dirty="0">
              <a:latin typeface="Times New Roman" panose="02020603050405020304" pitchFamily="18" charset="0"/>
              <a:cs typeface="Times New Roman" panose="02020603050405020304" pitchFamily="18" charset="0"/>
            </a:endParaRPr>
          </a:p>
          <a:p>
            <a:endParaRPr lang="de-DE" sz="1200" dirty="0">
              <a:latin typeface="Times New Roman" panose="02020603050405020304" pitchFamily="18" charset="0"/>
              <a:cs typeface="Times New Roman" panose="02020603050405020304" pitchFamily="18" charset="0"/>
            </a:endParaRPr>
          </a:p>
          <a:p>
            <a:endParaRPr lang="de-DE" sz="12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57288060-B907-FCF4-5AC2-0CAC50A569B8}"/>
              </a:ext>
            </a:extLst>
          </p:cNvPr>
          <p:cNvSpPr>
            <a:spLocks noGrp="1"/>
          </p:cNvSpPr>
          <p:nvPr>
            <p:ph type="sldNum" sz="quarter" idx="16"/>
          </p:nvPr>
        </p:nvSpPr>
        <p:spPr/>
        <p:txBody>
          <a:bodyPr/>
          <a:lstStyle/>
          <a:p>
            <a:fld id="{9E82CC3C-1DC0-4FDA-9590-6CC506AB67F8}" type="slidenum">
              <a:rPr lang="en-US" smtClean="0"/>
              <a:pPr/>
              <a:t>13</a:t>
            </a:fld>
            <a:endParaRPr lang="en-US" dirty="0"/>
          </a:p>
        </p:txBody>
      </p:sp>
    </p:spTree>
    <p:extLst>
      <p:ext uri="{BB962C8B-B14F-4D97-AF65-F5344CB8AC3E}">
        <p14:creationId xmlns:p14="http://schemas.microsoft.com/office/powerpoint/2010/main" val="366950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DDD2781B-02D0-0302-4ADD-B819DF00E3F1}"/>
              </a:ext>
            </a:extLst>
          </p:cNvPr>
          <p:cNvSpPr>
            <a:spLocks noGrp="1"/>
          </p:cNvSpPr>
          <p:nvPr>
            <p:ph idx="1"/>
          </p:nvPr>
        </p:nvSpPr>
        <p:spPr>
          <a:xfrm>
            <a:off x="390263" y="818535"/>
            <a:ext cx="6839479" cy="4270990"/>
          </a:xfrm>
        </p:spPr>
        <p:txBody>
          <a:bodyPr/>
          <a:lstStyle/>
          <a:p>
            <a:pPr marL="0" indent="0">
              <a:buNone/>
            </a:pPr>
            <a:r>
              <a:rPr lang="de-DE" sz="1400" b="1" dirty="0">
                <a:latin typeface="Times New Roman" panose="02020603050405020304" pitchFamily="18" charset="0"/>
                <a:cs typeface="Times New Roman" panose="02020603050405020304" pitchFamily="18" charset="0"/>
              </a:rPr>
              <a:t>Patterns in Co-</a:t>
            </a:r>
            <a:r>
              <a:rPr lang="de-DE" sz="1400" b="1" dirty="0" err="1">
                <a:latin typeface="Times New Roman" panose="02020603050405020304" pitchFamily="18" charset="0"/>
                <a:cs typeface="Times New Roman" panose="02020603050405020304" pitchFamily="18" charset="0"/>
              </a:rPr>
              <a:t>murderers</a:t>
            </a:r>
            <a:r>
              <a:rPr lang="de-DE" sz="1400" b="1" dirty="0">
                <a:latin typeface="Times New Roman" panose="02020603050405020304" pitchFamily="18" charset="0"/>
                <a:cs typeface="Times New Roman" panose="02020603050405020304" pitchFamily="18" charset="0"/>
              </a:rPr>
              <a:t>: </a:t>
            </a:r>
          </a:p>
          <a:p>
            <a:pPr marL="0" indent="0">
              <a:buNone/>
            </a:pPr>
            <a:endParaRPr lang="de-DE"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centrality values of male murderers are equal to or greater than those of female murderers.</a:t>
            </a:r>
            <a:endParaRPr lang="de-DE" sz="1400" dirty="0">
              <a:latin typeface="Times New Roman" panose="02020603050405020304" pitchFamily="18" charset="0"/>
              <a:cs typeface="Times New Roman" panose="02020603050405020304" pitchFamily="18" charset="0"/>
            </a:endParaRPr>
          </a:p>
          <a:p>
            <a:pPr marL="0" indent="0">
              <a:buNone/>
            </a:pPr>
            <a:endParaRPr lang="de-DE"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Female murderers are frequently characterized in a supporting capacity.</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Since the female accomplices do not directly involve in the murder, their comparable Mention values suggest that they are not peripheral figures at all within the narrative.  </a:t>
            </a:r>
            <a:endParaRPr lang="de-DE" sz="14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de-DE" dirty="0"/>
          </a:p>
          <a:p>
            <a:pPr marL="0" indent="0">
              <a:buNone/>
            </a:pPr>
            <a:endParaRPr lang="de-DE" dirty="0"/>
          </a:p>
        </p:txBody>
      </p:sp>
      <p:sp>
        <p:nvSpPr>
          <p:cNvPr id="7" name="Foliennummernplatzhalter 6">
            <a:extLst>
              <a:ext uri="{FF2B5EF4-FFF2-40B4-BE49-F238E27FC236}">
                <a16:creationId xmlns:a16="http://schemas.microsoft.com/office/drawing/2014/main" id="{FF9DEB6B-EC70-302D-BA5B-AF1905491BE1}"/>
              </a:ext>
            </a:extLst>
          </p:cNvPr>
          <p:cNvSpPr>
            <a:spLocks noGrp="1"/>
          </p:cNvSpPr>
          <p:nvPr>
            <p:ph type="sldNum" sz="quarter" idx="16"/>
          </p:nvPr>
        </p:nvSpPr>
        <p:spPr/>
        <p:txBody>
          <a:bodyPr/>
          <a:lstStyle/>
          <a:p>
            <a:fld id="{9E82CC3C-1DC0-4FDA-9590-6CC506AB67F8}" type="slidenum">
              <a:rPr lang="en-US" smtClean="0"/>
              <a:pPr/>
              <a:t>14</a:t>
            </a:fld>
            <a:endParaRPr lang="en-US" dirty="0"/>
          </a:p>
        </p:txBody>
      </p:sp>
    </p:spTree>
    <p:extLst>
      <p:ext uri="{BB962C8B-B14F-4D97-AF65-F5344CB8AC3E}">
        <p14:creationId xmlns:p14="http://schemas.microsoft.com/office/powerpoint/2010/main" val="255082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5344A-4770-5526-7893-5A9D61AF9F73}"/>
              </a:ext>
            </a:extLst>
          </p:cNvPr>
          <p:cNvSpPr>
            <a:spLocks noGrp="1"/>
          </p:cNvSpPr>
          <p:nvPr>
            <p:ph type="title"/>
          </p:nvPr>
        </p:nvSpPr>
        <p:spPr/>
        <p:txBody>
          <a:bodyPr/>
          <a:lstStyle/>
          <a:p>
            <a:endParaRPr lang="de-DE" dirty="0"/>
          </a:p>
        </p:txBody>
      </p:sp>
      <p:sp>
        <p:nvSpPr>
          <p:cNvPr id="3" name="Textplatzhalter 2">
            <a:extLst>
              <a:ext uri="{FF2B5EF4-FFF2-40B4-BE49-F238E27FC236}">
                <a16:creationId xmlns:a16="http://schemas.microsoft.com/office/drawing/2014/main" id="{2516EEA4-5988-B546-E30D-1097C5CF069F}"/>
              </a:ext>
            </a:extLst>
          </p:cNvPr>
          <p:cNvSpPr>
            <a:spLocks noGrp="1"/>
          </p:cNvSpPr>
          <p:nvPr>
            <p:ph type="body" sz="quarter" idx="13"/>
          </p:nvPr>
        </p:nvSpPr>
        <p:spPr/>
        <p:txBody>
          <a:bodyPr/>
          <a:lstStyle/>
          <a:p>
            <a:r>
              <a:rPr lang="en-US" b="1" dirty="0">
                <a:latin typeface="Times New Roman" panose="02020603050405020304" pitchFamily="18" charset="0"/>
                <a:cs typeface="Times New Roman" panose="02020603050405020304" pitchFamily="18" charset="0"/>
              </a:rPr>
              <a:t>3.2 Bar Plot of Speech/Appearance Rate</a:t>
            </a:r>
            <a:endParaRPr lang="de-DE" b="1"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10CEFCA6-37F7-6E75-A542-7ED0305D1BF9}"/>
              </a:ext>
            </a:extLst>
          </p:cNvPr>
          <p:cNvSpPr>
            <a:spLocks noGrp="1"/>
          </p:cNvSpPr>
          <p:nvPr>
            <p:ph idx="1"/>
          </p:nvPr>
        </p:nvSpPr>
        <p:spPr>
          <a:xfrm>
            <a:off x="318000" y="2006600"/>
            <a:ext cx="6839479" cy="3708400"/>
          </a:xfrm>
        </p:spPr>
        <p:txBody>
          <a:bodyPr/>
          <a:lstStyle/>
          <a:p>
            <a:r>
              <a:rPr lang="en-US" sz="1400" dirty="0">
                <a:latin typeface="Times New Roman" panose="02020603050405020304" pitchFamily="18" charset="0"/>
                <a:cs typeface="Times New Roman" panose="02020603050405020304" pitchFamily="18" charset="0"/>
              </a:rPr>
              <a:t>ggplot2 package in R is employed.</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bar plot analysis serves as a method to complement SNA, making it easier to identify patterns in narrative engagement, such as how murderers’ presence varies across the novels.</a:t>
            </a:r>
          </a:p>
          <a:p>
            <a:pPr marL="0" indent="0">
              <a:buNone/>
            </a:pPr>
            <a:endParaRPr lang="en-US" dirty="0"/>
          </a:p>
          <a:p>
            <a:pPr marL="0" indent="0">
              <a:buNone/>
            </a:pPr>
            <a:endParaRPr lang="de-DE" dirty="0"/>
          </a:p>
        </p:txBody>
      </p:sp>
      <p:sp>
        <p:nvSpPr>
          <p:cNvPr id="7" name="Foliennummernplatzhalter 6">
            <a:extLst>
              <a:ext uri="{FF2B5EF4-FFF2-40B4-BE49-F238E27FC236}">
                <a16:creationId xmlns:a16="http://schemas.microsoft.com/office/drawing/2014/main" id="{3C4441E7-419A-E037-2D43-ECAD8D292574}"/>
              </a:ext>
            </a:extLst>
          </p:cNvPr>
          <p:cNvSpPr>
            <a:spLocks noGrp="1"/>
          </p:cNvSpPr>
          <p:nvPr>
            <p:ph type="sldNum" sz="quarter" idx="16"/>
          </p:nvPr>
        </p:nvSpPr>
        <p:spPr/>
        <p:txBody>
          <a:bodyPr/>
          <a:lstStyle/>
          <a:p>
            <a:fld id="{9E82CC3C-1DC0-4FDA-9590-6CC506AB67F8}" type="slidenum">
              <a:rPr lang="en-US" smtClean="0"/>
              <a:pPr/>
              <a:t>15</a:t>
            </a:fld>
            <a:endParaRPr lang="en-US" dirty="0"/>
          </a:p>
        </p:txBody>
      </p:sp>
    </p:spTree>
    <p:extLst>
      <p:ext uri="{BB962C8B-B14F-4D97-AF65-F5344CB8AC3E}">
        <p14:creationId xmlns:p14="http://schemas.microsoft.com/office/powerpoint/2010/main" val="335630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665416-6932-9250-422C-9845DE33FCCA}"/>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60B9CBC3-393B-64EC-4FB6-3D7F6340F37C}"/>
              </a:ext>
            </a:extLst>
          </p:cNvPr>
          <p:cNvSpPr>
            <a:spLocks noGrp="1"/>
          </p:cNvSpPr>
          <p:nvPr>
            <p:ph type="body" sz="quarter" idx="13"/>
          </p:nvPr>
        </p:nvSpPr>
        <p:spPr/>
        <p:txBody>
          <a:bodyPr/>
          <a:lstStyle/>
          <a:p>
            <a:r>
              <a:rPr lang="de-DE" sz="1600" dirty="0" err="1">
                <a:latin typeface="Times New Roman" panose="02020603050405020304" pitchFamily="18" charset="0"/>
                <a:cs typeface="Times New Roman" panose="02020603050405020304" pitchFamily="18" charset="0"/>
              </a:rPr>
              <a:t>Barplots</a:t>
            </a:r>
            <a:endParaRPr lang="de-DE" sz="16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F3CA206E-E8D7-C9A2-C628-C5D4A3382D3D}"/>
              </a:ext>
            </a:extLst>
          </p:cNvPr>
          <p:cNvSpPr>
            <a:spLocks noGrp="1"/>
          </p:cNvSpPr>
          <p:nvPr>
            <p:ph type="sldNum" sz="quarter" idx="16"/>
          </p:nvPr>
        </p:nvSpPr>
        <p:spPr/>
        <p:txBody>
          <a:bodyPr/>
          <a:lstStyle/>
          <a:p>
            <a:fld id="{9E82CC3C-1DC0-4FDA-9590-6CC506AB67F8}" type="slidenum">
              <a:rPr lang="en-US" smtClean="0"/>
              <a:pPr/>
              <a:t>16</a:t>
            </a:fld>
            <a:endParaRPr lang="en-US" dirty="0"/>
          </a:p>
        </p:txBody>
      </p:sp>
      <p:pic>
        <p:nvPicPr>
          <p:cNvPr id="12" name="Inhaltsplatzhalter 11" descr="Ein Bild, das Text, Diagramm, Screenshot, Reihe enthält.&#10;&#10;KI-generierte Inhalte können fehlerhaft sein.">
            <a:extLst>
              <a:ext uri="{FF2B5EF4-FFF2-40B4-BE49-F238E27FC236}">
                <a16:creationId xmlns:a16="http://schemas.microsoft.com/office/drawing/2014/main" id="{653DB76F-2DB3-E493-E1B5-37A310052B89}"/>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6580" y="1597344"/>
            <a:ext cx="2808248" cy="2805564"/>
          </a:xfrm>
          <a:prstGeom prst="rect">
            <a:avLst/>
          </a:prstGeom>
        </p:spPr>
      </p:pic>
      <p:pic>
        <p:nvPicPr>
          <p:cNvPr id="13" name="Grafik 12" descr="Ein Bild, das Text, Diagramm enthält.&#10;&#10;KI-generierte Inhalte können fehlerhaft sein.">
            <a:extLst>
              <a:ext uri="{FF2B5EF4-FFF2-40B4-BE49-F238E27FC236}">
                <a16:creationId xmlns:a16="http://schemas.microsoft.com/office/drawing/2014/main" id="{3C9A8A20-3BED-3F33-04CC-25CD035F655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901226" y="1597344"/>
            <a:ext cx="2879725" cy="2879725"/>
          </a:xfrm>
          <a:prstGeom prst="rect">
            <a:avLst/>
          </a:prstGeom>
        </p:spPr>
      </p:pic>
      <p:sp>
        <p:nvSpPr>
          <p:cNvPr id="15" name="Textfeld 14">
            <a:extLst>
              <a:ext uri="{FF2B5EF4-FFF2-40B4-BE49-F238E27FC236}">
                <a16:creationId xmlns:a16="http://schemas.microsoft.com/office/drawing/2014/main" id="{F8AC25DC-7176-3BA4-4E67-00B8D07B2AEF}"/>
              </a:ext>
            </a:extLst>
          </p:cNvPr>
          <p:cNvSpPr txBox="1"/>
          <p:nvPr/>
        </p:nvSpPr>
        <p:spPr>
          <a:xfrm>
            <a:off x="609601" y="4477069"/>
            <a:ext cx="5940056" cy="276999"/>
          </a:xfrm>
          <a:prstGeom prst="rect">
            <a:avLst/>
          </a:prstGeom>
          <a:noFill/>
        </p:spPr>
        <p:txBody>
          <a:bodyPr wrap="square">
            <a:spAutoFit/>
          </a:bodyPr>
          <a:lstStyle/>
          <a:p>
            <a:r>
              <a:rPr lang="en-US" sz="1200" dirty="0">
                <a:effectLst/>
                <a:latin typeface="Times New Roman" panose="02020603050405020304" pitchFamily="18" charset="0"/>
                <a:ea typeface="DengXian" panose="02010600030101010101" pitchFamily="2" charset="-122"/>
              </a:rPr>
              <a:t>Bar Plot of Speech/Appearance Rate </a:t>
            </a:r>
            <a:r>
              <a:rPr lang="en-US" sz="1200" dirty="0">
                <a:latin typeface="Times New Roman" panose="02020603050405020304" pitchFamily="18" charset="0"/>
                <a:ea typeface="DengXian" panose="02010600030101010101" pitchFamily="2" charset="-122"/>
              </a:rPr>
              <a:t>of </a:t>
            </a:r>
            <a:r>
              <a:rPr lang="en-US" sz="1200" dirty="0">
                <a:effectLst/>
                <a:latin typeface="Times New Roman" panose="02020603050405020304" pitchFamily="18" charset="0"/>
                <a:ea typeface="DengXian" panose="02010600030101010101" pitchFamily="2" charset="-122"/>
              </a:rPr>
              <a:t>Murderers</a:t>
            </a:r>
            <a:endParaRPr lang="de-DE" sz="1200" dirty="0"/>
          </a:p>
        </p:txBody>
      </p:sp>
    </p:spTree>
    <p:extLst>
      <p:ext uri="{BB962C8B-B14F-4D97-AF65-F5344CB8AC3E}">
        <p14:creationId xmlns:p14="http://schemas.microsoft.com/office/powerpoint/2010/main" val="383498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8E33AD-4A7D-54D9-E94D-8776699C2A85}"/>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810F4418-5E89-B255-9507-FB439E5CAE1A}"/>
              </a:ext>
            </a:extLst>
          </p:cNvPr>
          <p:cNvSpPr>
            <a:spLocks noGrp="1"/>
          </p:cNvSpPr>
          <p:nvPr>
            <p:ph type="body" sz="quarter" idx="13"/>
          </p:nvPr>
        </p:nvSpPr>
        <p:spPr/>
        <p:txBody>
          <a:bodyPr/>
          <a:lstStyle/>
          <a:p>
            <a:endParaRPr lang="de-DE"/>
          </a:p>
        </p:txBody>
      </p:sp>
      <p:sp>
        <p:nvSpPr>
          <p:cNvPr id="4" name="Inhaltsplatzhalter 3">
            <a:extLst>
              <a:ext uri="{FF2B5EF4-FFF2-40B4-BE49-F238E27FC236}">
                <a16:creationId xmlns:a16="http://schemas.microsoft.com/office/drawing/2014/main" id="{DD1E95F3-81D1-807F-284B-307B4DA516B4}"/>
              </a:ext>
            </a:extLst>
          </p:cNvPr>
          <p:cNvSpPr>
            <a:spLocks noGrp="1"/>
          </p:cNvSpPr>
          <p:nvPr>
            <p:ph idx="1"/>
          </p:nvPr>
        </p:nvSpPr>
        <p:spPr/>
        <p:txBody>
          <a:bodyPr/>
          <a:lstStyle/>
          <a:p>
            <a:pPr algn="just"/>
            <a:r>
              <a:rPr lang="en-US" sz="1400" dirty="0">
                <a:latin typeface="Times New Roman" panose="02020603050405020304" pitchFamily="18" charset="0"/>
                <a:cs typeface="Times New Roman" panose="02020603050405020304" pitchFamily="18" charset="0"/>
              </a:rPr>
              <a:t>Talkativeness is classified using distribution quartiles: the 75th percentile is 35.75 speeches per chapter, the 50th is 22.5, and the 25th is 16.5.</a:t>
            </a:r>
          </a:p>
          <a:p>
            <a:pPr marL="0" indent="0" algn="just">
              <a:buNone/>
            </a:pP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Characters are classified as “</a:t>
            </a:r>
            <a:r>
              <a:rPr lang="en-US" sz="1400" b="1" dirty="0">
                <a:latin typeface="Times New Roman" panose="02020603050405020304" pitchFamily="18" charset="0"/>
                <a:cs typeface="Times New Roman" panose="02020603050405020304" pitchFamily="18" charset="0"/>
              </a:rPr>
              <a:t>highly talkative</a:t>
            </a:r>
            <a:r>
              <a:rPr lang="en-US" sz="1400" dirty="0">
                <a:latin typeface="Times New Roman" panose="02020603050405020304" pitchFamily="18" charset="0"/>
                <a:cs typeface="Times New Roman" panose="02020603050405020304" pitchFamily="18" charset="0"/>
              </a:rPr>
              <a:t>” if their average number of speeches per chapter exceeds the </a:t>
            </a:r>
            <a:r>
              <a:rPr lang="en-US" sz="1400" b="1" dirty="0">
                <a:latin typeface="Times New Roman" panose="02020603050405020304" pitchFamily="18" charset="0"/>
                <a:cs typeface="Times New Roman" panose="02020603050405020304" pitchFamily="18" charset="0"/>
              </a:rPr>
              <a:t>75%</a:t>
            </a:r>
            <a:r>
              <a:rPr lang="en-US" sz="1400" dirty="0">
                <a:latin typeface="Times New Roman" panose="02020603050405020304" pitchFamily="18" charset="0"/>
                <a:cs typeface="Times New Roman" panose="02020603050405020304" pitchFamily="18" charset="0"/>
              </a:rPr>
              <a:t>. Characters whose averages fall between the </a:t>
            </a:r>
            <a:r>
              <a:rPr lang="en-US" sz="1400" b="1" dirty="0">
                <a:latin typeface="Times New Roman" panose="02020603050405020304" pitchFamily="18" charset="0"/>
                <a:cs typeface="Times New Roman" panose="02020603050405020304" pitchFamily="18" charset="0"/>
              </a:rPr>
              <a:t>25% and 75% </a:t>
            </a:r>
            <a:r>
              <a:rPr lang="en-US" sz="1400" dirty="0">
                <a:latin typeface="Times New Roman" panose="02020603050405020304" pitchFamily="18" charset="0"/>
                <a:cs typeface="Times New Roman" panose="02020603050405020304" pitchFamily="18" charset="0"/>
              </a:rPr>
              <a:t>are categorized as “</a:t>
            </a:r>
            <a:r>
              <a:rPr lang="en-US" sz="1400" b="1" dirty="0">
                <a:latin typeface="Times New Roman" panose="02020603050405020304" pitchFamily="18" charset="0"/>
                <a:cs typeface="Times New Roman" panose="02020603050405020304" pitchFamily="18" charset="0"/>
              </a:rPr>
              <a:t>moderately talkative</a:t>
            </a:r>
            <a:r>
              <a:rPr lang="en-US" sz="1400" dirty="0">
                <a:latin typeface="Times New Roman" panose="02020603050405020304" pitchFamily="18" charset="0"/>
                <a:cs typeface="Times New Roman" panose="02020603050405020304" pitchFamily="18" charset="0"/>
              </a:rPr>
              <a:t>,” while those below the </a:t>
            </a:r>
            <a:r>
              <a:rPr lang="en-US" sz="1400" b="1" dirty="0">
                <a:latin typeface="Times New Roman" panose="02020603050405020304" pitchFamily="18" charset="0"/>
                <a:cs typeface="Times New Roman" panose="02020603050405020304" pitchFamily="18" charset="0"/>
              </a:rPr>
              <a:t>25%</a:t>
            </a:r>
            <a:r>
              <a:rPr lang="en-US" sz="1400" dirty="0">
                <a:latin typeface="Times New Roman" panose="02020603050405020304" pitchFamily="18" charset="0"/>
                <a:cs typeface="Times New Roman" panose="02020603050405020304" pitchFamily="18" charset="0"/>
              </a:rPr>
              <a:t> are considered “</a:t>
            </a:r>
            <a:r>
              <a:rPr lang="en-US" sz="1400" b="1" dirty="0">
                <a:latin typeface="Times New Roman" panose="02020603050405020304" pitchFamily="18" charset="0"/>
                <a:cs typeface="Times New Roman" panose="02020603050405020304" pitchFamily="18" charset="0"/>
              </a:rPr>
              <a:t>rarely talkative</a:t>
            </a:r>
            <a:r>
              <a:rPr lang="en-US" sz="1400" dirty="0">
                <a:latin typeface="Times New Roman" panose="02020603050405020304" pitchFamily="18" charset="0"/>
                <a:cs typeface="Times New Roman" panose="02020603050405020304" pitchFamily="18" charset="0"/>
              </a:rPr>
              <a:t>.” </a:t>
            </a:r>
            <a:endParaRPr lang="de-DE" sz="14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54D4E3ED-264E-8E44-931F-F7DBAEA133E0}"/>
              </a:ext>
            </a:extLst>
          </p:cNvPr>
          <p:cNvSpPr>
            <a:spLocks noGrp="1"/>
          </p:cNvSpPr>
          <p:nvPr>
            <p:ph type="sldNum" sz="quarter" idx="16"/>
          </p:nvPr>
        </p:nvSpPr>
        <p:spPr/>
        <p:txBody>
          <a:bodyPr/>
          <a:lstStyle/>
          <a:p>
            <a:fld id="{9E82CC3C-1DC0-4FDA-9590-6CC506AB67F8}" type="slidenum">
              <a:rPr lang="en-US" smtClean="0"/>
              <a:pPr/>
              <a:t>17</a:t>
            </a:fld>
            <a:endParaRPr lang="en-US" dirty="0"/>
          </a:p>
        </p:txBody>
      </p:sp>
    </p:spTree>
    <p:extLst>
      <p:ext uri="{BB962C8B-B14F-4D97-AF65-F5344CB8AC3E}">
        <p14:creationId xmlns:p14="http://schemas.microsoft.com/office/powerpoint/2010/main" val="74625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673DA4-59A6-6D8C-8BA3-F0ECEC4FF00D}"/>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31BDB92C-6757-C5FB-1D8C-C744F74D5823}"/>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96C9B182-57E1-7E1B-35C6-A70E8706D455}"/>
              </a:ext>
            </a:extLst>
          </p:cNvPr>
          <p:cNvSpPr>
            <a:spLocks noGrp="1"/>
          </p:cNvSpPr>
          <p:nvPr>
            <p:ph type="sldNum" sz="quarter" idx="16"/>
          </p:nvPr>
        </p:nvSpPr>
        <p:spPr/>
        <p:txBody>
          <a:bodyPr/>
          <a:lstStyle/>
          <a:p>
            <a:fld id="{9E82CC3C-1DC0-4FDA-9590-6CC506AB67F8}" type="slidenum">
              <a:rPr lang="en-US" smtClean="0"/>
              <a:pPr/>
              <a:t>18</a:t>
            </a:fld>
            <a:endParaRPr lang="en-US" dirty="0"/>
          </a:p>
        </p:txBody>
      </p:sp>
      <p:graphicFrame>
        <p:nvGraphicFramePr>
          <p:cNvPr id="13" name="Inhaltsplatzhalter 12">
            <a:extLst>
              <a:ext uri="{FF2B5EF4-FFF2-40B4-BE49-F238E27FC236}">
                <a16:creationId xmlns:a16="http://schemas.microsoft.com/office/drawing/2014/main" id="{71B07FE2-AFEF-533D-B3A1-EF1D3A51316A}"/>
              </a:ext>
            </a:extLst>
          </p:cNvPr>
          <p:cNvGraphicFramePr>
            <a:graphicFrameLocks noGrp="1"/>
          </p:cNvGraphicFramePr>
          <p:nvPr>
            <p:ph idx="1"/>
            <p:extLst>
              <p:ext uri="{D42A27DB-BD31-4B8C-83A1-F6EECF244321}">
                <p14:modId xmlns:p14="http://schemas.microsoft.com/office/powerpoint/2010/main" val="1596488633"/>
              </p:ext>
            </p:extLst>
          </p:nvPr>
        </p:nvGraphicFramePr>
        <p:xfrm>
          <a:off x="537484" y="1362761"/>
          <a:ext cx="5648325" cy="2899352"/>
        </p:xfrm>
        <a:graphic>
          <a:graphicData uri="http://schemas.openxmlformats.org/drawingml/2006/table">
            <a:tbl>
              <a:tblPr firstRow="1" firstCol="1" bandRow="1">
                <a:tableStyleId>{5C22544A-7EE6-4342-B048-85BDC9FD1C3A}</a:tableStyleId>
              </a:tblPr>
              <a:tblGrid>
                <a:gridCol w="1402715">
                  <a:extLst>
                    <a:ext uri="{9D8B030D-6E8A-4147-A177-3AD203B41FA5}">
                      <a16:colId xmlns:a16="http://schemas.microsoft.com/office/drawing/2014/main" val="4277612825"/>
                    </a:ext>
                  </a:extLst>
                </a:gridCol>
                <a:gridCol w="1581150">
                  <a:extLst>
                    <a:ext uri="{9D8B030D-6E8A-4147-A177-3AD203B41FA5}">
                      <a16:colId xmlns:a16="http://schemas.microsoft.com/office/drawing/2014/main" val="2711386014"/>
                    </a:ext>
                  </a:extLst>
                </a:gridCol>
                <a:gridCol w="1414780">
                  <a:extLst>
                    <a:ext uri="{9D8B030D-6E8A-4147-A177-3AD203B41FA5}">
                      <a16:colId xmlns:a16="http://schemas.microsoft.com/office/drawing/2014/main" val="1777658232"/>
                    </a:ext>
                  </a:extLst>
                </a:gridCol>
                <a:gridCol w="1249680">
                  <a:extLst>
                    <a:ext uri="{9D8B030D-6E8A-4147-A177-3AD203B41FA5}">
                      <a16:colId xmlns:a16="http://schemas.microsoft.com/office/drawing/2014/main" val="1325737093"/>
                    </a:ext>
                  </a:extLst>
                </a:gridCol>
              </a:tblGrid>
              <a:tr h="0">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Murderer</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Number of Chapters in which she/he appears/Chapters of Novel</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Average number of speeches in each chapter</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Level of Talkativeness</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49048221"/>
                  </a:ext>
                </a:extLst>
              </a:tr>
              <a:tr h="0">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Jane Wilkinson</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6</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45</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highly</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09134331"/>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Miss Blacklog</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22</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29</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moderate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84215022"/>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Marina Gregg</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4</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63</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highly</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7962299"/>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Sheppard</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26</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27</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moderate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41618715"/>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F. Clarke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6</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38</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highly</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31132094"/>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Wargrave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41</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9</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rare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0440091"/>
                  </a:ext>
                </a:extLst>
              </a:tr>
              <a:tr h="0">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Knighton</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13</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12</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rare</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8747557"/>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Mason</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4</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18</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moderate</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29987583"/>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P. Redfern</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14</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16</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moderate </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66643777"/>
                  </a:ext>
                </a:extLst>
              </a:tr>
              <a:tr h="0">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C. Redfern </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13</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a:effectLst/>
                          <a:latin typeface="Times New Roman" panose="02020603050405020304" pitchFamily="18" charset="0"/>
                          <a:cs typeface="Times New Roman" panose="02020603050405020304" pitchFamily="18" charset="0"/>
                        </a:rPr>
                        <a:t>18</a:t>
                      </a:r>
                      <a:endParaRPr lang="de-DE" sz="12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US" sz="1000" kern="100" dirty="0">
                          <a:effectLst/>
                          <a:latin typeface="Times New Roman" panose="02020603050405020304" pitchFamily="18" charset="0"/>
                          <a:cs typeface="Times New Roman" panose="02020603050405020304" pitchFamily="18" charset="0"/>
                        </a:rPr>
                        <a:t>moderate</a:t>
                      </a:r>
                      <a:endParaRPr lang="de-DE" sz="12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34886738"/>
                  </a:ext>
                </a:extLst>
              </a:tr>
            </a:tbl>
          </a:graphicData>
        </a:graphic>
      </p:graphicFrame>
      <p:sp>
        <p:nvSpPr>
          <p:cNvPr id="14" name="Rectangle 4">
            <a:extLst>
              <a:ext uri="{FF2B5EF4-FFF2-40B4-BE49-F238E27FC236}">
                <a16:creationId xmlns:a16="http://schemas.microsoft.com/office/drawing/2014/main" id="{E8B90813-DA9F-4FA5-06AC-CD65A94F399A}"/>
              </a:ext>
            </a:extLst>
          </p:cNvPr>
          <p:cNvSpPr>
            <a:spLocks noChangeArrowheads="1"/>
          </p:cNvSpPr>
          <p:nvPr/>
        </p:nvSpPr>
        <p:spPr bwMode="auto">
          <a:xfrm>
            <a:off x="985838" y="1876425"/>
            <a:ext cx="7620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a:ln>
                  <a:noFill/>
                </a:ln>
                <a:solidFill>
                  <a:schemeClr val="tx1"/>
                </a:solidFill>
                <a:effectLst/>
                <a:latin typeface="Arial" panose="020B0604020202020204" pitchFamily="34" charset="0"/>
              </a:rPr>
            </a:b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18" name="Textfeld 17">
            <a:extLst>
              <a:ext uri="{FF2B5EF4-FFF2-40B4-BE49-F238E27FC236}">
                <a16:creationId xmlns:a16="http://schemas.microsoft.com/office/drawing/2014/main" id="{6B463846-26C2-B916-7522-1ABD436F9D9D}"/>
              </a:ext>
            </a:extLst>
          </p:cNvPr>
          <p:cNvSpPr txBox="1"/>
          <p:nvPr/>
        </p:nvSpPr>
        <p:spPr>
          <a:xfrm>
            <a:off x="466060" y="4306113"/>
            <a:ext cx="5899298" cy="341184"/>
          </a:xfrm>
          <a:prstGeom prst="rect">
            <a:avLst/>
          </a:prstGeom>
          <a:noFill/>
        </p:spPr>
        <p:txBody>
          <a:bodyPr wrap="square">
            <a:spAutoFit/>
          </a:bodyPr>
          <a:lstStyle/>
          <a:p>
            <a:pPr algn="just">
              <a:lnSpc>
                <a:spcPct val="150000"/>
              </a:lnSpc>
              <a:spcAft>
                <a:spcPts val="800"/>
              </a:spcAft>
              <a:buNone/>
            </a:pPr>
            <a:r>
              <a:rPr lang="en-US" sz="1200" kern="100" dirty="0">
                <a:effectLst/>
                <a:latin typeface="Times New Roman" panose="02020603050405020304" pitchFamily="18" charset="0"/>
                <a:ea typeface="DengXian" panose="02010600030101010101" pitchFamily="2" charset="-122"/>
                <a:cs typeface="Times New Roman" panose="02020603050405020304" pitchFamily="18" charset="0"/>
              </a:rPr>
              <a:t>Murderers’ Average Number of Speeches per Chapter of Appearance</a:t>
            </a:r>
            <a:endParaRPr lang="de-DE"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17432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05D7D9-54EB-762E-FCA3-211C3E52CB5E}"/>
              </a:ext>
            </a:extLst>
          </p:cNvPr>
          <p:cNvSpPr>
            <a:spLocks noGrp="1"/>
          </p:cNvSpPr>
          <p:nvPr>
            <p:ph type="title"/>
          </p:nvPr>
        </p:nvSpPr>
        <p:spPr/>
        <p:txBody>
          <a:bodyPr/>
          <a:lstStyle/>
          <a:p>
            <a:r>
              <a:rPr lang="de-DE" sz="1600" dirty="0">
                <a:latin typeface="Times New Roman" panose="02020603050405020304" pitchFamily="18" charset="0"/>
                <a:cs typeface="Times New Roman" panose="02020603050405020304" pitchFamily="18" charset="0"/>
              </a:rPr>
              <a:t>3.3 </a:t>
            </a:r>
            <a:r>
              <a:rPr lang="de-DE" dirty="0">
                <a:latin typeface="Times New Roman" panose="02020603050405020304" pitchFamily="18" charset="0"/>
                <a:cs typeface="Times New Roman" panose="02020603050405020304" pitchFamily="18" charset="0"/>
              </a:rPr>
              <a:t>Word2Vec</a:t>
            </a:r>
          </a:p>
        </p:txBody>
      </p:sp>
      <p:sp>
        <p:nvSpPr>
          <p:cNvPr id="3" name="Textplatzhalter 2">
            <a:extLst>
              <a:ext uri="{FF2B5EF4-FFF2-40B4-BE49-F238E27FC236}">
                <a16:creationId xmlns:a16="http://schemas.microsoft.com/office/drawing/2014/main" id="{85C78572-0EB6-7E83-4938-933875702D7D}"/>
              </a:ext>
            </a:extLst>
          </p:cNvPr>
          <p:cNvSpPr>
            <a:spLocks noGrp="1"/>
          </p:cNvSpPr>
          <p:nvPr>
            <p:ph type="body" sz="quarter" idx="13"/>
          </p:nvPr>
        </p:nvSpPr>
        <p:spPr>
          <a:xfrm>
            <a:off x="390263" y="1138743"/>
            <a:ext cx="6840000" cy="276225"/>
          </a:xfrm>
        </p:spPr>
        <p:txBody>
          <a:bodyPr/>
          <a:lstStyle/>
          <a:p>
            <a:r>
              <a:rPr lang="en-US" sz="1400" dirty="0">
                <a:latin typeface="Times New Roman" panose="02020603050405020304" pitchFamily="18" charset="0"/>
                <a:cs typeface="Times New Roman" panose="02020603050405020304" pitchFamily="18" charset="0"/>
              </a:rPr>
              <a:t>Corpus Preparation and Model Training</a:t>
            </a:r>
            <a:endParaRPr lang="de-DE" sz="1400" dirty="0">
              <a:latin typeface="Times New Roman" panose="02020603050405020304" pitchFamily="18" charset="0"/>
              <a:cs typeface="Times New Roman" panose="02020603050405020304" pitchFamily="18" charset="0"/>
            </a:endParaRPr>
          </a:p>
          <a:p>
            <a:endParaRPr lang="de-DE" dirty="0"/>
          </a:p>
        </p:txBody>
      </p:sp>
      <p:sp>
        <p:nvSpPr>
          <p:cNvPr id="4" name="Inhaltsplatzhalter 3">
            <a:extLst>
              <a:ext uri="{FF2B5EF4-FFF2-40B4-BE49-F238E27FC236}">
                <a16:creationId xmlns:a16="http://schemas.microsoft.com/office/drawing/2014/main" id="{24381F1D-CDD6-57B3-0CAC-3987903F271C}"/>
              </a:ext>
            </a:extLst>
          </p:cNvPr>
          <p:cNvSpPr>
            <a:spLocks noGrp="1"/>
          </p:cNvSpPr>
          <p:nvPr>
            <p:ph idx="1"/>
          </p:nvPr>
        </p:nvSpPr>
        <p:spPr>
          <a:xfrm>
            <a:off x="352078" y="1709604"/>
            <a:ext cx="6949922" cy="3708400"/>
          </a:xfrm>
        </p:spPr>
        <p:txBody>
          <a:bodyPr/>
          <a:lstStyle/>
          <a:p>
            <a:pPr algn="just"/>
            <a:r>
              <a:rPr lang="en-US" sz="1400" dirty="0">
                <a:latin typeface="Times New Roman" panose="02020603050405020304" pitchFamily="18" charset="0"/>
                <a:cs typeface="Times New Roman" panose="02020603050405020304" pitchFamily="18" charset="0"/>
              </a:rPr>
              <a:t>Contextualization of non-murderers is represented as comparison. Non-murderers in this study refer to detectives and the most suspicious characters (who are with the highest score of Mention) in each novel.</a:t>
            </a:r>
            <a:endParaRPr lang="de-DE" sz="1400" b="1" dirty="0">
              <a:latin typeface="Times New Roman" panose="02020603050405020304" pitchFamily="18" charset="0"/>
              <a:cs typeface="Times New Roman" panose="02020603050405020304" pitchFamily="18" charset="0"/>
            </a:endParaRPr>
          </a:p>
          <a:p>
            <a:pPr algn="just"/>
            <a:r>
              <a:rPr lang="de-DE" sz="1400" dirty="0">
                <a:latin typeface="Times New Roman" panose="02020603050405020304" pitchFamily="18" charset="0"/>
                <a:cs typeface="Times New Roman" panose="02020603050405020304" pitchFamily="18" charset="0"/>
              </a:rPr>
              <a:t>Eight </a:t>
            </a:r>
            <a:r>
              <a:rPr lang="de-DE" sz="1400" dirty="0" err="1">
                <a:latin typeface="Times New Roman" panose="02020603050405020304" pitchFamily="18" charset="0"/>
                <a:cs typeface="Times New Roman" panose="02020603050405020304" pitchFamily="18" charset="0"/>
              </a:rPr>
              <a:t>novels</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are</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combined</a:t>
            </a:r>
            <a:r>
              <a:rPr lang="de-DE"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All character names are standardized.</a:t>
            </a:r>
          </a:p>
          <a:p>
            <a:pPr algn="just"/>
            <a:r>
              <a:rPr lang="en-US" sz="1400" dirty="0">
                <a:latin typeface="Times New Roman" panose="02020603050405020304" pitchFamily="18" charset="0"/>
                <a:cs typeface="Times New Roman" panose="02020603050405020304" pitchFamily="18" charset="0"/>
              </a:rPr>
              <a:t>Training procedure follows methodological guidelines outlined in the </a:t>
            </a:r>
            <a:r>
              <a:rPr lang="en-US" sz="1400" i="1" dirty="0" err="1">
                <a:latin typeface="Times New Roman" panose="02020603050405020304" pitchFamily="18" charset="0"/>
                <a:cs typeface="Times New Roman" panose="02020603050405020304" pitchFamily="18" charset="0"/>
              </a:rPr>
              <a:t>forTEXT</a:t>
            </a:r>
            <a:r>
              <a:rPr lang="en-US" sz="1400" dirty="0">
                <a:latin typeface="Times New Roman" panose="02020603050405020304" pitchFamily="18" charset="0"/>
                <a:cs typeface="Times New Roman" panose="02020603050405020304" pitchFamily="18" charset="0"/>
              </a:rPr>
              <a:t> learning unit </a:t>
            </a:r>
            <a:r>
              <a:rPr lang="en-US" sz="1400" i="1" dirty="0">
                <a:latin typeface="Times New Roman" panose="02020603050405020304" pitchFamily="18" charset="0"/>
                <a:cs typeface="Times New Roman" panose="02020603050405020304" pitchFamily="18" charset="0"/>
              </a:rPr>
              <a:t>Word2Vec with </a:t>
            </a:r>
            <a:r>
              <a:rPr lang="en-US" sz="1400" i="1" dirty="0" err="1">
                <a:latin typeface="Times New Roman" panose="02020603050405020304" pitchFamily="18" charset="0"/>
                <a:cs typeface="Times New Roman" panose="02020603050405020304" pitchFamily="18" charset="0"/>
              </a:rPr>
              <a:t>Gensim</a:t>
            </a:r>
            <a:r>
              <a:rPr lang="en-US" sz="1400" dirty="0">
                <a:latin typeface="Times New Roman" panose="02020603050405020304" pitchFamily="18" charset="0"/>
                <a:cs typeface="Times New Roman" panose="02020603050405020304" pitchFamily="18" charset="0"/>
              </a:rPr>
              <a:t> (Schumacher, 2023b).</a:t>
            </a:r>
            <a:endParaRPr lang="de-DE" sz="1400" dirty="0">
              <a:latin typeface="Times New Roman" panose="02020603050405020304" pitchFamily="18" charset="0"/>
              <a:cs typeface="Times New Roman" panose="02020603050405020304" pitchFamily="18" charset="0"/>
            </a:endParaRPr>
          </a:p>
          <a:p>
            <a:endParaRPr lang="de-DE" b="1" dirty="0"/>
          </a:p>
          <a:p>
            <a:pPr marL="0" indent="0">
              <a:buNone/>
            </a:pPr>
            <a:endParaRPr lang="de-DE" b="1" dirty="0"/>
          </a:p>
        </p:txBody>
      </p:sp>
      <p:sp>
        <p:nvSpPr>
          <p:cNvPr id="7" name="Foliennummernplatzhalter 6">
            <a:extLst>
              <a:ext uri="{FF2B5EF4-FFF2-40B4-BE49-F238E27FC236}">
                <a16:creationId xmlns:a16="http://schemas.microsoft.com/office/drawing/2014/main" id="{CDEA0F45-C844-2B54-E98E-ADAEEEC8E8A7}"/>
              </a:ext>
            </a:extLst>
          </p:cNvPr>
          <p:cNvSpPr>
            <a:spLocks noGrp="1"/>
          </p:cNvSpPr>
          <p:nvPr>
            <p:ph type="sldNum" sz="quarter" idx="16"/>
          </p:nvPr>
        </p:nvSpPr>
        <p:spPr/>
        <p:txBody>
          <a:bodyPr/>
          <a:lstStyle/>
          <a:p>
            <a:fld id="{9E82CC3C-1DC0-4FDA-9590-6CC506AB67F8}" type="slidenum">
              <a:rPr lang="en-US" smtClean="0"/>
              <a:pPr/>
              <a:t>19</a:t>
            </a:fld>
            <a:endParaRPr lang="en-US" dirty="0"/>
          </a:p>
        </p:txBody>
      </p:sp>
    </p:spTree>
    <p:extLst>
      <p:ext uri="{BB962C8B-B14F-4D97-AF65-F5344CB8AC3E}">
        <p14:creationId xmlns:p14="http://schemas.microsoft.com/office/powerpoint/2010/main" val="2422993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5D7E61-8D20-ECD4-B7F8-258D64E1577A}"/>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AB2AF7BB-EDF1-1944-7EBF-BC9932C3FDB9}"/>
              </a:ext>
            </a:extLst>
          </p:cNvPr>
          <p:cNvSpPr>
            <a:spLocks noGrp="1"/>
          </p:cNvSpPr>
          <p:nvPr>
            <p:ph type="body" sz="quarter" idx="13"/>
          </p:nvPr>
        </p:nvSpPr>
        <p:spPr>
          <a:xfrm>
            <a:off x="566980" y="1312554"/>
            <a:ext cx="6840000" cy="276225"/>
          </a:xfrm>
        </p:spPr>
        <p:txBody>
          <a:bodyPr/>
          <a:lstStyle/>
          <a:p>
            <a:r>
              <a:rPr lang="de-DE" sz="1400" dirty="0" err="1">
                <a:latin typeface="Times New Roman" panose="02020603050405020304" pitchFamily="18" charset="0"/>
                <a:cs typeface="Times New Roman" panose="02020603050405020304" pitchFamily="18" charset="0"/>
              </a:rPr>
              <a:t>Semantic</a:t>
            </a:r>
            <a:r>
              <a:rPr lang="de-DE" sz="1400" dirty="0">
                <a:latin typeface="Times New Roman" panose="02020603050405020304" pitchFamily="18" charset="0"/>
                <a:cs typeface="Times New Roman" panose="02020603050405020304" pitchFamily="18" charset="0"/>
              </a:rPr>
              <a:t> Field </a:t>
            </a:r>
            <a:r>
              <a:rPr lang="de-DE" sz="1400" dirty="0" err="1">
                <a:latin typeface="Times New Roman" panose="02020603050405020304" pitchFamily="18" charset="0"/>
                <a:cs typeface="Times New Roman" panose="02020603050405020304" pitchFamily="18" charset="0"/>
              </a:rPr>
              <a:t>of</a:t>
            </a:r>
            <a:r>
              <a:rPr lang="de-DE" sz="1400" dirty="0">
                <a:latin typeface="Times New Roman" panose="02020603050405020304" pitchFamily="18" charset="0"/>
                <a:cs typeface="Times New Roman" panose="02020603050405020304" pitchFamily="18" charset="0"/>
              </a:rPr>
              <a:t> Target Character</a:t>
            </a:r>
          </a:p>
        </p:txBody>
      </p:sp>
      <p:sp>
        <p:nvSpPr>
          <p:cNvPr id="7" name="Foliennummernplatzhalter 6">
            <a:extLst>
              <a:ext uri="{FF2B5EF4-FFF2-40B4-BE49-F238E27FC236}">
                <a16:creationId xmlns:a16="http://schemas.microsoft.com/office/drawing/2014/main" id="{24A5533F-EA69-8197-1B73-84D97B2224A5}"/>
              </a:ext>
            </a:extLst>
          </p:cNvPr>
          <p:cNvSpPr>
            <a:spLocks noGrp="1"/>
          </p:cNvSpPr>
          <p:nvPr>
            <p:ph type="sldNum" sz="quarter" idx="16"/>
          </p:nvPr>
        </p:nvSpPr>
        <p:spPr/>
        <p:txBody>
          <a:bodyPr/>
          <a:lstStyle/>
          <a:p>
            <a:fld id="{9E82CC3C-1DC0-4FDA-9590-6CC506AB67F8}" type="slidenum">
              <a:rPr lang="en-US" smtClean="0"/>
              <a:pPr/>
              <a:t>20</a:t>
            </a:fld>
            <a:endParaRPr lang="en-US" dirty="0"/>
          </a:p>
        </p:txBody>
      </p:sp>
      <p:pic>
        <p:nvPicPr>
          <p:cNvPr id="8" name="Inhaltsplatzhalter 7">
            <a:extLst>
              <a:ext uri="{FF2B5EF4-FFF2-40B4-BE49-F238E27FC236}">
                <a16:creationId xmlns:a16="http://schemas.microsoft.com/office/drawing/2014/main" id="{F0817586-50BE-2E04-C5E7-6A97E90ADC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856" y="2137176"/>
            <a:ext cx="2600688" cy="1657581"/>
          </a:xfrm>
          <a:prstGeom prst="rect">
            <a:avLst/>
          </a:prstGeom>
        </p:spPr>
      </p:pic>
      <p:pic>
        <p:nvPicPr>
          <p:cNvPr id="9" name="Grafik 8">
            <a:extLst>
              <a:ext uri="{FF2B5EF4-FFF2-40B4-BE49-F238E27FC236}">
                <a16:creationId xmlns:a16="http://schemas.microsoft.com/office/drawing/2014/main" id="{63A8582C-1F82-8C26-8A2F-247ABE4996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7873" y="2185032"/>
            <a:ext cx="2543175" cy="1609725"/>
          </a:xfrm>
          <a:prstGeom prst="rect">
            <a:avLst/>
          </a:prstGeom>
        </p:spPr>
      </p:pic>
      <p:sp>
        <p:nvSpPr>
          <p:cNvPr id="11" name="Textfeld 10">
            <a:extLst>
              <a:ext uri="{FF2B5EF4-FFF2-40B4-BE49-F238E27FC236}">
                <a16:creationId xmlns:a16="http://schemas.microsoft.com/office/drawing/2014/main" id="{DFB39561-0F8C-908E-C229-7F1CE4B44AB4}"/>
              </a:ext>
            </a:extLst>
          </p:cNvPr>
          <p:cNvSpPr txBox="1"/>
          <p:nvPr/>
        </p:nvSpPr>
        <p:spPr>
          <a:xfrm>
            <a:off x="680856" y="3960636"/>
            <a:ext cx="5500204" cy="276999"/>
          </a:xfrm>
          <a:prstGeom prst="rect">
            <a:avLst/>
          </a:prstGeom>
          <a:noFill/>
        </p:spPr>
        <p:txBody>
          <a:bodyPr wrap="square">
            <a:spAutoFit/>
          </a:bodyPr>
          <a:lstStyle/>
          <a:p>
            <a:r>
              <a:rPr lang="en-US" sz="1200" dirty="0">
                <a:effectLst/>
                <a:latin typeface="Times New Roman" panose="02020603050405020304" pitchFamily="18" charset="0"/>
                <a:ea typeface="DengXian" panose="02010600030101010101" pitchFamily="2" charset="-122"/>
              </a:rPr>
              <a:t>Semantic Filed of Miss </a:t>
            </a:r>
            <a:r>
              <a:rPr lang="en-US" sz="1200" dirty="0" err="1">
                <a:effectLst/>
                <a:latin typeface="Times New Roman" panose="02020603050405020304" pitchFamily="18" charset="0"/>
                <a:ea typeface="DengXian" panose="02010600030101010101" pitchFamily="2" charset="-122"/>
              </a:rPr>
              <a:t>Blacklog</a:t>
            </a:r>
            <a:r>
              <a:rPr lang="en-US" sz="1200" dirty="0">
                <a:effectLst/>
                <a:latin typeface="Times New Roman" panose="02020603050405020304" pitchFamily="18" charset="0"/>
                <a:ea typeface="DengXian" panose="02010600030101010101" pitchFamily="2" charset="-122"/>
              </a:rPr>
              <a:t> with Top 20 Most Similar Words</a:t>
            </a:r>
            <a:endParaRPr lang="de-DE" sz="1200" dirty="0"/>
          </a:p>
        </p:txBody>
      </p:sp>
    </p:spTree>
    <p:extLst>
      <p:ext uri="{BB962C8B-B14F-4D97-AF65-F5344CB8AC3E}">
        <p14:creationId xmlns:p14="http://schemas.microsoft.com/office/powerpoint/2010/main" val="2404083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EBE28E-5688-8E5D-CCCE-66514B945A7B}"/>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893BAF55-8E6C-4B1F-D62F-C28D5A34B073}"/>
              </a:ext>
            </a:extLst>
          </p:cNvPr>
          <p:cNvSpPr>
            <a:spLocks noGrp="1"/>
          </p:cNvSpPr>
          <p:nvPr>
            <p:ph type="body" sz="quarter" idx="13"/>
          </p:nvPr>
        </p:nvSpPr>
        <p:spPr/>
        <p:txBody>
          <a:bodyPr/>
          <a:lstStyle/>
          <a:p>
            <a:r>
              <a:rPr lang="en-US" sz="1600" dirty="0">
                <a:latin typeface="Times New Roman" panose="02020603050405020304" pitchFamily="18" charset="0"/>
                <a:cs typeface="Times New Roman" panose="02020603050405020304" pitchFamily="18" charset="0"/>
              </a:rPr>
              <a:t>t-SNE Visualization (1)</a:t>
            </a:r>
            <a:endParaRPr lang="de-DE" sz="16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46828A37-FC35-E62F-540F-62F532C93E3A}"/>
              </a:ext>
            </a:extLst>
          </p:cNvPr>
          <p:cNvSpPr>
            <a:spLocks noGrp="1"/>
          </p:cNvSpPr>
          <p:nvPr>
            <p:ph type="sldNum" sz="quarter" idx="16"/>
          </p:nvPr>
        </p:nvSpPr>
        <p:spPr/>
        <p:txBody>
          <a:bodyPr/>
          <a:lstStyle/>
          <a:p>
            <a:fld id="{9E82CC3C-1DC0-4FDA-9590-6CC506AB67F8}" type="slidenum">
              <a:rPr lang="en-US" smtClean="0"/>
              <a:pPr/>
              <a:t>21</a:t>
            </a:fld>
            <a:endParaRPr lang="en-US" dirty="0"/>
          </a:p>
        </p:txBody>
      </p:sp>
      <p:pic>
        <p:nvPicPr>
          <p:cNvPr id="8" name="Inhaltsplatzhalter 7">
            <a:extLst>
              <a:ext uri="{FF2B5EF4-FFF2-40B4-BE49-F238E27FC236}">
                <a16:creationId xmlns:a16="http://schemas.microsoft.com/office/drawing/2014/main" id="{5CBC983F-0289-293F-501D-A637F1BE21D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2140" y="1654234"/>
            <a:ext cx="5573952" cy="3204711"/>
          </a:xfrm>
          <a:prstGeom prst="rect">
            <a:avLst/>
          </a:prstGeom>
        </p:spPr>
      </p:pic>
      <p:sp>
        <p:nvSpPr>
          <p:cNvPr id="10" name="Textfeld 9">
            <a:extLst>
              <a:ext uri="{FF2B5EF4-FFF2-40B4-BE49-F238E27FC236}">
                <a16:creationId xmlns:a16="http://schemas.microsoft.com/office/drawing/2014/main" id="{B74B8585-A1E1-9F3C-4DA6-6148DA88A684}"/>
              </a:ext>
            </a:extLst>
          </p:cNvPr>
          <p:cNvSpPr txBox="1"/>
          <p:nvPr/>
        </p:nvSpPr>
        <p:spPr>
          <a:xfrm>
            <a:off x="1160209" y="4904885"/>
            <a:ext cx="5445642" cy="292709"/>
          </a:xfrm>
          <a:prstGeom prst="rect">
            <a:avLst/>
          </a:prstGeom>
          <a:noFill/>
        </p:spPr>
        <p:txBody>
          <a:bodyPr wrap="square">
            <a:spAutoFit/>
          </a:bodyPr>
          <a:lstStyle/>
          <a:p>
            <a:pPr algn="just">
              <a:lnSpc>
                <a:spcPct val="115000"/>
              </a:lnSpc>
              <a:spcAft>
                <a:spcPts val="800"/>
              </a:spcAft>
              <a:buNone/>
            </a:pPr>
            <a:r>
              <a:rPr lang="en-US" sz="1200" kern="100" dirty="0">
                <a:effectLst/>
                <a:latin typeface="Times New Roman" panose="02020603050405020304" pitchFamily="18" charset="0"/>
                <a:ea typeface="DengXian" panose="02010600030101010101" pitchFamily="2" charset="-122"/>
                <a:cs typeface="Times New Roman" panose="02020603050405020304" pitchFamily="18" charset="0"/>
              </a:rPr>
              <a:t>t-SNE Representation of Semantic Fields of Murders and Non-Murderers individually</a:t>
            </a:r>
            <a:endParaRPr lang="de-DE"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1641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CBFB99-E24D-7312-78D1-D454AA7CFB69}"/>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D2EB7689-3216-A39F-419A-C96A9A37C3FC}"/>
              </a:ext>
            </a:extLst>
          </p:cNvPr>
          <p:cNvSpPr>
            <a:spLocks noGrp="1"/>
          </p:cNvSpPr>
          <p:nvPr>
            <p:ph type="body" sz="quarter" idx="13"/>
          </p:nvPr>
        </p:nvSpPr>
        <p:spPr>
          <a:xfrm>
            <a:off x="390000" y="742788"/>
            <a:ext cx="6840000" cy="276225"/>
          </a:xfrm>
        </p:spPr>
        <p:txBody>
          <a:bodyPr/>
          <a:lstStyle/>
          <a:p>
            <a:r>
              <a:rPr lang="en-US" sz="1600" dirty="0">
                <a:latin typeface="Times New Roman" panose="02020603050405020304" pitchFamily="18" charset="0"/>
                <a:cs typeface="Times New Roman" panose="02020603050405020304" pitchFamily="18" charset="0"/>
              </a:rPr>
              <a:t>t-SNE Visualization (2)</a:t>
            </a:r>
            <a:endParaRPr lang="de-DE" sz="1600" dirty="0">
              <a:latin typeface="Times New Roman" panose="02020603050405020304" pitchFamily="18" charset="0"/>
              <a:cs typeface="Times New Roman" panose="02020603050405020304" pitchFamily="18" charset="0"/>
            </a:endParaRPr>
          </a:p>
          <a:p>
            <a:endParaRPr lang="de-DE" dirty="0"/>
          </a:p>
        </p:txBody>
      </p:sp>
      <p:sp>
        <p:nvSpPr>
          <p:cNvPr id="7" name="Foliennummernplatzhalter 6">
            <a:extLst>
              <a:ext uri="{FF2B5EF4-FFF2-40B4-BE49-F238E27FC236}">
                <a16:creationId xmlns:a16="http://schemas.microsoft.com/office/drawing/2014/main" id="{C5532DAB-09C1-F2C8-BCE5-406717CCD719}"/>
              </a:ext>
            </a:extLst>
          </p:cNvPr>
          <p:cNvSpPr>
            <a:spLocks noGrp="1"/>
          </p:cNvSpPr>
          <p:nvPr>
            <p:ph type="sldNum" sz="quarter" idx="16"/>
          </p:nvPr>
        </p:nvSpPr>
        <p:spPr/>
        <p:txBody>
          <a:bodyPr/>
          <a:lstStyle/>
          <a:p>
            <a:fld id="{9E82CC3C-1DC0-4FDA-9590-6CC506AB67F8}" type="slidenum">
              <a:rPr lang="en-US" smtClean="0"/>
              <a:pPr/>
              <a:t>22</a:t>
            </a:fld>
            <a:endParaRPr lang="en-US" dirty="0"/>
          </a:p>
        </p:txBody>
      </p:sp>
      <p:pic>
        <p:nvPicPr>
          <p:cNvPr id="8" name="Inhaltsplatzhalter 7">
            <a:extLst>
              <a:ext uri="{FF2B5EF4-FFF2-40B4-BE49-F238E27FC236}">
                <a16:creationId xmlns:a16="http://schemas.microsoft.com/office/drawing/2014/main" id="{F400E7FA-0BAF-4393-1C55-53B5BF619E3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23024" y="1674535"/>
            <a:ext cx="5573952" cy="3121580"/>
          </a:xfrm>
          <a:prstGeom prst="rect">
            <a:avLst/>
          </a:prstGeom>
        </p:spPr>
      </p:pic>
      <p:sp>
        <p:nvSpPr>
          <p:cNvPr id="10" name="Textfeld 9">
            <a:extLst>
              <a:ext uri="{FF2B5EF4-FFF2-40B4-BE49-F238E27FC236}">
                <a16:creationId xmlns:a16="http://schemas.microsoft.com/office/drawing/2014/main" id="{CBC4328C-069B-4C47-115A-869BC5438641}"/>
              </a:ext>
            </a:extLst>
          </p:cNvPr>
          <p:cNvSpPr txBox="1"/>
          <p:nvPr/>
        </p:nvSpPr>
        <p:spPr>
          <a:xfrm>
            <a:off x="1174898" y="4796115"/>
            <a:ext cx="5422078" cy="292709"/>
          </a:xfrm>
          <a:prstGeom prst="rect">
            <a:avLst/>
          </a:prstGeom>
          <a:noFill/>
        </p:spPr>
        <p:txBody>
          <a:bodyPr wrap="square">
            <a:spAutoFit/>
          </a:bodyPr>
          <a:lstStyle/>
          <a:p>
            <a:pPr algn="just">
              <a:lnSpc>
                <a:spcPct val="115000"/>
              </a:lnSpc>
              <a:spcAft>
                <a:spcPts val="800"/>
              </a:spcAft>
              <a:buNone/>
            </a:pPr>
            <a:r>
              <a:rPr lang="en-US" sz="1200" kern="100" dirty="0">
                <a:effectLst/>
                <a:latin typeface="Times New Roman" panose="02020603050405020304" pitchFamily="18" charset="0"/>
                <a:ea typeface="DengXian" panose="02010600030101010101" pitchFamily="2" charset="-122"/>
                <a:cs typeface="Times New Roman" panose="02020603050405020304" pitchFamily="18" charset="0"/>
              </a:rPr>
              <a:t>t-SNE Representation of Semantic Fields of Murders and Non-Murderers in Group</a:t>
            </a:r>
            <a:endParaRPr lang="de-DE"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65057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2A1F36-2034-5CFD-43BF-BAD81869C8A6}"/>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CE77C345-F072-DF76-043E-9DAEA321641A}"/>
              </a:ext>
            </a:extLst>
          </p:cNvPr>
          <p:cNvSpPr>
            <a:spLocks noGrp="1"/>
          </p:cNvSpPr>
          <p:nvPr>
            <p:ph type="body" sz="quarter" idx="13"/>
          </p:nvPr>
        </p:nvSpPr>
        <p:spPr/>
        <p:txBody>
          <a:bodyPr/>
          <a:lstStyle/>
          <a:p>
            <a:r>
              <a:rPr lang="en-US" sz="1600" dirty="0">
                <a:latin typeface="Times New Roman" panose="02020603050405020304" pitchFamily="18" charset="0"/>
                <a:cs typeface="Times New Roman" panose="02020603050405020304" pitchFamily="18" charset="0"/>
              </a:rPr>
              <a:t>T-test </a:t>
            </a:r>
            <a:endParaRPr lang="de-DE" sz="1600"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81C2D4C5-BDBA-9A64-9D9A-80C84C57D553}"/>
              </a:ext>
            </a:extLst>
          </p:cNvPr>
          <p:cNvSpPr>
            <a:spLocks noGrp="1"/>
          </p:cNvSpPr>
          <p:nvPr>
            <p:ph idx="1"/>
          </p:nvPr>
        </p:nvSpPr>
        <p:spPr/>
        <p:txBody>
          <a:bodyPr/>
          <a:lstStyle/>
          <a:p>
            <a:pPr marL="0" indent="0">
              <a:buNone/>
            </a:pPr>
            <a:r>
              <a:rPr lang="en-US" sz="1400" dirty="0">
                <a:latin typeface="Times New Roman" panose="02020603050405020304" pitchFamily="18" charset="0"/>
                <a:cs typeface="Times New Roman" panose="02020603050405020304" pitchFamily="18" charset="0"/>
              </a:rPr>
              <a:t>Why T-test?</a:t>
            </a:r>
          </a:p>
          <a:p>
            <a:r>
              <a:rPr lang="en-US" sz="1400" dirty="0">
                <a:latin typeface="Times New Roman" panose="02020603050405020304" pitchFamily="18" charset="0"/>
                <a:cs typeface="Times New Roman" panose="02020603050405020304" pitchFamily="18" charset="0"/>
              </a:rPr>
              <a:t>the data consists of two independent groups (murderers and non-murderers) </a:t>
            </a:r>
          </a:p>
          <a:p>
            <a:r>
              <a:rPr lang="en-US" sz="1400" dirty="0">
                <a:latin typeface="Times New Roman" panose="02020603050405020304" pitchFamily="18" charset="0"/>
                <a:cs typeface="Times New Roman" panose="02020603050405020304" pitchFamily="18" charset="0"/>
              </a:rPr>
              <a:t>a numerical measure for each character (the mean of the Word2Vec embeddings)</a:t>
            </a:r>
          </a:p>
          <a:p>
            <a:r>
              <a:rPr lang="en-US" sz="1400" dirty="0">
                <a:latin typeface="Times New Roman" panose="02020603050405020304" pitchFamily="18" charset="0"/>
                <a:cs typeface="Times New Roman" panose="02020603050405020304" pitchFamily="18" charset="0"/>
              </a:rPr>
              <a:t>robust against violation of normal distribution</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Result: </a:t>
            </a:r>
          </a:p>
          <a:p>
            <a:pPr marL="0" indent="0">
              <a:buNone/>
            </a:pPr>
            <a:r>
              <a:rPr lang="en-US" sz="1400" dirty="0">
                <a:latin typeface="Times New Roman" panose="02020603050405020304" pitchFamily="18" charset="0"/>
                <a:cs typeface="Times New Roman" panose="02020603050405020304" pitchFamily="18" charset="0"/>
              </a:rPr>
              <a:t>p-value is 0.426: murderers do not differ statistically from non-murderers in terms of the semantic content of their language.</a:t>
            </a:r>
          </a:p>
        </p:txBody>
      </p:sp>
      <p:sp>
        <p:nvSpPr>
          <p:cNvPr id="7" name="Foliennummernplatzhalter 6">
            <a:extLst>
              <a:ext uri="{FF2B5EF4-FFF2-40B4-BE49-F238E27FC236}">
                <a16:creationId xmlns:a16="http://schemas.microsoft.com/office/drawing/2014/main" id="{C99830D8-23CF-1A25-97F9-2F39441F4AF2}"/>
              </a:ext>
            </a:extLst>
          </p:cNvPr>
          <p:cNvSpPr>
            <a:spLocks noGrp="1"/>
          </p:cNvSpPr>
          <p:nvPr>
            <p:ph type="sldNum" sz="quarter" idx="16"/>
          </p:nvPr>
        </p:nvSpPr>
        <p:spPr/>
        <p:txBody>
          <a:bodyPr/>
          <a:lstStyle/>
          <a:p>
            <a:fld id="{9E82CC3C-1DC0-4FDA-9590-6CC506AB67F8}" type="slidenum">
              <a:rPr lang="en-US" smtClean="0"/>
              <a:pPr/>
              <a:t>23</a:t>
            </a:fld>
            <a:endParaRPr lang="en-US" dirty="0"/>
          </a:p>
        </p:txBody>
      </p:sp>
    </p:spTree>
    <p:extLst>
      <p:ext uri="{BB962C8B-B14F-4D97-AF65-F5344CB8AC3E}">
        <p14:creationId xmlns:p14="http://schemas.microsoft.com/office/powerpoint/2010/main" val="823048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C4B5EB-F4C2-A338-ED79-6BC330777E45}"/>
              </a:ext>
            </a:extLst>
          </p:cNvPr>
          <p:cNvSpPr>
            <a:spLocks noGrp="1"/>
          </p:cNvSpPr>
          <p:nvPr>
            <p:ph type="title"/>
          </p:nvPr>
        </p:nvSpPr>
        <p:spPr>
          <a:xfrm>
            <a:off x="462521" y="486330"/>
            <a:ext cx="6839479" cy="278290"/>
          </a:xfrm>
        </p:spPr>
        <p:txBody>
          <a:bodyPr/>
          <a:lstStyle/>
          <a:p>
            <a:r>
              <a:rPr lang="de-DE" dirty="0">
                <a:latin typeface="Times New Roman" panose="02020603050405020304" pitchFamily="18" charset="0"/>
                <a:cs typeface="Times New Roman" panose="02020603050405020304" pitchFamily="18" charset="0"/>
              </a:rPr>
              <a:t>3.4 Sentiment Analysis</a:t>
            </a:r>
          </a:p>
        </p:txBody>
      </p:sp>
      <p:sp>
        <p:nvSpPr>
          <p:cNvPr id="4" name="Inhaltsplatzhalter 3">
            <a:extLst>
              <a:ext uri="{FF2B5EF4-FFF2-40B4-BE49-F238E27FC236}">
                <a16:creationId xmlns:a16="http://schemas.microsoft.com/office/drawing/2014/main" id="{28B1414E-E4D2-5B12-103F-2310036AFB06}"/>
              </a:ext>
            </a:extLst>
          </p:cNvPr>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To investigate how sentiment is linguistically constructed around the murderers </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study applies lexicon-based computational sentiment analysis to the linguistic modifiers surrounding the murderers in the selected novels</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Both murderers and detectives’ sentiment scores are to be considered.</a:t>
            </a:r>
            <a:endParaRPr lang="de-DE" sz="14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F0B10AC6-4EEB-CB73-2285-F287F9EB2910}"/>
              </a:ext>
            </a:extLst>
          </p:cNvPr>
          <p:cNvSpPr>
            <a:spLocks noGrp="1"/>
          </p:cNvSpPr>
          <p:nvPr>
            <p:ph type="sldNum" sz="quarter" idx="16"/>
          </p:nvPr>
        </p:nvSpPr>
        <p:spPr/>
        <p:txBody>
          <a:bodyPr/>
          <a:lstStyle/>
          <a:p>
            <a:fld id="{9E82CC3C-1DC0-4FDA-9590-6CC506AB67F8}" type="slidenum">
              <a:rPr lang="en-US" smtClean="0"/>
              <a:pPr/>
              <a:t>24</a:t>
            </a:fld>
            <a:endParaRPr lang="en-US" dirty="0"/>
          </a:p>
        </p:txBody>
      </p:sp>
    </p:spTree>
    <p:extLst>
      <p:ext uri="{BB962C8B-B14F-4D97-AF65-F5344CB8AC3E}">
        <p14:creationId xmlns:p14="http://schemas.microsoft.com/office/powerpoint/2010/main" val="4220466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9B52C5-5946-F62B-2E85-94B926CB014D}"/>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355CB553-BB1F-89A9-D04B-9FB8E578329D}"/>
              </a:ext>
            </a:extLst>
          </p:cNvPr>
          <p:cNvSpPr>
            <a:spLocks noGrp="1"/>
          </p:cNvSpPr>
          <p:nvPr>
            <p:ph type="body" sz="quarter" idx="13"/>
          </p:nvPr>
        </p:nvSpPr>
        <p:spPr>
          <a:xfrm>
            <a:off x="390263" y="874312"/>
            <a:ext cx="6840000" cy="276225"/>
          </a:xfrm>
        </p:spPr>
        <p:txBody>
          <a:bodyPr/>
          <a:lstStyle/>
          <a:p>
            <a:r>
              <a:rPr lang="en-US" sz="1400" dirty="0">
                <a:latin typeface="Times New Roman" panose="02020603050405020304" pitchFamily="18" charset="0"/>
                <a:cs typeface="Times New Roman" panose="02020603050405020304" pitchFamily="18" charset="0"/>
              </a:rPr>
              <a:t>Identification of Modifiers</a:t>
            </a:r>
            <a:endParaRPr lang="de-DE" sz="1400"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F9250872-848D-6B27-6670-64A49662A467}"/>
              </a:ext>
            </a:extLst>
          </p:cNvPr>
          <p:cNvSpPr>
            <a:spLocks noGrp="1"/>
          </p:cNvSpPr>
          <p:nvPr>
            <p:ph idx="1"/>
          </p:nvPr>
        </p:nvSpPr>
        <p:spPr/>
        <p:txBody>
          <a:bodyPr/>
          <a:lstStyle/>
          <a:p>
            <a:pPr marL="0" indent="0" algn="just">
              <a:buNone/>
            </a:pPr>
            <a:r>
              <a:rPr lang="de-DE" sz="1400" dirty="0" err="1">
                <a:latin typeface="Times New Roman" panose="02020603050405020304" pitchFamily="18" charset="0"/>
                <a:cs typeface="Times New Roman" panose="02020603050405020304" pitchFamily="18" charset="0"/>
              </a:rPr>
              <a:t>search</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tool</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AntConc</a:t>
            </a:r>
            <a:r>
              <a:rPr lang="de-DE" sz="1400" dirty="0">
                <a:latin typeface="Times New Roman" panose="02020603050405020304" pitchFamily="18" charset="0"/>
                <a:cs typeface="Times New Roman" panose="02020603050405020304" pitchFamily="18" charset="0"/>
              </a:rPr>
              <a:t> , </a:t>
            </a:r>
            <a:r>
              <a:rPr lang="de-DE" sz="1400" i="1" dirty="0">
                <a:latin typeface="Times New Roman" panose="02020603050405020304" pitchFamily="18" charset="0"/>
                <a:cs typeface="Times New Roman" panose="02020603050405020304" pitchFamily="18" charset="0"/>
              </a:rPr>
              <a:t>Cluster</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function</a:t>
            </a:r>
            <a:r>
              <a:rPr lang="de-DE"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search range is set to include one word before and after the term </a:t>
            </a:r>
          </a:p>
          <a:p>
            <a:pPr marL="0" indent="0">
              <a:buNone/>
            </a:pPr>
            <a:endParaRPr lang="en-US" dirty="0"/>
          </a:p>
          <a:p>
            <a:pPr marL="0" indent="0">
              <a:buNone/>
            </a:pPr>
            <a:endParaRPr lang="de-DE" dirty="0"/>
          </a:p>
        </p:txBody>
      </p:sp>
      <p:sp>
        <p:nvSpPr>
          <p:cNvPr id="7" name="Foliennummernplatzhalter 6">
            <a:extLst>
              <a:ext uri="{FF2B5EF4-FFF2-40B4-BE49-F238E27FC236}">
                <a16:creationId xmlns:a16="http://schemas.microsoft.com/office/drawing/2014/main" id="{72052949-F881-0499-8D05-AC66933BF28B}"/>
              </a:ext>
            </a:extLst>
          </p:cNvPr>
          <p:cNvSpPr>
            <a:spLocks noGrp="1"/>
          </p:cNvSpPr>
          <p:nvPr>
            <p:ph type="sldNum" sz="quarter" idx="16"/>
          </p:nvPr>
        </p:nvSpPr>
        <p:spPr/>
        <p:txBody>
          <a:bodyPr/>
          <a:lstStyle/>
          <a:p>
            <a:fld id="{9E82CC3C-1DC0-4FDA-9590-6CC506AB67F8}" type="slidenum">
              <a:rPr lang="en-US" smtClean="0"/>
              <a:pPr/>
              <a:t>25</a:t>
            </a:fld>
            <a:endParaRPr lang="en-US" dirty="0"/>
          </a:p>
        </p:txBody>
      </p:sp>
      <p:pic>
        <p:nvPicPr>
          <p:cNvPr id="8" name="Grafik 7">
            <a:extLst>
              <a:ext uri="{FF2B5EF4-FFF2-40B4-BE49-F238E27FC236}">
                <a16:creationId xmlns:a16="http://schemas.microsoft.com/office/drawing/2014/main" id="{BD083726-462D-6B9C-5364-0997FA9413A3}"/>
              </a:ext>
            </a:extLst>
          </p:cNvPr>
          <p:cNvPicPr>
            <a:picLocks noChangeAspect="1"/>
          </p:cNvPicPr>
          <p:nvPr/>
        </p:nvPicPr>
        <p:blipFill rotWithShape="1">
          <a:blip r:embed="rId2">
            <a:extLst>
              <a:ext uri="{28A0092B-C50C-407E-A947-70E740481C1C}">
                <a14:useLocalDpi xmlns:a14="http://schemas.microsoft.com/office/drawing/2010/main" val="0"/>
              </a:ext>
            </a:extLst>
          </a:blip>
          <a:srcRect r="2376" b="35363"/>
          <a:stretch>
            <a:fillRect/>
          </a:stretch>
        </p:blipFill>
        <p:spPr bwMode="auto">
          <a:xfrm>
            <a:off x="519914" y="2523407"/>
            <a:ext cx="2155190" cy="2059305"/>
          </a:xfrm>
          <a:prstGeom prst="rect">
            <a:avLst/>
          </a:prstGeom>
          <a:ln>
            <a:noFill/>
          </a:ln>
          <a:extLst>
            <a:ext uri="{53640926-AAD7-44D8-BBD7-CCE9431645EC}">
              <a14:shadowObscured xmlns:a14="http://schemas.microsoft.com/office/drawing/2010/main"/>
            </a:ext>
          </a:extLst>
        </p:spPr>
      </p:pic>
      <p:pic>
        <p:nvPicPr>
          <p:cNvPr id="9" name="Grafik 8">
            <a:extLst>
              <a:ext uri="{FF2B5EF4-FFF2-40B4-BE49-F238E27FC236}">
                <a16:creationId xmlns:a16="http://schemas.microsoft.com/office/drawing/2014/main" id="{5A60576B-7966-9C33-E937-0A335CAEA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5104" y="2523407"/>
            <a:ext cx="1929130" cy="2081530"/>
          </a:xfrm>
          <a:prstGeom prst="rect">
            <a:avLst/>
          </a:prstGeom>
        </p:spPr>
      </p:pic>
    </p:spTree>
    <p:extLst>
      <p:ext uri="{BB962C8B-B14F-4D97-AF65-F5344CB8AC3E}">
        <p14:creationId xmlns:p14="http://schemas.microsoft.com/office/powerpoint/2010/main" val="1988788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6094AF-3FB6-2784-DEB6-710DE9C2F621}"/>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0C90D97B-5C5F-2EC9-F644-0AEF00264D9D}"/>
              </a:ext>
            </a:extLst>
          </p:cNvPr>
          <p:cNvSpPr>
            <a:spLocks noGrp="1"/>
          </p:cNvSpPr>
          <p:nvPr>
            <p:ph type="body" sz="quarter" idx="13"/>
          </p:nvPr>
        </p:nvSpPr>
        <p:spPr/>
        <p:txBody>
          <a:bodyPr/>
          <a:lstStyle/>
          <a:p>
            <a:r>
              <a:rPr lang="de-DE" sz="1600" dirty="0">
                <a:latin typeface="Times New Roman" panose="02020603050405020304" pitchFamily="18" charset="0"/>
                <a:cs typeface="Times New Roman" panose="02020603050405020304" pitchFamily="18" charset="0"/>
              </a:rPr>
              <a:t>Key Word in </a:t>
            </a:r>
            <a:r>
              <a:rPr lang="de-DE" sz="1600" dirty="0" err="1">
                <a:latin typeface="Times New Roman" panose="02020603050405020304" pitchFamily="18" charset="0"/>
                <a:cs typeface="Times New Roman" panose="02020603050405020304" pitchFamily="18" charset="0"/>
              </a:rPr>
              <a:t>Context</a:t>
            </a:r>
            <a:r>
              <a:rPr lang="de-DE" sz="1600" dirty="0">
                <a:latin typeface="Times New Roman" panose="02020603050405020304" pitchFamily="18" charset="0"/>
                <a:cs typeface="Times New Roman" panose="02020603050405020304" pitchFamily="18" charset="0"/>
              </a:rPr>
              <a:t> (KWIC) </a:t>
            </a:r>
          </a:p>
        </p:txBody>
      </p:sp>
      <p:sp>
        <p:nvSpPr>
          <p:cNvPr id="7" name="Foliennummernplatzhalter 6">
            <a:extLst>
              <a:ext uri="{FF2B5EF4-FFF2-40B4-BE49-F238E27FC236}">
                <a16:creationId xmlns:a16="http://schemas.microsoft.com/office/drawing/2014/main" id="{D49EC6BC-9756-9119-CCB7-B0EDA8E051E1}"/>
              </a:ext>
            </a:extLst>
          </p:cNvPr>
          <p:cNvSpPr>
            <a:spLocks noGrp="1"/>
          </p:cNvSpPr>
          <p:nvPr>
            <p:ph type="sldNum" sz="quarter" idx="16"/>
          </p:nvPr>
        </p:nvSpPr>
        <p:spPr/>
        <p:txBody>
          <a:bodyPr/>
          <a:lstStyle/>
          <a:p>
            <a:fld id="{9E82CC3C-1DC0-4FDA-9590-6CC506AB67F8}" type="slidenum">
              <a:rPr lang="en-US" smtClean="0"/>
              <a:pPr/>
              <a:t>26</a:t>
            </a:fld>
            <a:endParaRPr lang="en-US" dirty="0"/>
          </a:p>
        </p:txBody>
      </p:sp>
      <p:pic>
        <p:nvPicPr>
          <p:cNvPr id="8" name="Inhaltsplatzhalter 7">
            <a:extLst>
              <a:ext uri="{FF2B5EF4-FFF2-40B4-BE49-F238E27FC236}">
                <a16:creationId xmlns:a16="http://schemas.microsoft.com/office/drawing/2014/main" id="{CAD48777-AC9F-B5D0-15C6-0AE58B8834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525" y="1766505"/>
            <a:ext cx="6838950" cy="2937640"/>
          </a:xfrm>
          <a:prstGeom prst="rect">
            <a:avLst/>
          </a:prstGeom>
        </p:spPr>
      </p:pic>
      <p:sp>
        <p:nvSpPr>
          <p:cNvPr id="10" name="Textfeld 9">
            <a:extLst>
              <a:ext uri="{FF2B5EF4-FFF2-40B4-BE49-F238E27FC236}">
                <a16:creationId xmlns:a16="http://schemas.microsoft.com/office/drawing/2014/main" id="{ABEBCD96-E0D0-3686-04FC-7C77F85948A8}"/>
              </a:ext>
            </a:extLst>
          </p:cNvPr>
          <p:cNvSpPr txBox="1"/>
          <p:nvPr/>
        </p:nvSpPr>
        <p:spPr>
          <a:xfrm>
            <a:off x="390000" y="4772636"/>
            <a:ext cx="6691114" cy="259366"/>
          </a:xfrm>
          <a:prstGeom prst="rect">
            <a:avLst/>
          </a:prstGeom>
          <a:noFill/>
        </p:spPr>
        <p:txBody>
          <a:bodyPr wrap="square">
            <a:spAutoFit/>
          </a:bodyPr>
          <a:lstStyle/>
          <a:p>
            <a:pPr algn="ctr">
              <a:lnSpc>
                <a:spcPct val="115000"/>
              </a:lnSpc>
              <a:spcAft>
                <a:spcPts val="800"/>
              </a:spcAft>
              <a:buNone/>
            </a:pP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A Screenshot of KWIC Result for the Word Sequence </a:t>
            </a:r>
            <a:r>
              <a:rPr lang="en-US" sz="1000" i="1" kern="100" dirty="0" err="1">
                <a:effectLst/>
                <a:latin typeface="Times New Roman" panose="02020603050405020304" pitchFamily="18" charset="0"/>
                <a:ea typeface="DengXian" panose="02010600030101010101" pitchFamily="2" charset="-122"/>
                <a:cs typeface="Times New Roman" panose="02020603050405020304" pitchFamily="18" charset="0"/>
              </a:rPr>
              <a:t>Blacklog</a:t>
            </a:r>
            <a:r>
              <a:rPr lang="en-US" sz="1000" i="1" kern="100" dirty="0">
                <a:effectLst/>
                <a:latin typeface="Times New Roman" panose="02020603050405020304" pitchFamily="18" charset="0"/>
                <a:ea typeface="DengXian" panose="02010600030101010101" pitchFamily="2" charset="-122"/>
                <a:cs typeface="Times New Roman" panose="02020603050405020304" pitchFamily="18" charset="0"/>
              </a:rPr>
              <a:t> said</a:t>
            </a: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 in </a:t>
            </a:r>
            <a:r>
              <a:rPr lang="en-US" sz="1000" kern="100" dirty="0" err="1">
                <a:effectLst/>
                <a:latin typeface="Times New Roman" panose="02020603050405020304" pitchFamily="18" charset="0"/>
                <a:ea typeface="DengXian" panose="02010600030101010101" pitchFamily="2" charset="-122"/>
                <a:cs typeface="Times New Roman" panose="02020603050405020304" pitchFamily="18" charset="0"/>
              </a:rPr>
              <a:t>AntConc</a:t>
            </a:r>
            <a:endParaRPr lang="de-DE" sz="1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32390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22EF3AEA-17E2-9CA8-0393-DD87A42DCF8A}"/>
              </a:ext>
            </a:extLst>
          </p:cNvPr>
          <p:cNvSpPr>
            <a:spLocks noGrp="1"/>
          </p:cNvSpPr>
          <p:nvPr>
            <p:ph idx="1"/>
          </p:nvPr>
        </p:nvSpPr>
        <p:spPr>
          <a:xfrm>
            <a:off x="390260" y="606834"/>
            <a:ext cx="6839479" cy="3708400"/>
          </a:xfrm>
        </p:spPr>
        <p:txBody>
          <a:bodyPr/>
          <a:lstStyle/>
          <a:p>
            <a:pPr marL="0" indent="0">
              <a:buNone/>
            </a:pPr>
            <a:r>
              <a:rPr lang="de-DE" sz="1400" dirty="0">
                <a:latin typeface="Times New Roman" panose="02020603050405020304" pitchFamily="18" charset="0"/>
                <a:cs typeface="Times New Roman" panose="02020603050405020304" pitchFamily="18" charset="0"/>
              </a:rPr>
              <a:t>Search </a:t>
            </a:r>
            <a:r>
              <a:rPr lang="de-DE" sz="1400" dirty="0" err="1">
                <a:latin typeface="Times New Roman" panose="02020603050405020304" pitchFamily="18" charset="0"/>
                <a:cs typeface="Times New Roman" panose="02020603050405020304" pitchFamily="18" charset="0"/>
              </a:rPr>
              <a:t>results</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are</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manually</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recorded</a:t>
            </a:r>
            <a:r>
              <a:rPr lang="de-DE" sz="1400" dirty="0">
                <a:latin typeface="Times New Roman" panose="02020603050405020304" pitchFamily="18" charset="0"/>
                <a:cs typeface="Times New Roman" panose="02020603050405020304" pitchFamily="18" charset="0"/>
              </a:rPr>
              <a:t> and a </a:t>
            </a:r>
            <a:r>
              <a:rPr lang="de-DE" sz="1400" dirty="0" err="1">
                <a:latin typeface="Times New Roman" panose="02020603050405020304" pitchFamily="18" charset="0"/>
                <a:cs typeface="Times New Roman" panose="02020603050405020304" pitchFamily="18" charset="0"/>
              </a:rPr>
              <a:t>csv</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file</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is</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created</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for</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every</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target</a:t>
            </a:r>
            <a:r>
              <a:rPr lang="de-DE" sz="1400" dirty="0">
                <a:latin typeface="Times New Roman" panose="02020603050405020304" pitchFamily="18" charset="0"/>
                <a:cs typeface="Times New Roman" panose="02020603050405020304" pitchFamily="18" charset="0"/>
              </a:rPr>
              <a:t> </a:t>
            </a:r>
            <a:r>
              <a:rPr lang="de-DE" sz="1400" dirty="0" err="1">
                <a:latin typeface="Times New Roman" panose="02020603050405020304" pitchFamily="18" charset="0"/>
                <a:cs typeface="Times New Roman" panose="02020603050405020304" pitchFamily="18" charset="0"/>
              </a:rPr>
              <a:t>character</a:t>
            </a:r>
            <a:r>
              <a:rPr lang="de-DE" sz="1400" dirty="0">
                <a:latin typeface="Times New Roman" panose="02020603050405020304" pitchFamily="18" charset="0"/>
                <a:cs typeface="Times New Roman" panose="02020603050405020304" pitchFamily="18" charset="0"/>
              </a:rPr>
              <a:t>.</a:t>
            </a:r>
          </a:p>
          <a:p>
            <a:pPr marL="0" indent="0">
              <a:buNone/>
            </a:pPr>
            <a:endParaRPr lang="de-DE" dirty="0"/>
          </a:p>
        </p:txBody>
      </p:sp>
      <p:sp>
        <p:nvSpPr>
          <p:cNvPr id="7" name="Foliennummernplatzhalter 6">
            <a:extLst>
              <a:ext uri="{FF2B5EF4-FFF2-40B4-BE49-F238E27FC236}">
                <a16:creationId xmlns:a16="http://schemas.microsoft.com/office/drawing/2014/main" id="{9DC320AF-299D-B41A-0E8F-3D9BF56B5627}"/>
              </a:ext>
            </a:extLst>
          </p:cNvPr>
          <p:cNvSpPr>
            <a:spLocks noGrp="1"/>
          </p:cNvSpPr>
          <p:nvPr>
            <p:ph type="sldNum" sz="quarter" idx="16"/>
          </p:nvPr>
        </p:nvSpPr>
        <p:spPr/>
        <p:txBody>
          <a:bodyPr/>
          <a:lstStyle/>
          <a:p>
            <a:fld id="{9E82CC3C-1DC0-4FDA-9590-6CC506AB67F8}" type="slidenum">
              <a:rPr lang="en-US" smtClean="0"/>
              <a:pPr/>
              <a:t>27</a:t>
            </a:fld>
            <a:endParaRPr lang="en-US" dirty="0"/>
          </a:p>
        </p:txBody>
      </p:sp>
      <p:pic>
        <p:nvPicPr>
          <p:cNvPr id="8" name="Grafik 7">
            <a:extLst>
              <a:ext uri="{FF2B5EF4-FFF2-40B4-BE49-F238E27FC236}">
                <a16:creationId xmlns:a16="http://schemas.microsoft.com/office/drawing/2014/main" id="{4AF5B260-BB20-76E1-F36D-23D36F502125}"/>
              </a:ext>
            </a:extLst>
          </p:cNvPr>
          <p:cNvPicPr>
            <a:picLocks noChangeAspect="1"/>
          </p:cNvPicPr>
          <p:nvPr/>
        </p:nvPicPr>
        <p:blipFill rotWithShape="1">
          <a:blip r:embed="rId2">
            <a:extLst>
              <a:ext uri="{28A0092B-C50C-407E-A947-70E740481C1C}">
                <a14:useLocalDpi xmlns:a14="http://schemas.microsoft.com/office/drawing/2010/main" val="0"/>
              </a:ext>
            </a:extLst>
          </a:blip>
          <a:srcRect r="5008" b="22692"/>
          <a:stretch>
            <a:fillRect/>
          </a:stretch>
        </p:blipFill>
        <p:spPr bwMode="auto">
          <a:xfrm>
            <a:off x="421071" y="1513214"/>
            <a:ext cx="1776095" cy="2571750"/>
          </a:xfrm>
          <a:prstGeom prst="rect">
            <a:avLst/>
          </a:prstGeom>
          <a:ln>
            <a:noFill/>
          </a:ln>
          <a:extLst>
            <a:ext uri="{53640926-AAD7-44D8-BBD7-CCE9431645EC}">
              <a14:shadowObscured xmlns:a14="http://schemas.microsoft.com/office/drawing/2010/main"/>
            </a:ext>
          </a:extLst>
        </p:spPr>
      </p:pic>
      <p:sp>
        <p:nvSpPr>
          <p:cNvPr id="10" name="Textfeld 9">
            <a:extLst>
              <a:ext uri="{FF2B5EF4-FFF2-40B4-BE49-F238E27FC236}">
                <a16:creationId xmlns:a16="http://schemas.microsoft.com/office/drawing/2014/main" id="{12D055C6-AE90-BBE8-B7A8-831187346890}"/>
              </a:ext>
            </a:extLst>
          </p:cNvPr>
          <p:cNvSpPr txBox="1"/>
          <p:nvPr/>
        </p:nvSpPr>
        <p:spPr>
          <a:xfrm>
            <a:off x="390260" y="4244626"/>
            <a:ext cx="3810000" cy="242631"/>
          </a:xfrm>
          <a:prstGeom prst="rect">
            <a:avLst/>
          </a:prstGeom>
          <a:noFill/>
        </p:spPr>
        <p:txBody>
          <a:bodyPr wrap="square">
            <a:spAutoFit/>
          </a:bodyPr>
          <a:lstStyle/>
          <a:p>
            <a:pPr algn="just">
              <a:lnSpc>
                <a:spcPct val="115000"/>
              </a:lnSpc>
              <a:spcAft>
                <a:spcPts val="800"/>
              </a:spcAft>
              <a:buNone/>
            </a:pPr>
            <a:r>
              <a:rPr lang="en-US" sz="900" kern="100" dirty="0">
                <a:effectLst/>
                <a:latin typeface="Times New Roman" panose="02020603050405020304" pitchFamily="18" charset="0"/>
                <a:ea typeface="DengXian" panose="02010600030101010101" pitchFamily="2" charset="-122"/>
                <a:cs typeface="Times New Roman" panose="02020603050405020304" pitchFamily="18" charset="0"/>
              </a:rPr>
              <a:t>A Screenshot of </a:t>
            </a:r>
            <a:r>
              <a:rPr lang="en-US" sz="900" i="1" kern="100" dirty="0" err="1">
                <a:effectLst/>
                <a:latin typeface="Times New Roman" panose="02020603050405020304" pitchFamily="18" charset="0"/>
                <a:ea typeface="DengXian" panose="02010600030101010101" pitchFamily="2" charset="-122"/>
                <a:cs typeface="Times New Roman" panose="02020603050405020304" pitchFamily="18" charset="0"/>
              </a:rPr>
              <a:t>Blacklog</a:t>
            </a:r>
            <a:r>
              <a:rPr lang="en-US" sz="900" kern="100" dirty="0" err="1">
                <a:effectLst/>
                <a:latin typeface="Times New Roman" panose="02020603050405020304" pitchFamily="18" charset="0"/>
                <a:ea typeface="DengXian" panose="02010600030101010101" pitchFamily="2" charset="-122"/>
                <a:cs typeface="Times New Roman" panose="02020603050405020304" pitchFamily="18" charset="0"/>
              </a:rPr>
              <a:t>’s</a:t>
            </a:r>
            <a:r>
              <a:rPr lang="en-US" sz="900" kern="100" dirty="0">
                <a:effectLst/>
                <a:latin typeface="Times New Roman" panose="02020603050405020304" pitchFamily="18" charset="0"/>
                <a:ea typeface="DengXian" panose="02010600030101010101" pitchFamily="2" charset="-122"/>
                <a:cs typeface="Times New Roman" panose="02020603050405020304" pitchFamily="18" charset="0"/>
              </a:rPr>
              <a:t> Modifiers in CSV Format</a:t>
            </a:r>
            <a:endParaRPr lang="de-DE"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66735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596C041F-3311-D389-2CF8-587E70E51037}"/>
              </a:ext>
            </a:extLst>
          </p:cNvPr>
          <p:cNvSpPr>
            <a:spLocks noGrp="1"/>
          </p:cNvSpPr>
          <p:nvPr>
            <p:ph idx="1"/>
          </p:nvPr>
        </p:nvSpPr>
        <p:spPr>
          <a:xfrm>
            <a:off x="390000" y="716405"/>
            <a:ext cx="6839479" cy="3708400"/>
          </a:xfrm>
        </p:spPr>
        <p:txBody>
          <a:bodyPr/>
          <a:lstStyle/>
          <a:p>
            <a:r>
              <a:rPr lang="en-US" sz="1400" dirty="0">
                <a:latin typeface="Times New Roman" panose="02020603050405020304" pitchFamily="18" charset="0"/>
                <a:cs typeface="Times New Roman" panose="02020603050405020304" pitchFamily="18" charset="0"/>
              </a:rPr>
              <a:t>Sentiment analysis in this study is implemented in R </a:t>
            </a:r>
          </a:p>
          <a:p>
            <a:r>
              <a:rPr lang="en-US" sz="1400" dirty="0">
                <a:latin typeface="Times New Roman" panose="02020603050405020304" pitchFamily="18" charset="0"/>
                <a:cs typeface="Times New Roman" panose="02020603050405020304" pitchFamily="18" charset="0"/>
              </a:rPr>
              <a:t>The </a:t>
            </a:r>
            <a:r>
              <a:rPr lang="en-US" sz="1400" dirty="0" err="1">
                <a:latin typeface="Times New Roman" panose="02020603050405020304" pitchFamily="18" charset="0"/>
                <a:cs typeface="Times New Roman" panose="02020603050405020304" pitchFamily="18" charset="0"/>
              </a:rPr>
              <a:t>Lexicoder</a:t>
            </a:r>
            <a:r>
              <a:rPr lang="en-US" sz="1400" dirty="0">
                <a:latin typeface="Times New Roman" panose="02020603050405020304" pitchFamily="18" charset="0"/>
                <a:cs typeface="Times New Roman" panose="02020603050405020304" pitchFamily="18" charset="0"/>
              </a:rPr>
              <a:t> Sentiment Dictionary (LSD) developed by Young &amp; Soroka is employed for this purpose. </a:t>
            </a:r>
          </a:p>
          <a:p>
            <a:pPr marL="0" indent="0">
              <a:buNone/>
            </a:pPr>
            <a:endParaRPr lang="en-US" dirty="0"/>
          </a:p>
          <a:p>
            <a:pPr marL="0" indent="0">
              <a:buNone/>
            </a:pPr>
            <a:endParaRPr lang="de-DE" dirty="0"/>
          </a:p>
        </p:txBody>
      </p:sp>
      <p:sp>
        <p:nvSpPr>
          <p:cNvPr id="7" name="Foliennummernplatzhalter 6">
            <a:extLst>
              <a:ext uri="{FF2B5EF4-FFF2-40B4-BE49-F238E27FC236}">
                <a16:creationId xmlns:a16="http://schemas.microsoft.com/office/drawing/2014/main" id="{383D4D4E-D08C-D96B-0260-41CEDC6456EF}"/>
              </a:ext>
            </a:extLst>
          </p:cNvPr>
          <p:cNvSpPr>
            <a:spLocks noGrp="1"/>
          </p:cNvSpPr>
          <p:nvPr>
            <p:ph type="sldNum" sz="quarter" idx="16"/>
          </p:nvPr>
        </p:nvSpPr>
        <p:spPr/>
        <p:txBody>
          <a:bodyPr/>
          <a:lstStyle/>
          <a:p>
            <a:fld id="{9E82CC3C-1DC0-4FDA-9590-6CC506AB67F8}" type="slidenum">
              <a:rPr lang="en-US" smtClean="0"/>
              <a:pPr/>
              <a:t>28</a:t>
            </a:fld>
            <a:endParaRPr lang="en-US" dirty="0"/>
          </a:p>
        </p:txBody>
      </p:sp>
      <p:pic>
        <p:nvPicPr>
          <p:cNvPr id="8" name="Grafik 7">
            <a:extLst>
              <a:ext uri="{FF2B5EF4-FFF2-40B4-BE49-F238E27FC236}">
                <a16:creationId xmlns:a16="http://schemas.microsoft.com/office/drawing/2014/main" id="{E96FB8A2-12CC-7372-A44B-07DEC9F2F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647" y="2152775"/>
            <a:ext cx="2545080" cy="2272030"/>
          </a:xfrm>
          <a:prstGeom prst="rect">
            <a:avLst/>
          </a:prstGeom>
        </p:spPr>
      </p:pic>
      <p:sp>
        <p:nvSpPr>
          <p:cNvPr id="10" name="Textfeld 9">
            <a:extLst>
              <a:ext uri="{FF2B5EF4-FFF2-40B4-BE49-F238E27FC236}">
                <a16:creationId xmlns:a16="http://schemas.microsoft.com/office/drawing/2014/main" id="{5E67261B-36CB-F26E-D68F-3834D68C03A9}"/>
              </a:ext>
            </a:extLst>
          </p:cNvPr>
          <p:cNvSpPr txBox="1"/>
          <p:nvPr/>
        </p:nvSpPr>
        <p:spPr>
          <a:xfrm>
            <a:off x="390000" y="4532355"/>
            <a:ext cx="4401740" cy="259366"/>
          </a:xfrm>
          <a:prstGeom prst="rect">
            <a:avLst/>
          </a:prstGeom>
          <a:noFill/>
        </p:spPr>
        <p:txBody>
          <a:bodyPr wrap="square">
            <a:spAutoFit/>
          </a:bodyPr>
          <a:lstStyle/>
          <a:p>
            <a:pPr algn="just">
              <a:lnSpc>
                <a:spcPct val="115000"/>
              </a:lnSpc>
              <a:spcAft>
                <a:spcPts val="800"/>
              </a:spcAft>
              <a:buNone/>
            </a:pP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A Screenshot of Sentiment Analysis for the Modifiers of Miss </a:t>
            </a:r>
            <a:r>
              <a:rPr lang="en-US" sz="1000" kern="100" dirty="0" err="1">
                <a:effectLst/>
                <a:latin typeface="Times New Roman" panose="02020603050405020304" pitchFamily="18" charset="0"/>
                <a:ea typeface="DengXian" panose="02010600030101010101" pitchFamily="2" charset="-122"/>
                <a:cs typeface="Times New Roman" panose="02020603050405020304" pitchFamily="18" charset="0"/>
              </a:rPr>
              <a:t>Blacklog</a:t>
            </a:r>
            <a:endParaRPr lang="de-DE" sz="1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49562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1840AFB0-8885-914C-1800-2D6A3852B1C7}"/>
              </a:ext>
            </a:extLst>
          </p:cNvPr>
          <p:cNvSpPr>
            <a:spLocks noGrp="1"/>
          </p:cNvSpPr>
          <p:nvPr>
            <p:ph type="sldNum" sz="quarter" idx="16"/>
          </p:nvPr>
        </p:nvSpPr>
        <p:spPr/>
        <p:txBody>
          <a:bodyPr/>
          <a:lstStyle/>
          <a:p>
            <a:fld id="{9E82CC3C-1DC0-4FDA-9590-6CC506AB67F8}" type="slidenum">
              <a:rPr lang="en-US" smtClean="0"/>
              <a:pPr/>
              <a:t>29</a:t>
            </a:fld>
            <a:endParaRPr lang="en-US" dirty="0"/>
          </a:p>
        </p:txBody>
      </p:sp>
      <p:pic>
        <p:nvPicPr>
          <p:cNvPr id="9" name="Inhaltsplatzhalter 8">
            <a:extLst>
              <a:ext uri="{FF2B5EF4-FFF2-40B4-BE49-F238E27FC236}">
                <a16:creationId xmlns:a16="http://schemas.microsoft.com/office/drawing/2014/main" id="{697AA533-AA29-E8F9-C577-272328976CA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9999" y="2357002"/>
            <a:ext cx="2969888" cy="2778397"/>
          </a:xfrm>
          <a:prstGeom prst="rect">
            <a:avLst/>
          </a:prstGeom>
        </p:spPr>
      </p:pic>
      <p:pic>
        <p:nvPicPr>
          <p:cNvPr id="10" name="Grafik 9">
            <a:extLst>
              <a:ext uri="{FF2B5EF4-FFF2-40B4-BE49-F238E27FC236}">
                <a16:creationId xmlns:a16="http://schemas.microsoft.com/office/drawing/2014/main" id="{260F56AA-2ED4-208A-DDB2-3BACA0154B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1918" y="2288749"/>
            <a:ext cx="2865755" cy="2613660"/>
          </a:xfrm>
          <a:prstGeom prst="rect">
            <a:avLst/>
          </a:prstGeom>
        </p:spPr>
      </p:pic>
      <p:sp>
        <p:nvSpPr>
          <p:cNvPr id="11" name="Textfeld 10">
            <a:extLst>
              <a:ext uri="{FF2B5EF4-FFF2-40B4-BE49-F238E27FC236}">
                <a16:creationId xmlns:a16="http://schemas.microsoft.com/office/drawing/2014/main" id="{F713FD1C-F409-443E-429A-BFCDA344D9B6}"/>
              </a:ext>
            </a:extLst>
          </p:cNvPr>
          <p:cNvSpPr txBox="1"/>
          <p:nvPr/>
        </p:nvSpPr>
        <p:spPr>
          <a:xfrm>
            <a:off x="389999" y="796882"/>
            <a:ext cx="6839479" cy="1322540"/>
          </a:xfrm>
          <a:prstGeom prst="rect">
            <a:avLst/>
          </a:prstGeom>
          <a:noFill/>
        </p:spPr>
        <p:txBody>
          <a:bodyPr wrap="none" lIns="0" tIns="0" rIns="0" bIns="0" rtlCol="0">
            <a:noAutofit/>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CSV files created for the modifiers of each target character are imported into Gephi </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i="1" dirty="0">
                <a:latin typeface="Times New Roman" panose="02020603050405020304" pitchFamily="18" charset="0"/>
                <a:cs typeface="Times New Roman" panose="02020603050405020304" pitchFamily="18" charset="0"/>
              </a:rPr>
              <a:t>sentiment</a:t>
            </a:r>
            <a:r>
              <a:rPr lang="en-US" sz="1200" dirty="0">
                <a:latin typeface="Times New Roman" panose="02020603050405020304" pitchFamily="18" charset="0"/>
                <a:cs typeface="Times New Roman" panose="02020603050405020304" pitchFamily="18" charset="0"/>
              </a:rPr>
              <a:t> is then added as an attribute in Gephi labor, and the sentiment scores are then as values imported.</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score of negative sentiment is changed to -1</a:t>
            </a:r>
          </a:p>
          <a:p>
            <a:r>
              <a:rPr lang="en-US" sz="1200" dirty="0">
                <a:latin typeface="Times New Roman" panose="02020603050405020304" pitchFamily="18" charset="0"/>
                <a:cs typeface="Times New Roman" panose="02020603050405020304" pitchFamily="18" charset="0"/>
              </a:rPr>
              <a:t>     positive sentiment remains as 1</a:t>
            </a:r>
          </a:p>
          <a:p>
            <a:r>
              <a:rPr lang="en-US" sz="1200" dirty="0">
                <a:latin typeface="Times New Roman" panose="02020603050405020304" pitchFamily="18" charset="0"/>
                <a:cs typeface="Times New Roman" panose="02020603050405020304" pitchFamily="18" charset="0"/>
              </a:rPr>
              <a:t>     neutral sentiment is represented by a score of 0</a:t>
            </a:r>
            <a:endParaRPr lang="de-DE" sz="1200" dirty="0">
              <a:latin typeface="Times New Roman" panose="02020603050405020304" pitchFamily="18" charset="0"/>
              <a:cs typeface="Times New Roman" panose="02020603050405020304" pitchFamily="18" charset="0"/>
            </a:endParaRPr>
          </a:p>
        </p:txBody>
      </p:sp>
      <p:sp>
        <p:nvSpPr>
          <p:cNvPr id="13" name="Textfeld 12">
            <a:extLst>
              <a:ext uri="{FF2B5EF4-FFF2-40B4-BE49-F238E27FC236}">
                <a16:creationId xmlns:a16="http://schemas.microsoft.com/office/drawing/2014/main" id="{BB2E4C3E-78D2-0E32-D5EF-A545404CAC66}"/>
              </a:ext>
            </a:extLst>
          </p:cNvPr>
          <p:cNvSpPr txBox="1"/>
          <p:nvPr/>
        </p:nvSpPr>
        <p:spPr>
          <a:xfrm>
            <a:off x="921489" y="5005716"/>
            <a:ext cx="5642344" cy="259366"/>
          </a:xfrm>
          <a:prstGeom prst="rect">
            <a:avLst/>
          </a:prstGeom>
          <a:noFill/>
        </p:spPr>
        <p:txBody>
          <a:bodyPr wrap="square">
            <a:spAutoFit/>
          </a:bodyPr>
          <a:lstStyle/>
          <a:p>
            <a:pPr algn="just">
              <a:lnSpc>
                <a:spcPct val="115000"/>
              </a:lnSpc>
              <a:spcAft>
                <a:spcPts val="800"/>
              </a:spcAft>
              <a:buNone/>
            </a:pP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Sentiment Network Visualizations for Miss </a:t>
            </a:r>
            <a:r>
              <a:rPr lang="en-US" sz="1000" kern="100" dirty="0" err="1">
                <a:effectLst/>
                <a:latin typeface="Times New Roman" panose="02020603050405020304" pitchFamily="18" charset="0"/>
                <a:ea typeface="DengXian" panose="02010600030101010101" pitchFamily="2" charset="-122"/>
                <a:cs typeface="Times New Roman" panose="02020603050405020304" pitchFamily="18" charset="0"/>
              </a:rPr>
              <a:t>Blacklog</a:t>
            </a: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 and Miss Marple in Gephi, Layout: Yifan Hu</a:t>
            </a:r>
            <a:endParaRPr lang="de-DE" sz="1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07031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CEEE6F-A521-52C6-9F9B-05EE15DA62D5}"/>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56FEF2AA-EEB7-FB38-E6C4-8ADA54C694AD}"/>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D47D4FD4-26D9-DE04-F9B5-789C656324C0}"/>
              </a:ext>
            </a:extLst>
          </p:cNvPr>
          <p:cNvGraphicFramePr>
            <a:graphicFrameLocks noGrp="1"/>
          </p:cNvGraphicFramePr>
          <p:nvPr>
            <p:ph idx="1"/>
            <p:extLst>
              <p:ext uri="{D42A27DB-BD31-4B8C-83A1-F6EECF244321}">
                <p14:modId xmlns:p14="http://schemas.microsoft.com/office/powerpoint/2010/main" val="2890843528"/>
              </p:ext>
            </p:extLst>
          </p:nvPr>
        </p:nvGraphicFramePr>
        <p:xfrm>
          <a:off x="1248454" y="1034745"/>
          <a:ext cx="4967148" cy="3776104"/>
        </p:xfrm>
        <a:graphic>
          <a:graphicData uri="http://schemas.openxmlformats.org/drawingml/2006/table">
            <a:tbl>
              <a:tblPr firstRow="1" firstCol="1" bandRow="1">
                <a:tableStyleId>{5C22544A-7EE6-4342-B048-85BDC9FD1C3A}</a:tableStyleId>
              </a:tblPr>
              <a:tblGrid>
                <a:gridCol w="1017849">
                  <a:extLst>
                    <a:ext uri="{9D8B030D-6E8A-4147-A177-3AD203B41FA5}">
                      <a16:colId xmlns:a16="http://schemas.microsoft.com/office/drawing/2014/main" val="1877221661"/>
                    </a:ext>
                  </a:extLst>
                </a:gridCol>
                <a:gridCol w="1021682">
                  <a:extLst>
                    <a:ext uri="{9D8B030D-6E8A-4147-A177-3AD203B41FA5}">
                      <a16:colId xmlns:a16="http://schemas.microsoft.com/office/drawing/2014/main" val="1412977335"/>
                    </a:ext>
                  </a:extLst>
                </a:gridCol>
                <a:gridCol w="1029895">
                  <a:extLst>
                    <a:ext uri="{9D8B030D-6E8A-4147-A177-3AD203B41FA5}">
                      <a16:colId xmlns:a16="http://schemas.microsoft.com/office/drawing/2014/main" val="2258656451"/>
                    </a:ext>
                  </a:extLst>
                </a:gridCol>
                <a:gridCol w="1044678">
                  <a:extLst>
                    <a:ext uri="{9D8B030D-6E8A-4147-A177-3AD203B41FA5}">
                      <a16:colId xmlns:a16="http://schemas.microsoft.com/office/drawing/2014/main" val="2454760046"/>
                    </a:ext>
                  </a:extLst>
                </a:gridCol>
                <a:gridCol w="853044">
                  <a:extLst>
                    <a:ext uri="{9D8B030D-6E8A-4147-A177-3AD203B41FA5}">
                      <a16:colId xmlns:a16="http://schemas.microsoft.com/office/drawing/2014/main" val="124175383"/>
                    </a:ext>
                  </a:extLst>
                </a:gridCol>
              </a:tblGrid>
              <a:tr h="142631">
                <a:tc>
                  <a:txBody>
                    <a:bodyPr/>
                    <a:lstStyle/>
                    <a:p>
                      <a:pPr algn="just">
                        <a:lnSpc>
                          <a:spcPct val="115000"/>
                        </a:lnSpc>
                        <a:spcAft>
                          <a:spcPts val="800"/>
                        </a:spcAft>
                        <a:buNone/>
                      </a:pPr>
                      <a:r>
                        <a:rPr lang="en-US" sz="900" kern="100">
                          <a:effectLst/>
                        </a:rPr>
                        <a:t> </a:t>
                      </a:r>
                      <a:endParaRPr lang="de-DE" sz="1000" kern="100">
                        <a:effectLst/>
                        <a:latin typeface="Aptos" panose="020B0004020202020204" pitchFamily="34"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Neutral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Positive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Negative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Total Score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330182747"/>
                  </a:ext>
                </a:extLst>
              </a:tr>
              <a:tr h="142631">
                <a:tc gridSpan="4">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The Murder of Roger </a:t>
                      </a:r>
                      <a:r>
                        <a:rPr lang="en-US" sz="900" kern="100" dirty="0" err="1">
                          <a:effectLst/>
                          <a:latin typeface="Times New Roman" panose="02020603050405020304" pitchFamily="18" charset="0"/>
                          <a:cs typeface="Times New Roman" panose="02020603050405020304" pitchFamily="18" charset="0"/>
                        </a:rPr>
                        <a:t>Ackroy</a:t>
                      </a: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967174369"/>
                  </a:ext>
                </a:extLst>
              </a:tr>
              <a:tr h="142631">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Sheppard</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40</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30</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30</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0</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3431557809"/>
                  </a:ext>
                </a:extLst>
              </a:tr>
              <a:tr h="142631">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Poirot</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63</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26</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282152620"/>
                  </a:ext>
                </a:extLst>
              </a:tr>
              <a:tr h="142631">
                <a:tc gridSpan="5">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The A.B.C. Murders</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108040284"/>
                  </a:ext>
                </a:extLst>
              </a:tr>
              <a:tr h="142631">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F. Clarke</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68.89</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13.33</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17.78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-4.45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3438355138"/>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Poirot</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77.78</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14.29</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7.94</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6.35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4080037727"/>
                  </a:ext>
                </a:extLst>
              </a:tr>
              <a:tr h="142631">
                <a:tc gridSpan="5">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And Then There were None</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4087368525"/>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Wargrave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80.43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11.96</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7.61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4.35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796912058"/>
                  </a:ext>
                </a:extLst>
              </a:tr>
              <a:tr h="142631">
                <a:tc gridSpan="5">
                  <a:txBody>
                    <a:bodyPr/>
                    <a:lstStyle/>
                    <a:p>
                      <a:pPr algn="ctr">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Lord Edgware Dies</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764771364"/>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Jane Wilkinson</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70.59</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8.82</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20.59</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-11.77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2473397509"/>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Poirot</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61.33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26.67</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12</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14.67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723500949"/>
                  </a:ext>
                </a:extLst>
              </a:tr>
              <a:tr h="142631">
                <a:tc gridSpan="5">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A Murder is Announced</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832930989"/>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Miss Blacklog</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53.03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25.76</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21.21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4.55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749350615"/>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Miss Marple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72.97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17.57</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9.46</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8.11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703896872"/>
                  </a:ext>
                </a:extLst>
              </a:tr>
              <a:tr h="142631">
                <a:tc gridSpan="5">
                  <a:txBody>
                    <a:bodyPr/>
                    <a:lstStyle/>
                    <a:p>
                      <a:pPr algn="ctr">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The Mirror Cracked Side from Side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961171707"/>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Marina Gregg</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59.18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22.45</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18.37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4.08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2607938332"/>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Miss Marple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60</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24</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16</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2254355043"/>
                  </a:ext>
                </a:extLst>
              </a:tr>
              <a:tr h="142631">
                <a:tc gridSpan="5">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The Mystery of the Blue Train</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288365881"/>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Knighton</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54.95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29.67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15.88</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13.79</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2419125064"/>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Mason</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68.75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9.38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21.88</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-12.5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379980905"/>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Poirot</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64.21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27.37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8.42</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18.95</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32750131"/>
                  </a:ext>
                </a:extLst>
              </a:tr>
              <a:tr h="142631">
                <a:tc gridSpan="5">
                  <a:txBody>
                    <a:bodyPr/>
                    <a:lstStyle/>
                    <a:p>
                      <a:pPr algn="ctr">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Evil under the Sun</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3534291448"/>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C. Redfern</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76.67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18.33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-13.33</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287327038"/>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 Redfern</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60.78</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21.57</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17.65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3.92</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1428034864"/>
                  </a:ext>
                </a:extLst>
              </a:tr>
              <a:tr h="142631">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Poirot</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67.59</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23.15</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a:effectLst/>
                          <a:latin typeface="Times New Roman" panose="02020603050405020304" pitchFamily="18" charset="0"/>
                          <a:cs typeface="Times New Roman" panose="02020603050405020304" pitchFamily="18" charset="0"/>
                        </a:rPr>
                        <a:t>9.26</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tc>
                  <a:txBody>
                    <a:bodyPr/>
                    <a:lstStyle/>
                    <a:p>
                      <a:pPr algn="just">
                        <a:lnSpc>
                          <a:spcPct val="115000"/>
                        </a:lnSpc>
                        <a:spcAft>
                          <a:spcPts val="800"/>
                        </a:spcAft>
                        <a:buNone/>
                      </a:pPr>
                      <a:r>
                        <a:rPr lang="en-US" sz="900" kern="100" dirty="0">
                          <a:effectLst/>
                          <a:latin typeface="Times New Roman" panose="02020603050405020304" pitchFamily="18" charset="0"/>
                          <a:cs typeface="Times New Roman" panose="02020603050405020304" pitchFamily="18" charset="0"/>
                        </a:rPr>
                        <a:t>13.89</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9133" marR="59133" marT="0" marB="0"/>
                </a:tc>
                <a:extLst>
                  <a:ext uri="{0D108BD9-81ED-4DB2-BD59-A6C34878D82A}">
                    <a16:rowId xmlns:a16="http://schemas.microsoft.com/office/drawing/2014/main" val="4123028478"/>
                  </a:ext>
                </a:extLst>
              </a:tr>
            </a:tbl>
          </a:graphicData>
        </a:graphic>
      </p:graphicFrame>
      <p:sp>
        <p:nvSpPr>
          <p:cNvPr id="7" name="Foliennummernplatzhalter 6">
            <a:extLst>
              <a:ext uri="{FF2B5EF4-FFF2-40B4-BE49-F238E27FC236}">
                <a16:creationId xmlns:a16="http://schemas.microsoft.com/office/drawing/2014/main" id="{C6BFBB28-960B-3198-87AB-1E074266F617}"/>
              </a:ext>
            </a:extLst>
          </p:cNvPr>
          <p:cNvSpPr>
            <a:spLocks noGrp="1"/>
          </p:cNvSpPr>
          <p:nvPr>
            <p:ph type="sldNum" sz="quarter" idx="16"/>
          </p:nvPr>
        </p:nvSpPr>
        <p:spPr/>
        <p:txBody>
          <a:bodyPr/>
          <a:lstStyle/>
          <a:p>
            <a:fld id="{9E82CC3C-1DC0-4FDA-9590-6CC506AB67F8}" type="slidenum">
              <a:rPr lang="en-US" smtClean="0"/>
              <a:pPr/>
              <a:t>30</a:t>
            </a:fld>
            <a:endParaRPr lang="en-US" dirty="0"/>
          </a:p>
        </p:txBody>
      </p:sp>
      <p:sp>
        <p:nvSpPr>
          <p:cNvPr id="10" name="Textfeld 9">
            <a:extLst>
              <a:ext uri="{FF2B5EF4-FFF2-40B4-BE49-F238E27FC236}">
                <a16:creationId xmlns:a16="http://schemas.microsoft.com/office/drawing/2014/main" id="{C12B5EB9-B6D2-712B-BA52-0795D78A9F89}"/>
              </a:ext>
            </a:extLst>
          </p:cNvPr>
          <p:cNvSpPr txBox="1"/>
          <p:nvPr/>
        </p:nvSpPr>
        <p:spPr>
          <a:xfrm>
            <a:off x="1167809" y="4928044"/>
            <a:ext cx="4609213" cy="276999"/>
          </a:xfrm>
          <a:prstGeom prst="rect">
            <a:avLst/>
          </a:prstGeom>
          <a:noFill/>
        </p:spPr>
        <p:txBody>
          <a:bodyPr wrap="square">
            <a:spAutoFit/>
          </a:bodyPr>
          <a:lstStyle/>
          <a:p>
            <a:r>
              <a:rPr lang="en-US" sz="1200" dirty="0">
                <a:effectLst/>
                <a:latin typeface="Times New Roman" panose="02020603050405020304" pitchFamily="18" charset="0"/>
                <a:ea typeface="DengXian" panose="02010600030101010101" pitchFamily="2" charset="-122"/>
              </a:rPr>
              <a:t>Sentiment Scores of Murderers and Detectives in Selected Novels</a:t>
            </a:r>
            <a:endParaRPr lang="de-DE" sz="1200" dirty="0"/>
          </a:p>
        </p:txBody>
      </p:sp>
    </p:spTree>
    <p:extLst>
      <p:ext uri="{BB962C8B-B14F-4D97-AF65-F5344CB8AC3E}">
        <p14:creationId xmlns:p14="http://schemas.microsoft.com/office/powerpoint/2010/main" val="923430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CF2242-888B-22DD-6177-C47F65DD2A0A}"/>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93A3D77C-9C0A-7DA7-5EFE-F294B8389D4D}"/>
              </a:ext>
            </a:extLst>
          </p:cNvPr>
          <p:cNvSpPr>
            <a:spLocks noGrp="1"/>
          </p:cNvSpPr>
          <p:nvPr>
            <p:ph type="body" sz="quarter" idx="13"/>
          </p:nvPr>
        </p:nvSpPr>
        <p:spPr/>
        <p:txBody>
          <a:bodyPr/>
          <a:lstStyle/>
          <a:p>
            <a:endParaRPr lang="de-DE"/>
          </a:p>
        </p:txBody>
      </p:sp>
      <p:sp>
        <p:nvSpPr>
          <p:cNvPr id="4" name="Inhaltsplatzhalter 3">
            <a:extLst>
              <a:ext uri="{FF2B5EF4-FFF2-40B4-BE49-F238E27FC236}">
                <a16:creationId xmlns:a16="http://schemas.microsoft.com/office/drawing/2014/main" id="{270AAE35-11B8-A6E5-DCB6-3A5ECA01A8C8}"/>
              </a:ext>
            </a:extLst>
          </p:cNvPr>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While the sentiment scores of the detectives are always above zero, the sentiment scores of the murderers vary a lot. </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These findings lend empirical support to </a:t>
            </a:r>
            <a:r>
              <a:rPr lang="en-US" sz="1400" dirty="0" err="1">
                <a:latin typeface="Times New Roman" panose="02020603050405020304" pitchFamily="18" charset="0"/>
                <a:cs typeface="Times New Roman" panose="02020603050405020304" pitchFamily="18" charset="0"/>
              </a:rPr>
              <a:t>Verbogen</a:t>
            </a:r>
            <a:r>
              <a:rPr lang="en-US" sz="1400" dirty="0">
                <a:latin typeface="Times New Roman" panose="02020603050405020304" pitchFamily="18" charset="0"/>
                <a:cs typeface="Times New Roman" panose="02020603050405020304" pitchFamily="18" charset="0"/>
              </a:rPr>
              <a:t> (2008)’s argument that Agatha </a:t>
            </a:r>
            <a:r>
              <a:rPr lang="en-US" sz="1400" dirty="0" err="1">
                <a:latin typeface="Times New Roman" panose="02020603050405020304" pitchFamily="18" charset="0"/>
                <a:cs typeface="Times New Roman" panose="02020603050405020304" pitchFamily="18" charset="0"/>
              </a:rPr>
              <a:t>Chritie</a:t>
            </a:r>
            <a:r>
              <a:rPr lang="en-US" sz="1400" dirty="0">
                <a:latin typeface="Times New Roman" panose="02020603050405020304" pitchFamily="18" charset="0"/>
                <a:cs typeface="Times New Roman" panose="02020603050405020304" pitchFamily="18" charset="0"/>
              </a:rPr>
              <a:t> transcends simple repetition through inventive variations: the murderers can be portrayed not only as negative, but also as positive and neutral.  And precisely these variations of conception of characters reflect Ina Hark’s theory of the unreadability of Agatha Christie’s texts, which posits that “human guilt and innocence are thoroughly intermixed, rather than being in mutually exclusive binary positions. If we attempt to read people like books to separate the murderous from the non-murderous, we must fail, because in Christie’s view, no such creature as a person incapable of murder exists” (Hark 1997, 2). </a:t>
            </a:r>
            <a:endParaRPr lang="de-DE" sz="1400" dirty="0">
              <a:latin typeface="Times New Roman" panose="02020603050405020304" pitchFamily="18" charset="0"/>
              <a:cs typeface="Times New Roman" panose="02020603050405020304" pitchFamily="18" charset="0"/>
            </a:endParaRPr>
          </a:p>
          <a:p>
            <a:endParaRPr lang="de-DE" dirty="0"/>
          </a:p>
        </p:txBody>
      </p:sp>
      <p:sp>
        <p:nvSpPr>
          <p:cNvPr id="7" name="Foliennummernplatzhalter 6">
            <a:extLst>
              <a:ext uri="{FF2B5EF4-FFF2-40B4-BE49-F238E27FC236}">
                <a16:creationId xmlns:a16="http://schemas.microsoft.com/office/drawing/2014/main" id="{1F234C26-B3E5-F003-CA1F-5AD38F3BA8AF}"/>
              </a:ext>
            </a:extLst>
          </p:cNvPr>
          <p:cNvSpPr>
            <a:spLocks noGrp="1"/>
          </p:cNvSpPr>
          <p:nvPr>
            <p:ph type="sldNum" sz="quarter" idx="16"/>
          </p:nvPr>
        </p:nvSpPr>
        <p:spPr/>
        <p:txBody>
          <a:bodyPr/>
          <a:lstStyle/>
          <a:p>
            <a:fld id="{9E82CC3C-1DC0-4FDA-9590-6CC506AB67F8}" type="slidenum">
              <a:rPr lang="en-US" smtClean="0"/>
              <a:pPr/>
              <a:t>31</a:t>
            </a:fld>
            <a:endParaRPr lang="en-US" dirty="0"/>
          </a:p>
        </p:txBody>
      </p:sp>
    </p:spTree>
    <p:extLst>
      <p:ext uri="{BB962C8B-B14F-4D97-AF65-F5344CB8AC3E}">
        <p14:creationId xmlns:p14="http://schemas.microsoft.com/office/powerpoint/2010/main" val="3272595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7D4F9A-4CEA-BE8E-4144-CCC1E88E67A2}"/>
              </a:ext>
            </a:extLst>
          </p:cNvPr>
          <p:cNvSpPr>
            <a:spLocks noGrp="1"/>
          </p:cNvSpPr>
          <p:nvPr>
            <p:ph type="title"/>
          </p:nvPr>
        </p:nvSpPr>
        <p:spPr/>
        <p:txBody>
          <a:bodyPr/>
          <a:lstStyle/>
          <a:p>
            <a:endParaRPr lang="de-DE" dirty="0"/>
          </a:p>
        </p:txBody>
      </p:sp>
      <p:sp>
        <p:nvSpPr>
          <p:cNvPr id="3" name="Textplatzhalter 2">
            <a:extLst>
              <a:ext uri="{FF2B5EF4-FFF2-40B4-BE49-F238E27FC236}">
                <a16:creationId xmlns:a16="http://schemas.microsoft.com/office/drawing/2014/main" id="{5BBA24C1-C3DC-F63E-7BA7-948027952AD2}"/>
              </a:ext>
            </a:extLst>
          </p:cNvPr>
          <p:cNvSpPr>
            <a:spLocks noGrp="1"/>
          </p:cNvSpPr>
          <p:nvPr>
            <p:ph type="body" sz="quarter" idx="13"/>
          </p:nvPr>
        </p:nvSpPr>
        <p:spPr/>
        <p:txBody>
          <a:bodyPr/>
          <a:lstStyle/>
          <a:p>
            <a:r>
              <a:rPr lang="de-DE" b="1" dirty="0">
                <a:latin typeface="Times New Roman" panose="02020603050405020304" pitchFamily="18" charset="0"/>
                <a:cs typeface="Times New Roman" panose="02020603050405020304" pitchFamily="18" charset="0"/>
              </a:rPr>
              <a:t>3.5 </a:t>
            </a:r>
            <a:r>
              <a:rPr lang="de-DE" b="1" dirty="0" err="1">
                <a:latin typeface="Times New Roman" panose="02020603050405020304" pitchFamily="18" charset="0"/>
                <a:cs typeface="Times New Roman" panose="02020603050405020304" pitchFamily="18" charset="0"/>
              </a:rPr>
              <a:t>Linguistic</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Representation</a:t>
            </a:r>
            <a:endParaRPr lang="de-DE" b="1"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6251B938-4889-BE1B-4C52-F0424DC23F1A}"/>
              </a:ext>
            </a:extLst>
          </p:cNvPr>
          <p:cNvSpPr>
            <a:spLocks noGrp="1"/>
          </p:cNvSpPr>
          <p:nvPr>
            <p:ph idx="1"/>
          </p:nvPr>
        </p:nvSpPr>
        <p:spPr/>
        <p:txBody>
          <a:bodyPr/>
          <a:lstStyle/>
          <a:p>
            <a:pPr algn="just"/>
            <a:r>
              <a:rPr lang="en-US" sz="1400" dirty="0">
                <a:latin typeface="Times New Roman" panose="02020603050405020304" pitchFamily="18" charset="0"/>
                <a:cs typeface="Times New Roman" panose="02020603050405020304" pitchFamily="18" charset="0"/>
              </a:rPr>
              <a:t>Linguistic representation refers to the way linguistic elements, such as words, phrases, certain syntax, are used to represent ideas, concepts, experiences, and social realities, thereby shaping how we understand and interpret the world.</a:t>
            </a:r>
            <a:endParaRPr lang="de-DE"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Two main research questions guide the analysis: (1) Which words with negative sentiment scores does Agatha Christie most frequently associate with </a:t>
            </a:r>
            <a:r>
              <a:rPr lang="en-US" sz="1400" i="1" dirty="0">
                <a:latin typeface="Times New Roman" panose="02020603050405020304" pitchFamily="18" charset="0"/>
                <a:cs typeface="Times New Roman" panose="02020603050405020304" pitchFamily="18" charset="0"/>
              </a:rPr>
              <a:t>evil</a:t>
            </a:r>
            <a:r>
              <a:rPr lang="en-US" sz="1400" dirty="0">
                <a:latin typeface="Times New Roman" panose="02020603050405020304" pitchFamily="18" charset="0"/>
                <a:cs typeface="Times New Roman" panose="02020603050405020304" pitchFamily="18" charset="0"/>
              </a:rPr>
              <a:t>, and which words with positive sentiment scores does she associate with </a:t>
            </a:r>
            <a:r>
              <a:rPr lang="en-US" sz="1400" i="1" dirty="0">
                <a:latin typeface="Times New Roman" panose="02020603050405020304" pitchFamily="18" charset="0"/>
                <a:cs typeface="Times New Roman" panose="02020603050405020304" pitchFamily="18" charset="0"/>
              </a:rPr>
              <a:t>good</a:t>
            </a:r>
            <a:r>
              <a:rPr lang="en-US" sz="1400" dirty="0">
                <a:latin typeface="Times New Roman" panose="02020603050405020304" pitchFamily="18" charset="0"/>
                <a:cs typeface="Times New Roman" panose="02020603050405020304" pitchFamily="18" charset="0"/>
              </a:rPr>
              <a:t>? (2) Does her use of these words differ between female and male murderers?</a:t>
            </a:r>
          </a:p>
          <a:p>
            <a:pPr algn="just"/>
            <a:r>
              <a:rPr lang="en-US" sz="1400" dirty="0">
                <a:latin typeface="Times New Roman" panose="02020603050405020304" pitchFamily="18" charset="0"/>
                <a:cs typeface="Times New Roman" panose="02020603050405020304" pitchFamily="18" charset="0"/>
              </a:rPr>
              <a:t>Linguistic elements in this study are words identified in the previous section as carrying negative or positive sentiment scores</a:t>
            </a:r>
          </a:p>
          <a:p>
            <a:pPr algn="just"/>
            <a:endParaRPr lang="de-DE" sz="14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01C6F23B-CEC1-A0D9-E955-4EFC630F98E4}"/>
              </a:ext>
            </a:extLst>
          </p:cNvPr>
          <p:cNvSpPr>
            <a:spLocks noGrp="1"/>
          </p:cNvSpPr>
          <p:nvPr>
            <p:ph type="sldNum" sz="quarter" idx="16"/>
          </p:nvPr>
        </p:nvSpPr>
        <p:spPr/>
        <p:txBody>
          <a:bodyPr/>
          <a:lstStyle/>
          <a:p>
            <a:fld id="{9E82CC3C-1DC0-4FDA-9590-6CC506AB67F8}" type="slidenum">
              <a:rPr lang="en-US" smtClean="0"/>
              <a:pPr/>
              <a:t>32</a:t>
            </a:fld>
            <a:endParaRPr lang="en-US" dirty="0"/>
          </a:p>
        </p:txBody>
      </p:sp>
    </p:spTree>
    <p:extLst>
      <p:ext uri="{BB962C8B-B14F-4D97-AF65-F5344CB8AC3E}">
        <p14:creationId xmlns:p14="http://schemas.microsoft.com/office/powerpoint/2010/main" val="2232731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8F4432-D3B6-0A98-1097-47011CF4B027}"/>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01118C02-F62D-76C6-9395-A8FDC1134D96}"/>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7AB4A269-D6E1-695E-20FC-732C13B79F93}"/>
              </a:ext>
            </a:extLst>
          </p:cNvPr>
          <p:cNvSpPr>
            <a:spLocks noGrp="1"/>
          </p:cNvSpPr>
          <p:nvPr>
            <p:ph type="sldNum" sz="quarter" idx="16"/>
          </p:nvPr>
        </p:nvSpPr>
        <p:spPr/>
        <p:txBody>
          <a:bodyPr/>
          <a:lstStyle/>
          <a:p>
            <a:fld id="{9E82CC3C-1DC0-4FDA-9590-6CC506AB67F8}" type="slidenum">
              <a:rPr lang="en-US" smtClean="0"/>
              <a:pPr/>
              <a:t>33</a:t>
            </a:fld>
            <a:endParaRPr lang="en-US" dirty="0"/>
          </a:p>
        </p:txBody>
      </p:sp>
      <p:pic>
        <p:nvPicPr>
          <p:cNvPr id="8" name="Inhaltsplatzhalter 7">
            <a:extLst>
              <a:ext uri="{FF2B5EF4-FFF2-40B4-BE49-F238E27FC236}">
                <a16:creationId xmlns:a16="http://schemas.microsoft.com/office/drawing/2014/main" id="{6D3C7638-F098-974F-452C-DACDEE8184F1}"/>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3674" y="1086684"/>
            <a:ext cx="2960707" cy="2880499"/>
          </a:xfrm>
          <a:prstGeom prst="rect">
            <a:avLst/>
          </a:prstGeom>
        </p:spPr>
      </p:pic>
      <p:sp>
        <p:nvSpPr>
          <p:cNvPr id="10" name="Textfeld 9">
            <a:extLst>
              <a:ext uri="{FF2B5EF4-FFF2-40B4-BE49-F238E27FC236}">
                <a16:creationId xmlns:a16="http://schemas.microsoft.com/office/drawing/2014/main" id="{03295C51-7FFC-075A-AD80-0950E3AA8502}"/>
              </a:ext>
            </a:extLst>
          </p:cNvPr>
          <p:cNvSpPr txBox="1"/>
          <p:nvPr/>
        </p:nvSpPr>
        <p:spPr>
          <a:xfrm>
            <a:off x="4093674" y="1277929"/>
            <a:ext cx="4106260" cy="3821735"/>
          </a:xfrm>
          <a:prstGeom prst="rect">
            <a:avLst/>
          </a:prstGeom>
          <a:noFill/>
        </p:spPr>
        <p:txBody>
          <a:bodyPr wrap="none" lIns="0" tIns="0" rIns="0" bIns="0" rtlCol="0">
            <a:noAutofit/>
          </a:bodyPr>
          <a:lstStyle/>
          <a:p>
            <a:pPr algn="just"/>
            <a:endParaRPr lang="en-US" sz="1000" dirty="0">
              <a:latin typeface="Times New Roman" panose="02020603050405020304" pitchFamily="18" charset="0"/>
              <a:cs typeface="Times New Roman" panose="02020603050405020304" pitchFamily="18" charset="0"/>
            </a:endParaRPr>
          </a:p>
          <a:p>
            <a:pPr algn="just"/>
            <a:r>
              <a:rPr lang="en-US" sz="1000" dirty="0">
                <a:latin typeface="Times New Roman" panose="02020603050405020304" pitchFamily="18" charset="0"/>
                <a:cs typeface="Times New Roman" panose="02020603050405020304" pitchFamily="18" charset="0"/>
              </a:rPr>
              <a:t>orange: female and male characters, </a:t>
            </a:r>
          </a:p>
          <a:p>
            <a:pPr algn="just"/>
            <a:r>
              <a:rPr lang="en-US" sz="1000" dirty="0">
                <a:latin typeface="Times New Roman" panose="02020603050405020304" pitchFamily="18" charset="0"/>
                <a:cs typeface="Times New Roman" panose="02020603050405020304" pitchFamily="18" charset="0"/>
              </a:rPr>
              <a:t>red: exclusively for male characters,</a:t>
            </a:r>
          </a:p>
          <a:p>
            <a:pPr algn="just"/>
            <a:r>
              <a:rPr lang="en-US" sz="1000" dirty="0">
                <a:latin typeface="Times New Roman" panose="02020603050405020304" pitchFamily="18" charset="0"/>
                <a:cs typeface="Times New Roman" panose="02020603050405020304" pitchFamily="18" charset="0"/>
              </a:rPr>
              <a:t>green: exclusively for female characters. </a:t>
            </a:r>
          </a:p>
          <a:p>
            <a:pPr algn="just"/>
            <a:endParaRPr lang="en-US" sz="1000" dirty="0">
              <a:latin typeface="Times New Roman" panose="02020603050405020304" pitchFamily="18" charset="0"/>
              <a:cs typeface="Times New Roman" panose="02020603050405020304" pitchFamily="18" charset="0"/>
            </a:endParaRPr>
          </a:p>
          <a:p>
            <a:pPr algn="just"/>
            <a:endParaRPr lang="en-US" sz="1000" dirty="0">
              <a:latin typeface="Times New Roman" panose="02020603050405020304" pitchFamily="18" charset="0"/>
              <a:cs typeface="Times New Roman" panose="02020603050405020304" pitchFamily="18" charset="0"/>
            </a:endParaRPr>
          </a:p>
          <a:p>
            <a:pPr algn="just"/>
            <a:r>
              <a:rPr lang="en-US" sz="1000" dirty="0">
                <a:latin typeface="Times New Roman" panose="02020603050405020304" pitchFamily="18" charset="0"/>
                <a:cs typeface="Times New Roman" panose="02020603050405020304" pitchFamily="18" charset="0"/>
              </a:rPr>
              <a:t>Of all the 109 positive modifiers, 71.6% are used for male characters </a:t>
            </a:r>
          </a:p>
          <a:p>
            <a:pPr algn="just"/>
            <a:r>
              <a:rPr lang="en-US" sz="1000" dirty="0">
                <a:latin typeface="Times New Roman" panose="02020603050405020304" pitchFamily="18" charset="0"/>
                <a:cs typeface="Times New Roman" panose="02020603050405020304" pitchFamily="18" charset="0"/>
              </a:rPr>
              <a:t>and 28.4% are used for female characters.</a:t>
            </a:r>
          </a:p>
          <a:p>
            <a:pPr algn="just"/>
            <a:endParaRPr lang="en-US" sz="1000" dirty="0">
              <a:latin typeface="Times New Roman" panose="02020603050405020304" pitchFamily="18" charset="0"/>
              <a:cs typeface="Times New Roman" panose="02020603050405020304" pitchFamily="18" charset="0"/>
            </a:endParaRPr>
          </a:p>
          <a:p>
            <a:pPr algn="just"/>
            <a:r>
              <a:rPr lang="en-US" sz="1000" dirty="0">
                <a:latin typeface="Times New Roman" panose="02020603050405020304" pitchFamily="18" charset="0"/>
                <a:cs typeface="Times New Roman" panose="02020603050405020304" pitchFamily="18" charset="0"/>
              </a:rPr>
              <a:t>41.28% of all positive modifiers are exclusively used for detectives, </a:t>
            </a:r>
          </a:p>
          <a:p>
            <a:pPr algn="just"/>
            <a:r>
              <a:rPr lang="en-US" sz="1000" dirty="0">
                <a:latin typeface="Times New Roman" panose="02020603050405020304" pitchFamily="18" charset="0"/>
                <a:cs typeface="Times New Roman" panose="02020603050405020304" pitchFamily="18" charset="0"/>
              </a:rPr>
              <a:t>33.94 % are used exclusively for murderers</a:t>
            </a:r>
          </a:p>
          <a:p>
            <a:pPr algn="just"/>
            <a:r>
              <a:rPr lang="en-US" sz="1000" dirty="0">
                <a:latin typeface="Times New Roman" panose="02020603050405020304" pitchFamily="18" charset="0"/>
                <a:cs typeface="Times New Roman" panose="02020603050405020304" pitchFamily="18" charset="0"/>
              </a:rPr>
              <a:t>24.77% are used both for detectives and murderers</a:t>
            </a:r>
          </a:p>
          <a:p>
            <a:pPr algn="just"/>
            <a:endParaRPr lang="en-US" sz="1000" dirty="0">
              <a:latin typeface="Times New Roman" panose="02020603050405020304" pitchFamily="18" charset="0"/>
              <a:cs typeface="Times New Roman" panose="02020603050405020304" pitchFamily="18" charset="0"/>
            </a:endParaRPr>
          </a:p>
          <a:p>
            <a:pPr algn="just"/>
            <a:endParaRPr lang="en-US" sz="1000" dirty="0">
              <a:latin typeface="Times New Roman" panose="02020603050405020304" pitchFamily="18" charset="0"/>
              <a:cs typeface="Times New Roman" panose="02020603050405020304" pitchFamily="18" charset="0"/>
            </a:endParaRPr>
          </a:p>
          <a:p>
            <a:pPr marL="179388" indent="-179388">
              <a:buClr>
                <a:schemeClr val="accent1"/>
              </a:buClr>
              <a:buFont typeface="Arial" panose="020B0604020202020204" pitchFamily="34" charset="0"/>
              <a:buChar char="•"/>
            </a:pPr>
            <a:endParaRPr lang="de-DE" sz="1000" dirty="0">
              <a:latin typeface="Times New Roman" panose="02020603050405020304" pitchFamily="18" charset="0"/>
              <a:cs typeface="Times New Roman" panose="02020603050405020304" pitchFamily="18" charset="0"/>
            </a:endParaRPr>
          </a:p>
        </p:txBody>
      </p:sp>
      <p:sp>
        <p:nvSpPr>
          <p:cNvPr id="12" name="Textfeld 11">
            <a:extLst>
              <a:ext uri="{FF2B5EF4-FFF2-40B4-BE49-F238E27FC236}">
                <a16:creationId xmlns:a16="http://schemas.microsoft.com/office/drawing/2014/main" id="{1C416431-1376-7522-C1F0-16C8CC912C45}"/>
              </a:ext>
            </a:extLst>
          </p:cNvPr>
          <p:cNvSpPr txBox="1"/>
          <p:nvPr/>
        </p:nvSpPr>
        <p:spPr>
          <a:xfrm>
            <a:off x="47002" y="3854203"/>
            <a:ext cx="3810000" cy="225959"/>
          </a:xfrm>
          <a:prstGeom prst="rect">
            <a:avLst/>
          </a:prstGeom>
          <a:noFill/>
        </p:spPr>
        <p:txBody>
          <a:bodyPr wrap="square">
            <a:spAutoFit/>
          </a:bodyPr>
          <a:lstStyle/>
          <a:p>
            <a:pPr algn="just">
              <a:lnSpc>
                <a:spcPct val="115000"/>
              </a:lnSpc>
              <a:spcAft>
                <a:spcPts val="800"/>
              </a:spcAft>
              <a:buNone/>
            </a:pP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Linguistic Representation of Positive Modifiers in Gephi, Layout: </a:t>
            </a:r>
            <a:r>
              <a:rPr lang="en-US" sz="800" kern="100" dirty="0" err="1">
                <a:effectLst/>
                <a:latin typeface="Times New Roman" panose="02020603050405020304" pitchFamily="18" charset="0"/>
                <a:ea typeface="DengXian" panose="02010600030101010101" pitchFamily="2" charset="-122"/>
                <a:cs typeface="Times New Roman" panose="02020603050405020304" pitchFamily="18" charset="0"/>
              </a:rPr>
              <a:t>Fruchterman</a:t>
            </a: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 Reingold</a:t>
            </a:r>
            <a:endParaRPr lang="de-DE" sz="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3217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7E1F8B-1DE5-4352-216A-1DA55D17C13E}"/>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069C554E-5FA0-C550-EAED-9FBB680F212E}"/>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24555CDB-0884-B467-CC4F-D52FA787F045}"/>
              </a:ext>
            </a:extLst>
          </p:cNvPr>
          <p:cNvSpPr>
            <a:spLocks noGrp="1"/>
          </p:cNvSpPr>
          <p:nvPr>
            <p:ph type="sldNum" sz="quarter" idx="16"/>
          </p:nvPr>
        </p:nvSpPr>
        <p:spPr/>
        <p:txBody>
          <a:bodyPr/>
          <a:lstStyle/>
          <a:p>
            <a:fld id="{9E82CC3C-1DC0-4FDA-9590-6CC506AB67F8}" type="slidenum">
              <a:rPr lang="en-US" smtClean="0"/>
              <a:pPr/>
              <a:t>34</a:t>
            </a:fld>
            <a:endParaRPr lang="en-US" dirty="0"/>
          </a:p>
        </p:txBody>
      </p:sp>
      <p:pic>
        <p:nvPicPr>
          <p:cNvPr id="8" name="Inhaltsplatzhalter 7">
            <a:extLst>
              <a:ext uri="{FF2B5EF4-FFF2-40B4-BE49-F238E27FC236}">
                <a16:creationId xmlns:a16="http://schemas.microsoft.com/office/drawing/2014/main" id="{9D30A23B-5D0A-1A6A-4B5A-77CA1ACD6FBD}"/>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5594" y="1185327"/>
            <a:ext cx="2888812" cy="2676827"/>
          </a:xfrm>
          <a:prstGeom prst="rect">
            <a:avLst/>
          </a:prstGeom>
        </p:spPr>
      </p:pic>
      <p:sp>
        <p:nvSpPr>
          <p:cNvPr id="12" name="Textfeld 11">
            <a:extLst>
              <a:ext uri="{FF2B5EF4-FFF2-40B4-BE49-F238E27FC236}">
                <a16:creationId xmlns:a16="http://schemas.microsoft.com/office/drawing/2014/main" id="{B54357A9-3CFD-B768-63EB-E14D95FBD493}"/>
              </a:ext>
            </a:extLst>
          </p:cNvPr>
          <p:cNvSpPr txBox="1"/>
          <p:nvPr/>
        </p:nvSpPr>
        <p:spPr>
          <a:xfrm>
            <a:off x="2079523" y="4003232"/>
            <a:ext cx="3810000" cy="367537"/>
          </a:xfrm>
          <a:prstGeom prst="rect">
            <a:avLst/>
          </a:prstGeom>
          <a:noFill/>
        </p:spPr>
        <p:txBody>
          <a:bodyPr wrap="square">
            <a:spAutoFit/>
          </a:bodyPr>
          <a:lstStyle/>
          <a:p>
            <a:pPr algn="just">
              <a:lnSpc>
                <a:spcPct val="115000"/>
              </a:lnSpc>
              <a:spcAft>
                <a:spcPts val="800"/>
              </a:spcAft>
              <a:buNone/>
            </a:pP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Linguistic Representation of Positive Modifiers Exclusively Used for Murderers in Gephi, Layout: </a:t>
            </a:r>
            <a:r>
              <a:rPr lang="en-US" sz="800" kern="100" dirty="0" err="1">
                <a:effectLst/>
                <a:latin typeface="Times New Roman" panose="02020603050405020304" pitchFamily="18" charset="0"/>
                <a:ea typeface="DengXian" panose="02010600030101010101" pitchFamily="2" charset="-122"/>
                <a:cs typeface="Times New Roman" panose="02020603050405020304" pitchFamily="18" charset="0"/>
              </a:rPr>
              <a:t>Fruchterman</a:t>
            </a: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 Reingold</a:t>
            </a:r>
            <a:endParaRPr lang="de-DE" sz="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6974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E2F364-03D9-D2AE-8337-80FBDC275544}"/>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5FD649DB-5717-1C1D-A2C2-B5458A196339}"/>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503CB821-A91C-4034-7B39-FDF3AE9EC10A}"/>
              </a:ext>
            </a:extLst>
          </p:cNvPr>
          <p:cNvGraphicFramePr>
            <a:graphicFrameLocks noGrp="1"/>
          </p:cNvGraphicFramePr>
          <p:nvPr>
            <p:ph idx="1"/>
            <p:extLst>
              <p:ext uri="{D42A27DB-BD31-4B8C-83A1-F6EECF244321}">
                <p14:modId xmlns:p14="http://schemas.microsoft.com/office/powerpoint/2010/main" val="2221618858"/>
              </p:ext>
            </p:extLst>
          </p:nvPr>
        </p:nvGraphicFramePr>
        <p:xfrm>
          <a:off x="1453256" y="396000"/>
          <a:ext cx="3718661" cy="4110574"/>
        </p:xfrm>
        <a:graphic>
          <a:graphicData uri="http://schemas.openxmlformats.org/drawingml/2006/table">
            <a:tbl>
              <a:tblPr firstRow="1" firstCol="1" bandRow="1">
                <a:tableStyleId>{5C22544A-7EE6-4342-B048-85BDC9FD1C3A}</a:tableStyleId>
              </a:tblPr>
              <a:tblGrid>
                <a:gridCol w="726528">
                  <a:extLst>
                    <a:ext uri="{9D8B030D-6E8A-4147-A177-3AD203B41FA5}">
                      <a16:colId xmlns:a16="http://schemas.microsoft.com/office/drawing/2014/main" val="1313408700"/>
                    </a:ext>
                  </a:extLst>
                </a:gridCol>
                <a:gridCol w="598012">
                  <a:extLst>
                    <a:ext uri="{9D8B030D-6E8A-4147-A177-3AD203B41FA5}">
                      <a16:colId xmlns:a16="http://schemas.microsoft.com/office/drawing/2014/main" val="1875829859"/>
                    </a:ext>
                  </a:extLst>
                </a:gridCol>
                <a:gridCol w="650351">
                  <a:extLst>
                    <a:ext uri="{9D8B030D-6E8A-4147-A177-3AD203B41FA5}">
                      <a16:colId xmlns:a16="http://schemas.microsoft.com/office/drawing/2014/main" val="1247527462"/>
                    </a:ext>
                  </a:extLst>
                </a:gridCol>
                <a:gridCol w="600085">
                  <a:extLst>
                    <a:ext uri="{9D8B030D-6E8A-4147-A177-3AD203B41FA5}">
                      <a16:colId xmlns:a16="http://schemas.microsoft.com/office/drawing/2014/main" val="474745302"/>
                    </a:ext>
                  </a:extLst>
                </a:gridCol>
                <a:gridCol w="535309">
                  <a:extLst>
                    <a:ext uri="{9D8B030D-6E8A-4147-A177-3AD203B41FA5}">
                      <a16:colId xmlns:a16="http://schemas.microsoft.com/office/drawing/2014/main" val="4231506600"/>
                    </a:ext>
                  </a:extLst>
                </a:gridCol>
                <a:gridCol w="608376">
                  <a:extLst>
                    <a:ext uri="{9D8B030D-6E8A-4147-A177-3AD203B41FA5}">
                      <a16:colId xmlns:a16="http://schemas.microsoft.com/office/drawing/2014/main" val="94760878"/>
                    </a:ext>
                  </a:extLst>
                </a:gridCol>
              </a:tblGrid>
              <a:tr h="357349">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Male</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Frequency</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Female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Frequency</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Both</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Frequency</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tc>
                <a:extLst>
                  <a:ext uri="{0D108BD9-81ED-4DB2-BD59-A6C34878D82A}">
                    <a16:rowId xmlns:a16="http://schemas.microsoft.com/office/drawing/2014/main" val="1303923789"/>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good</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2</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dear</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2</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discreet</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647456900"/>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friend</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2</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please</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2</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vigorous</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3</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2392446346"/>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attractive</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safe</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flush</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2</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1659088772"/>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allow</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cheerfully</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3986861751"/>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efficient</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kiss</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3168085827"/>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resourceful</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beautiful</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3541328189"/>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trustworthy</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nice</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4049576598"/>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overjoy</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easily</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1014793700"/>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intelligent</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sweetly</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416441233"/>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discretion</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delighted</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1739067330"/>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charm</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radiant</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2268686144"/>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consent</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enthusiastic</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3723624201"/>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confidently</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strong</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1</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1724635794"/>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grin</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1</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successful</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1</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1770327177"/>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magnificent</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3790869546"/>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mellow</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485556149"/>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generously</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4098822320"/>
                  </a:ext>
                </a:extLst>
              </a:tr>
              <a:tr h="184378">
                <a:tc>
                  <a:txBody>
                    <a:bodyPr/>
                    <a:lstStyle/>
                    <a:p>
                      <a:pPr marL="0" algn="just" defTabSz="571454" rtl="0" eaLnBrk="1" latinLnBrk="0" hangingPunct="1">
                        <a:lnSpc>
                          <a:spcPct val="150000"/>
                        </a:lnSpc>
                        <a:spcAft>
                          <a:spcPts val="800"/>
                        </a:spcAft>
                        <a:buNone/>
                      </a:pPr>
                      <a:r>
                        <a:rPr lang="en-US" sz="900" b="0" kern="100" dirty="0">
                          <a:solidFill>
                            <a:schemeClr val="dk1"/>
                          </a:solidFill>
                          <a:effectLst/>
                          <a:latin typeface="Times New Roman" panose="02020603050405020304" pitchFamily="18" charset="0"/>
                          <a:ea typeface="+mn-ea"/>
                          <a:cs typeface="Times New Roman" panose="02020603050405020304" pitchFamily="18" charset="0"/>
                        </a:rPr>
                        <a:t>extraordinary</a:t>
                      </a:r>
                      <a:endParaRPr lang="de-DE" sz="9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1</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a:effectLst/>
                          <a:latin typeface="Times New Roman" panose="02020603050405020304" pitchFamily="18" charset="0"/>
                          <a:cs typeface="Times New Roman" panose="02020603050405020304" pitchFamily="18" charset="0"/>
                        </a:rPr>
                        <a:t> </a:t>
                      </a:r>
                      <a:endParaRPr lang="de-DE" sz="10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tc>
                  <a:txBody>
                    <a:bodyPr/>
                    <a:lstStyle/>
                    <a:p>
                      <a:pPr algn="just">
                        <a:lnSpc>
                          <a:spcPct val="150000"/>
                        </a:lnSpc>
                        <a:spcAft>
                          <a:spcPts val="800"/>
                        </a:spcAft>
                        <a:buNone/>
                      </a:pPr>
                      <a:r>
                        <a:rPr lang="en-US" sz="900" kern="100" dirty="0">
                          <a:effectLst/>
                          <a:latin typeface="Times New Roman" panose="02020603050405020304" pitchFamily="18" charset="0"/>
                          <a:cs typeface="Times New Roman" panose="02020603050405020304" pitchFamily="18" charset="0"/>
                        </a:rPr>
                        <a:t> </a:t>
                      </a:r>
                      <a:endParaRPr lang="de-DE" sz="10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55966" marR="55966" marT="0" marB="0">
                    <a:solidFill>
                      <a:schemeClr val="accent1">
                        <a:lumMod val="20000"/>
                        <a:lumOff val="80000"/>
                      </a:schemeClr>
                    </a:solidFill>
                  </a:tcPr>
                </a:tc>
                <a:extLst>
                  <a:ext uri="{0D108BD9-81ED-4DB2-BD59-A6C34878D82A}">
                    <a16:rowId xmlns:a16="http://schemas.microsoft.com/office/drawing/2014/main" val="4263358328"/>
                  </a:ext>
                </a:extLst>
              </a:tr>
            </a:tbl>
          </a:graphicData>
        </a:graphic>
      </p:graphicFrame>
      <p:sp>
        <p:nvSpPr>
          <p:cNvPr id="7" name="Foliennummernplatzhalter 6">
            <a:extLst>
              <a:ext uri="{FF2B5EF4-FFF2-40B4-BE49-F238E27FC236}">
                <a16:creationId xmlns:a16="http://schemas.microsoft.com/office/drawing/2014/main" id="{5CC8C1A5-E4E9-B8A0-5075-BB1DC02CF921}"/>
              </a:ext>
            </a:extLst>
          </p:cNvPr>
          <p:cNvSpPr>
            <a:spLocks noGrp="1"/>
          </p:cNvSpPr>
          <p:nvPr>
            <p:ph type="sldNum" sz="quarter" idx="16"/>
          </p:nvPr>
        </p:nvSpPr>
        <p:spPr/>
        <p:txBody>
          <a:bodyPr/>
          <a:lstStyle/>
          <a:p>
            <a:fld id="{9E82CC3C-1DC0-4FDA-9590-6CC506AB67F8}" type="slidenum">
              <a:rPr lang="en-US" smtClean="0"/>
              <a:pPr/>
              <a:t>35</a:t>
            </a:fld>
            <a:endParaRPr lang="en-US" dirty="0"/>
          </a:p>
        </p:txBody>
      </p:sp>
      <p:sp>
        <p:nvSpPr>
          <p:cNvPr id="10" name="Textfeld 9">
            <a:extLst>
              <a:ext uri="{FF2B5EF4-FFF2-40B4-BE49-F238E27FC236}">
                <a16:creationId xmlns:a16="http://schemas.microsoft.com/office/drawing/2014/main" id="{5D0329CB-D8D8-67B6-8D86-24DCC98B0F35}"/>
              </a:ext>
            </a:extLst>
          </p:cNvPr>
          <p:cNvSpPr txBox="1"/>
          <p:nvPr/>
        </p:nvSpPr>
        <p:spPr>
          <a:xfrm>
            <a:off x="1407586" y="4765196"/>
            <a:ext cx="3810000" cy="246221"/>
          </a:xfrm>
          <a:prstGeom prst="rect">
            <a:avLst/>
          </a:prstGeom>
          <a:noFill/>
        </p:spPr>
        <p:txBody>
          <a:bodyPr wrap="square">
            <a:spAutoFit/>
          </a:bodyPr>
          <a:lstStyle/>
          <a:p>
            <a:r>
              <a:rPr lang="en-US" sz="1000" dirty="0">
                <a:effectLst/>
                <a:latin typeface="Times New Roman" panose="02020603050405020304" pitchFamily="18" charset="0"/>
                <a:ea typeface="DengXian" panose="02010600030101010101" pitchFamily="2" charset="-122"/>
              </a:rPr>
              <a:t>Positive Modifiers Exclusively Used for Murderers</a:t>
            </a:r>
            <a:endParaRPr lang="de-DE" sz="1000" dirty="0"/>
          </a:p>
        </p:txBody>
      </p:sp>
    </p:spTree>
    <p:extLst>
      <p:ext uri="{BB962C8B-B14F-4D97-AF65-F5344CB8AC3E}">
        <p14:creationId xmlns:p14="http://schemas.microsoft.com/office/powerpoint/2010/main" val="2239715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DD686C-F5AA-2F48-F13B-5D7A69610CC1}"/>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BBDC8E3A-EF09-99C6-1FA2-26D66AE2ED3A}"/>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5107BC6F-D368-C804-FA3D-20D57A484315}"/>
              </a:ext>
            </a:extLst>
          </p:cNvPr>
          <p:cNvSpPr>
            <a:spLocks noGrp="1"/>
          </p:cNvSpPr>
          <p:nvPr>
            <p:ph type="sldNum" sz="quarter" idx="16"/>
          </p:nvPr>
        </p:nvSpPr>
        <p:spPr/>
        <p:txBody>
          <a:bodyPr/>
          <a:lstStyle/>
          <a:p>
            <a:fld id="{9E82CC3C-1DC0-4FDA-9590-6CC506AB67F8}" type="slidenum">
              <a:rPr lang="en-US" smtClean="0"/>
              <a:pPr/>
              <a:t>36</a:t>
            </a:fld>
            <a:endParaRPr lang="en-US" dirty="0"/>
          </a:p>
        </p:txBody>
      </p:sp>
      <p:pic>
        <p:nvPicPr>
          <p:cNvPr id="8" name="Inhaltsplatzhalter 7">
            <a:extLst>
              <a:ext uri="{FF2B5EF4-FFF2-40B4-BE49-F238E27FC236}">
                <a16:creationId xmlns:a16="http://schemas.microsoft.com/office/drawing/2014/main" id="{65D1E842-4BD2-1871-FAE3-58B25A33F10E}"/>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4737" y="1123985"/>
            <a:ext cx="2784898" cy="2755802"/>
          </a:xfrm>
          <a:prstGeom prst="rect">
            <a:avLst/>
          </a:prstGeom>
        </p:spPr>
      </p:pic>
      <p:sp>
        <p:nvSpPr>
          <p:cNvPr id="11" name="Textfeld 10">
            <a:extLst>
              <a:ext uri="{FF2B5EF4-FFF2-40B4-BE49-F238E27FC236}">
                <a16:creationId xmlns:a16="http://schemas.microsoft.com/office/drawing/2014/main" id="{CB56A3B8-F3DD-72BB-DD70-7B88733195B0}"/>
              </a:ext>
            </a:extLst>
          </p:cNvPr>
          <p:cNvSpPr txBox="1"/>
          <p:nvPr/>
        </p:nvSpPr>
        <p:spPr>
          <a:xfrm>
            <a:off x="3525263" y="2101776"/>
            <a:ext cx="3810000" cy="400110"/>
          </a:xfrm>
          <a:prstGeom prst="rect">
            <a:avLst/>
          </a:prstGeom>
          <a:noFill/>
        </p:spPr>
        <p:txBody>
          <a:bodyPr wrap="square">
            <a:spAutoFit/>
          </a:bodyPr>
          <a:lstStyle/>
          <a:p>
            <a:r>
              <a:rPr lang="en-US" sz="1000" dirty="0">
                <a:effectLst/>
                <a:latin typeface="Times New Roman" panose="02020603050405020304" pitchFamily="18" charset="0"/>
                <a:ea typeface="DengXian" panose="02010600030101010101" pitchFamily="2" charset="-122"/>
              </a:rPr>
              <a:t>Of all the 103 negative modifiers, 59.26% are used for male characters and 40.74% are used for female characters</a:t>
            </a:r>
            <a:endParaRPr lang="de-DE" sz="1000" dirty="0"/>
          </a:p>
        </p:txBody>
      </p:sp>
      <p:sp>
        <p:nvSpPr>
          <p:cNvPr id="13" name="Textfeld 12">
            <a:extLst>
              <a:ext uri="{FF2B5EF4-FFF2-40B4-BE49-F238E27FC236}">
                <a16:creationId xmlns:a16="http://schemas.microsoft.com/office/drawing/2014/main" id="{2C7D5E93-A50A-20A6-1629-0E8BB4E125C4}"/>
              </a:ext>
            </a:extLst>
          </p:cNvPr>
          <p:cNvSpPr txBox="1"/>
          <p:nvPr/>
        </p:nvSpPr>
        <p:spPr>
          <a:xfrm>
            <a:off x="3525263" y="2827952"/>
            <a:ext cx="3810000" cy="992259"/>
          </a:xfrm>
          <a:prstGeom prst="rect">
            <a:avLst/>
          </a:prstGeom>
          <a:noFill/>
        </p:spPr>
        <p:txBody>
          <a:bodyPr wrap="square">
            <a:spAutoFit/>
          </a:bodyPr>
          <a:lstStyle/>
          <a:p>
            <a:pPr algn="just">
              <a:lnSpc>
                <a:spcPct val="150000"/>
              </a:lnSpc>
              <a:spcAft>
                <a:spcPts val="800"/>
              </a:spcAft>
              <a:buNone/>
            </a:pPr>
            <a:r>
              <a:rPr lang="en-US" sz="1000" kern="100" dirty="0">
                <a:effectLst/>
                <a:latin typeface="Times New Roman" panose="02020603050405020304" pitchFamily="18" charset="0"/>
                <a:ea typeface="DengXian" panose="02010600030101010101" pitchFamily="2" charset="-122"/>
                <a:cs typeface="Times New Roman" panose="02020603050405020304" pitchFamily="18" charset="0"/>
              </a:rPr>
              <a:t>30.1% of all negative modifiers are exclusively used for detectives, 52.43 % are used only for murderers, 17.48% are used both for detectives and murderers. Within the domain of negative descriptors, murderers are clearly the primary targets.</a:t>
            </a:r>
            <a:endParaRPr lang="de-DE" sz="1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16" name="Textfeld 15">
            <a:extLst>
              <a:ext uri="{FF2B5EF4-FFF2-40B4-BE49-F238E27FC236}">
                <a16:creationId xmlns:a16="http://schemas.microsoft.com/office/drawing/2014/main" id="{E7DD2A74-C9AB-FF4A-B639-95D0DDF18F1A}"/>
              </a:ext>
            </a:extLst>
          </p:cNvPr>
          <p:cNvSpPr txBox="1"/>
          <p:nvPr/>
        </p:nvSpPr>
        <p:spPr>
          <a:xfrm>
            <a:off x="3525263" y="1208250"/>
            <a:ext cx="3810000" cy="553998"/>
          </a:xfrm>
          <a:prstGeom prst="rect">
            <a:avLst/>
          </a:prstGeom>
          <a:noFill/>
        </p:spPr>
        <p:txBody>
          <a:bodyPr wrap="square">
            <a:spAutoFit/>
          </a:bodyPr>
          <a:lstStyle/>
          <a:p>
            <a:r>
              <a:rPr lang="en-US" sz="1000" dirty="0">
                <a:effectLst/>
                <a:latin typeface="Times New Roman" panose="02020603050405020304" pitchFamily="18" charset="0"/>
                <a:ea typeface="DengXian" panose="02010600030101010101" pitchFamily="2" charset="-122"/>
              </a:rPr>
              <a:t>blue :both genders</a:t>
            </a:r>
          </a:p>
          <a:p>
            <a:r>
              <a:rPr lang="en-US" sz="1000" dirty="0">
                <a:latin typeface="Times New Roman" panose="02020603050405020304" pitchFamily="18" charset="0"/>
                <a:ea typeface="DengXian" panose="02010600030101010101" pitchFamily="2" charset="-122"/>
              </a:rPr>
              <a:t>r</a:t>
            </a:r>
            <a:r>
              <a:rPr lang="en-US" sz="1000" dirty="0">
                <a:effectLst/>
                <a:latin typeface="Times New Roman" panose="02020603050405020304" pitchFamily="18" charset="0"/>
                <a:ea typeface="DengXian" panose="02010600030101010101" pitchFamily="2" charset="-122"/>
              </a:rPr>
              <a:t>ed : exclusively for male characters</a:t>
            </a:r>
          </a:p>
          <a:p>
            <a:r>
              <a:rPr lang="en-US" sz="1000" dirty="0">
                <a:effectLst/>
                <a:latin typeface="Times New Roman" panose="02020603050405020304" pitchFamily="18" charset="0"/>
                <a:ea typeface="DengXian" panose="02010600030101010101" pitchFamily="2" charset="-122"/>
              </a:rPr>
              <a:t>green : exclusively for female characters</a:t>
            </a:r>
            <a:endParaRPr lang="de-DE" sz="1000" dirty="0"/>
          </a:p>
        </p:txBody>
      </p:sp>
      <p:sp>
        <p:nvSpPr>
          <p:cNvPr id="18" name="Textfeld 17">
            <a:extLst>
              <a:ext uri="{FF2B5EF4-FFF2-40B4-BE49-F238E27FC236}">
                <a16:creationId xmlns:a16="http://schemas.microsoft.com/office/drawing/2014/main" id="{3B01088D-DD9F-5779-E8F8-E988E66D31F5}"/>
              </a:ext>
            </a:extLst>
          </p:cNvPr>
          <p:cNvSpPr txBox="1"/>
          <p:nvPr/>
        </p:nvSpPr>
        <p:spPr>
          <a:xfrm>
            <a:off x="134819" y="3724979"/>
            <a:ext cx="3239247" cy="367537"/>
          </a:xfrm>
          <a:prstGeom prst="rect">
            <a:avLst/>
          </a:prstGeom>
          <a:noFill/>
        </p:spPr>
        <p:txBody>
          <a:bodyPr wrap="square">
            <a:spAutoFit/>
          </a:bodyPr>
          <a:lstStyle/>
          <a:p>
            <a:pPr algn="just">
              <a:lnSpc>
                <a:spcPct val="115000"/>
              </a:lnSpc>
              <a:spcAft>
                <a:spcPts val="800"/>
              </a:spcAft>
              <a:buNone/>
            </a:pP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Linguistic Representation of Negative Modifiers in Gephi, Layout: </a:t>
            </a:r>
            <a:r>
              <a:rPr lang="en-US" sz="800" kern="100" dirty="0" err="1">
                <a:effectLst/>
                <a:latin typeface="Times New Roman" panose="02020603050405020304" pitchFamily="18" charset="0"/>
                <a:ea typeface="DengXian" panose="02010600030101010101" pitchFamily="2" charset="-122"/>
                <a:cs typeface="Times New Roman" panose="02020603050405020304" pitchFamily="18" charset="0"/>
              </a:rPr>
              <a:t>Fruchterman</a:t>
            </a:r>
            <a:r>
              <a:rPr lang="en-US" sz="800" kern="100" dirty="0">
                <a:effectLst/>
                <a:latin typeface="Times New Roman" panose="02020603050405020304" pitchFamily="18" charset="0"/>
                <a:ea typeface="DengXian" panose="02010600030101010101" pitchFamily="2" charset="-122"/>
                <a:cs typeface="Times New Roman" panose="02020603050405020304" pitchFamily="18" charset="0"/>
              </a:rPr>
              <a:t> Reingold</a:t>
            </a:r>
            <a:endParaRPr lang="de-DE" sz="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46032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4E0B3-388E-027D-6648-6BEBAA29FCC4}"/>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70263296-AAE6-1CC9-F31E-A7785E09B37C}"/>
              </a:ext>
            </a:extLst>
          </p:cNvPr>
          <p:cNvSpPr>
            <a:spLocks noGrp="1"/>
          </p:cNvSpPr>
          <p:nvPr>
            <p:ph type="body" sz="quarter" idx="13"/>
          </p:nvPr>
        </p:nvSpPr>
        <p:spPr/>
        <p:txBody>
          <a:bodyPr/>
          <a:lstStyle/>
          <a:p>
            <a:endParaRPr lang="de-DE"/>
          </a:p>
        </p:txBody>
      </p:sp>
      <p:sp>
        <p:nvSpPr>
          <p:cNvPr id="7" name="Foliennummernplatzhalter 6">
            <a:extLst>
              <a:ext uri="{FF2B5EF4-FFF2-40B4-BE49-F238E27FC236}">
                <a16:creationId xmlns:a16="http://schemas.microsoft.com/office/drawing/2014/main" id="{7569B7D6-812C-F462-FC64-224C21934423}"/>
              </a:ext>
            </a:extLst>
          </p:cNvPr>
          <p:cNvSpPr>
            <a:spLocks noGrp="1"/>
          </p:cNvSpPr>
          <p:nvPr>
            <p:ph type="sldNum" sz="quarter" idx="16"/>
          </p:nvPr>
        </p:nvSpPr>
        <p:spPr/>
        <p:txBody>
          <a:bodyPr/>
          <a:lstStyle/>
          <a:p>
            <a:fld id="{9E82CC3C-1DC0-4FDA-9590-6CC506AB67F8}" type="slidenum">
              <a:rPr lang="en-US" smtClean="0"/>
              <a:pPr/>
              <a:t>37</a:t>
            </a:fld>
            <a:endParaRPr lang="en-US" dirty="0"/>
          </a:p>
        </p:txBody>
      </p:sp>
      <p:pic>
        <p:nvPicPr>
          <p:cNvPr id="8" name="Inhaltsplatzhalter 7">
            <a:extLst>
              <a:ext uri="{FF2B5EF4-FFF2-40B4-BE49-F238E27FC236}">
                <a16:creationId xmlns:a16="http://schemas.microsoft.com/office/drawing/2014/main" id="{32063C2C-B86E-5DE8-BF0E-D42766AC739D}"/>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20847" y="1283716"/>
            <a:ext cx="2606166" cy="2392746"/>
          </a:xfrm>
          <a:prstGeom prst="rect">
            <a:avLst/>
          </a:prstGeom>
        </p:spPr>
      </p:pic>
      <p:sp>
        <p:nvSpPr>
          <p:cNvPr id="10" name="Textfeld 9">
            <a:extLst>
              <a:ext uri="{FF2B5EF4-FFF2-40B4-BE49-F238E27FC236}">
                <a16:creationId xmlns:a16="http://schemas.microsoft.com/office/drawing/2014/main" id="{475C5F07-5ED5-49A3-F9CD-D1823B8776CB}"/>
              </a:ext>
            </a:extLst>
          </p:cNvPr>
          <p:cNvSpPr txBox="1"/>
          <p:nvPr/>
        </p:nvSpPr>
        <p:spPr>
          <a:xfrm>
            <a:off x="2110706" y="3735455"/>
            <a:ext cx="3262422" cy="338554"/>
          </a:xfrm>
          <a:prstGeom prst="rect">
            <a:avLst/>
          </a:prstGeom>
          <a:noFill/>
        </p:spPr>
        <p:txBody>
          <a:bodyPr wrap="square">
            <a:spAutoFit/>
          </a:bodyPr>
          <a:lstStyle/>
          <a:p>
            <a:r>
              <a:rPr lang="en-US" sz="800" dirty="0">
                <a:effectLst/>
                <a:latin typeface="Times New Roman" panose="02020603050405020304" pitchFamily="18" charset="0"/>
                <a:ea typeface="DengXian" panose="02010600030101010101" pitchFamily="2" charset="-122"/>
              </a:rPr>
              <a:t>Linguistic Representation of Negative Modifiers Exclusively Used for Murderers  in Gephi, Layout: </a:t>
            </a:r>
            <a:r>
              <a:rPr lang="en-US" sz="800" dirty="0" err="1">
                <a:effectLst/>
                <a:latin typeface="Times New Roman" panose="02020603050405020304" pitchFamily="18" charset="0"/>
                <a:ea typeface="DengXian" panose="02010600030101010101" pitchFamily="2" charset="-122"/>
              </a:rPr>
              <a:t>Fruchterman</a:t>
            </a:r>
            <a:r>
              <a:rPr lang="en-US" sz="800" dirty="0">
                <a:effectLst/>
                <a:latin typeface="Times New Roman" panose="02020603050405020304" pitchFamily="18" charset="0"/>
                <a:ea typeface="DengXian" panose="02010600030101010101" pitchFamily="2" charset="-122"/>
              </a:rPr>
              <a:t> Reingold</a:t>
            </a:r>
            <a:endParaRPr lang="de-DE" sz="800" dirty="0"/>
          </a:p>
        </p:txBody>
      </p:sp>
    </p:spTree>
    <p:extLst>
      <p:ext uri="{BB962C8B-B14F-4D97-AF65-F5344CB8AC3E}">
        <p14:creationId xmlns:p14="http://schemas.microsoft.com/office/powerpoint/2010/main" val="3137935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Inhaltsplatzhalter 7">
            <a:extLst>
              <a:ext uri="{FF2B5EF4-FFF2-40B4-BE49-F238E27FC236}">
                <a16:creationId xmlns:a16="http://schemas.microsoft.com/office/drawing/2014/main" id="{5903B62F-D76A-E65F-ABCB-A9AACCB20BA7}"/>
              </a:ext>
            </a:extLst>
          </p:cNvPr>
          <p:cNvGraphicFramePr>
            <a:graphicFrameLocks noGrp="1"/>
          </p:cNvGraphicFramePr>
          <p:nvPr>
            <p:ph idx="1"/>
            <p:extLst>
              <p:ext uri="{D42A27DB-BD31-4B8C-83A1-F6EECF244321}">
                <p14:modId xmlns:p14="http://schemas.microsoft.com/office/powerpoint/2010/main" val="3772940946"/>
              </p:ext>
            </p:extLst>
          </p:nvPr>
        </p:nvGraphicFramePr>
        <p:xfrm>
          <a:off x="1598454" y="304613"/>
          <a:ext cx="4011966" cy="4690124"/>
        </p:xfrm>
        <a:graphic>
          <a:graphicData uri="http://schemas.openxmlformats.org/drawingml/2006/table">
            <a:tbl>
              <a:tblPr firstRow="1" firstCol="1" bandRow="1">
                <a:tableStyleId>{5C22544A-7EE6-4342-B048-85BDC9FD1C3A}</a:tableStyleId>
              </a:tblPr>
              <a:tblGrid>
                <a:gridCol w="643628">
                  <a:extLst>
                    <a:ext uri="{9D8B030D-6E8A-4147-A177-3AD203B41FA5}">
                      <a16:colId xmlns:a16="http://schemas.microsoft.com/office/drawing/2014/main" val="738021667"/>
                    </a:ext>
                  </a:extLst>
                </a:gridCol>
                <a:gridCol w="660317">
                  <a:extLst>
                    <a:ext uri="{9D8B030D-6E8A-4147-A177-3AD203B41FA5}">
                      <a16:colId xmlns:a16="http://schemas.microsoft.com/office/drawing/2014/main" val="3835229783"/>
                    </a:ext>
                  </a:extLst>
                </a:gridCol>
                <a:gridCol w="720305">
                  <a:extLst>
                    <a:ext uri="{9D8B030D-6E8A-4147-A177-3AD203B41FA5}">
                      <a16:colId xmlns:a16="http://schemas.microsoft.com/office/drawing/2014/main" val="2994873899"/>
                    </a:ext>
                  </a:extLst>
                </a:gridCol>
                <a:gridCol w="659866">
                  <a:extLst>
                    <a:ext uri="{9D8B030D-6E8A-4147-A177-3AD203B41FA5}">
                      <a16:colId xmlns:a16="http://schemas.microsoft.com/office/drawing/2014/main" val="2142698364"/>
                    </a:ext>
                  </a:extLst>
                </a:gridCol>
                <a:gridCol w="667533">
                  <a:extLst>
                    <a:ext uri="{9D8B030D-6E8A-4147-A177-3AD203B41FA5}">
                      <a16:colId xmlns:a16="http://schemas.microsoft.com/office/drawing/2014/main" val="2618277644"/>
                    </a:ext>
                  </a:extLst>
                </a:gridCol>
                <a:gridCol w="660317">
                  <a:extLst>
                    <a:ext uri="{9D8B030D-6E8A-4147-A177-3AD203B41FA5}">
                      <a16:colId xmlns:a16="http://schemas.microsoft.com/office/drawing/2014/main" val="2012320261"/>
                    </a:ext>
                  </a:extLst>
                </a:gridCol>
              </a:tblGrid>
              <a:tr h="160479">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Male</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Frequency</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Female</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Frequency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Both</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Frequency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tc>
                <a:extLst>
                  <a:ext uri="{0D108BD9-81ED-4DB2-BD59-A6C34878D82A}">
                    <a16:rowId xmlns:a16="http://schemas.microsoft.com/office/drawing/2014/main" val="3545522019"/>
                  </a:ext>
                </a:extLst>
              </a:tr>
              <a:tr h="160479">
                <a:tc>
                  <a:txBody>
                    <a:bodyPr/>
                    <a:lstStyle/>
                    <a:p>
                      <a:pPr algn="just">
                        <a:lnSpc>
                          <a:spcPct val="150000"/>
                        </a:lnSpc>
                        <a:spcAft>
                          <a:spcPts val="800"/>
                        </a:spcAft>
                        <a:buNone/>
                      </a:pPr>
                      <a:r>
                        <a:rPr lang="en-US" sz="800" b="0" kern="100" dirty="0">
                          <a:solidFill>
                            <a:schemeClr val="tx1"/>
                          </a:solidFill>
                          <a:effectLst/>
                          <a:latin typeface="Times New Roman" panose="02020603050405020304" pitchFamily="18" charset="0"/>
                          <a:cs typeface="Times New Roman" panose="02020603050405020304" pitchFamily="18" charset="0"/>
                        </a:rPr>
                        <a:t>weak</a:t>
                      </a:r>
                      <a:endParaRPr lang="de-DE" sz="900" b="0" kern="100" dirty="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2</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accost</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murder</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5</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915120726"/>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yawn</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badly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startled</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3</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303823022"/>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wound up</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crime</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dead</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2</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80150349"/>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tiresome</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dark wig</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impatiently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2</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664582871"/>
                  </a:ext>
                </a:extLst>
              </a:tr>
              <a:tr h="33908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take charge of</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dully</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337957420"/>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suspect</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faintly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4058385594"/>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sulky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heavy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375026097"/>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stupid</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helplessly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117530895"/>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sly dog</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hidden</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187901852"/>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robbery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ill</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492418283"/>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rage</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kill</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4259607082"/>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limp</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ridiculous</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584560012"/>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incredulous</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screw up</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99867226"/>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in concern</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sob</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604457509"/>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horribly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uncertainly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736025409"/>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grumpy </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unconcerned</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279960170"/>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gasp</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uncontrollably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680285336"/>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false</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uneasy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947711262"/>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exploit</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unwillingly</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975572099"/>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doubtful</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upset</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1377962205"/>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crazy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victim</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714076655"/>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coarse</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weep</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1494538340"/>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bloody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poor</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543834455"/>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bitterly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3017877137"/>
                  </a:ext>
                </a:extLst>
              </a:tr>
              <a:tr h="160479">
                <a:tc>
                  <a:txBody>
                    <a:bodyPr/>
                    <a:lstStyle/>
                    <a:p>
                      <a:pPr algn="just">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austere</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2316290406"/>
                  </a:ext>
                </a:extLst>
              </a:tr>
              <a:tr h="160479">
                <a:tc>
                  <a:txBody>
                    <a:bodyPr/>
                    <a:lstStyle/>
                    <a:p>
                      <a:pPr>
                        <a:lnSpc>
                          <a:spcPct val="150000"/>
                        </a:lnSpc>
                        <a:spcAft>
                          <a:spcPts val="800"/>
                        </a:spcAft>
                        <a:buNone/>
                      </a:pPr>
                      <a:r>
                        <a:rPr lang="en-US" sz="800" b="0" kern="100">
                          <a:solidFill>
                            <a:schemeClr val="tx1"/>
                          </a:solidFill>
                          <a:effectLst/>
                          <a:latin typeface="Times New Roman" panose="02020603050405020304" pitchFamily="18" charset="0"/>
                          <a:cs typeface="Times New Roman" panose="02020603050405020304" pitchFamily="18" charset="0"/>
                        </a:rPr>
                        <a:t>angrily</a:t>
                      </a:r>
                      <a:endParaRPr lang="de-DE" sz="900" b="0" kern="10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1</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1923391238"/>
                  </a:ext>
                </a:extLst>
              </a:tr>
              <a:tr h="160479">
                <a:tc>
                  <a:txBody>
                    <a:bodyPr/>
                    <a:lstStyle/>
                    <a:p>
                      <a:pPr algn="just">
                        <a:lnSpc>
                          <a:spcPct val="150000"/>
                        </a:lnSpc>
                        <a:spcAft>
                          <a:spcPts val="800"/>
                        </a:spcAft>
                        <a:buNone/>
                      </a:pPr>
                      <a:r>
                        <a:rPr lang="en-US" sz="800" b="0" kern="100" dirty="0">
                          <a:solidFill>
                            <a:schemeClr val="tx1"/>
                          </a:solidFill>
                          <a:effectLst/>
                          <a:latin typeface="Times New Roman" panose="02020603050405020304" pitchFamily="18" charset="0"/>
                          <a:cs typeface="Times New Roman" panose="02020603050405020304" pitchFamily="18" charset="0"/>
                        </a:rPr>
                        <a:t>abashed</a:t>
                      </a:r>
                      <a:endParaRPr lang="de-DE" sz="900" b="0" kern="100" dirty="0">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1</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a:effectLst/>
                          <a:latin typeface="Times New Roman" panose="02020603050405020304" pitchFamily="18" charset="0"/>
                          <a:cs typeface="Times New Roman" panose="02020603050405020304" pitchFamily="18" charset="0"/>
                        </a:rPr>
                        <a:t> </a:t>
                      </a:r>
                      <a:endParaRPr lang="de-DE" sz="9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tc>
                  <a:txBody>
                    <a:bodyPr/>
                    <a:lstStyle/>
                    <a:p>
                      <a:pPr algn="just">
                        <a:lnSpc>
                          <a:spcPct val="150000"/>
                        </a:lnSpc>
                        <a:spcAft>
                          <a:spcPts val="800"/>
                        </a:spcAft>
                        <a:buNone/>
                      </a:pPr>
                      <a:r>
                        <a:rPr lang="en-US" sz="800" kern="100" dirty="0">
                          <a:effectLst/>
                          <a:latin typeface="Times New Roman" panose="02020603050405020304" pitchFamily="18" charset="0"/>
                          <a:cs typeface="Times New Roman" panose="02020603050405020304" pitchFamily="18" charset="0"/>
                        </a:rPr>
                        <a:t> </a:t>
                      </a:r>
                      <a:endParaRPr lang="de-DE" sz="9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8712" marR="48712" marT="0" marB="0">
                    <a:solidFill>
                      <a:schemeClr val="accent1">
                        <a:lumMod val="20000"/>
                        <a:lumOff val="80000"/>
                      </a:schemeClr>
                    </a:solidFill>
                  </a:tcPr>
                </a:tc>
                <a:extLst>
                  <a:ext uri="{0D108BD9-81ED-4DB2-BD59-A6C34878D82A}">
                    <a16:rowId xmlns:a16="http://schemas.microsoft.com/office/drawing/2014/main" val="4278526792"/>
                  </a:ext>
                </a:extLst>
              </a:tr>
            </a:tbl>
          </a:graphicData>
        </a:graphic>
      </p:graphicFrame>
      <p:sp>
        <p:nvSpPr>
          <p:cNvPr id="7" name="Foliennummernplatzhalter 6">
            <a:extLst>
              <a:ext uri="{FF2B5EF4-FFF2-40B4-BE49-F238E27FC236}">
                <a16:creationId xmlns:a16="http://schemas.microsoft.com/office/drawing/2014/main" id="{FEFFA6C9-F33A-394D-E38A-792C25ACA08E}"/>
              </a:ext>
            </a:extLst>
          </p:cNvPr>
          <p:cNvSpPr>
            <a:spLocks noGrp="1"/>
          </p:cNvSpPr>
          <p:nvPr>
            <p:ph type="sldNum" sz="quarter" idx="16"/>
          </p:nvPr>
        </p:nvSpPr>
        <p:spPr/>
        <p:txBody>
          <a:bodyPr/>
          <a:lstStyle/>
          <a:p>
            <a:fld id="{9E82CC3C-1DC0-4FDA-9590-6CC506AB67F8}" type="slidenum">
              <a:rPr lang="en-US" smtClean="0"/>
              <a:pPr/>
              <a:t>38</a:t>
            </a:fld>
            <a:endParaRPr lang="en-US" dirty="0"/>
          </a:p>
        </p:txBody>
      </p:sp>
      <p:sp>
        <p:nvSpPr>
          <p:cNvPr id="10" name="Textfeld 9">
            <a:extLst>
              <a:ext uri="{FF2B5EF4-FFF2-40B4-BE49-F238E27FC236}">
                <a16:creationId xmlns:a16="http://schemas.microsoft.com/office/drawing/2014/main" id="{64122374-3874-07AA-66DF-7198433A9105}"/>
              </a:ext>
            </a:extLst>
          </p:cNvPr>
          <p:cNvSpPr txBox="1"/>
          <p:nvPr/>
        </p:nvSpPr>
        <p:spPr>
          <a:xfrm>
            <a:off x="1598454" y="4994737"/>
            <a:ext cx="3810000" cy="242631"/>
          </a:xfrm>
          <a:prstGeom prst="rect">
            <a:avLst/>
          </a:prstGeom>
          <a:noFill/>
        </p:spPr>
        <p:txBody>
          <a:bodyPr wrap="square">
            <a:spAutoFit/>
          </a:bodyPr>
          <a:lstStyle/>
          <a:p>
            <a:pPr algn="just">
              <a:lnSpc>
                <a:spcPct val="115000"/>
              </a:lnSpc>
              <a:spcAft>
                <a:spcPts val="800"/>
              </a:spcAft>
              <a:buNone/>
            </a:pPr>
            <a:r>
              <a:rPr lang="en-US" sz="900" kern="100" dirty="0">
                <a:effectLst/>
                <a:latin typeface="Times New Roman" panose="02020603050405020304" pitchFamily="18" charset="0"/>
                <a:ea typeface="DengXian" panose="02010600030101010101" pitchFamily="2" charset="-122"/>
                <a:cs typeface="Times New Roman" panose="02020603050405020304" pitchFamily="18" charset="0"/>
              </a:rPr>
              <a:t>Negative Modifiers Exclusively Used for Murderers</a:t>
            </a:r>
            <a:endParaRPr lang="de-DE"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12812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B7195C31-B01C-CEAE-BCD7-55678B7D8F7F}"/>
              </a:ext>
            </a:extLst>
          </p:cNvPr>
          <p:cNvSpPr>
            <a:spLocks noGrp="1"/>
          </p:cNvSpPr>
          <p:nvPr>
            <p:ph idx="1"/>
          </p:nvPr>
        </p:nvSpPr>
        <p:spPr>
          <a:xfrm>
            <a:off x="390260" y="99495"/>
            <a:ext cx="6839479" cy="5379818"/>
          </a:xfrm>
        </p:spPr>
        <p:txBody>
          <a:bodyPr/>
          <a:lstStyle/>
          <a:p>
            <a:endParaRPr lang="en-US" sz="1200" dirty="0"/>
          </a:p>
          <a:p>
            <a:endParaRPr lang="en-US" sz="1200" dirty="0"/>
          </a:p>
          <a:p>
            <a:r>
              <a:rPr lang="en-US" sz="1400" dirty="0">
                <a:latin typeface="Times New Roman" panose="02020603050405020304" pitchFamily="18" charset="0"/>
                <a:cs typeface="Times New Roman" panose="02020603050405020304" pitchFamily="18" charset="0"/>
              </a:rPr>
              <a:t>Regarding positive modifiers, </a:t>
            </a:r>
            <a:r>
              <a:rPr lang="en-US" sz="1400" u="sng" dirty="0">
                <a:solidFill>
                  <a:srgbClr val="00B050"/>
                </a:solidFill>
                <a:latin typeface="Times New Roman" panose="02020603050405020304" pitchFamily="18" charset="0"/>
                <a:cs typeface="Times New Roman" panose="02020603050405020304" pitchFamily="18" charset="0"/>
              </a:rPr>
              <a:t>male murderers</a:t>
            </a:r>
            <a:r>
              <a:rPr lang="en-US" sz="1400" u="sng"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are described more in terms of </a:t>
            </a:r>
            <a:r>
              <a:rPr lang="en-US" sz="1400" u="sng" dirty="0">
                <a:solidFill>
                  <a:srgbClr val="00B050"/>
                </a:solidFill>
                <a:latin typeface="Times New Roman" panose="02020603050405020304" pitchFamily="18" charset="0"/>
                <a:cs typeface="Times New Roman" panose="02020603050405020304" pitchFamily="18" charset="0"/>
              </a:rPr>
              <a:t>strength and intellect</a:t>
            </a:r>
            <a:r>
              <a:rPr lang="en-US" sz="1400" dirty="0">
                <a:latin typeface="Times New Roman" panose="02020603050405020304" pitchFamily="18" charset="0"/>
                <a:cs typeface="Times New Roman" panose="02020603050405020304" pitchFamily="18" charset="0"/>
              </a:rPr>
              <a:t>, with words like </a:t>
            </a:r>
            <a:r>
              <a:rPr lang="en-US" sz="1400" i="1" dirty="0">
                <a:latin typeface="Times New Roman" panose="02020603050405020304" pitchFamily="18" charset="0"/>
                <a:cs typeface="Times New Roman" panose="02020603050405020304" pitchFamily="18" charset="0"/>
              </a:rPr>
              <a:t>resourceful</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trustworthy</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intelligent</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efficient</a:t>
            </a:r>
            <a:r>
              <a:rPr lang="en-US" sz="1400" dirty="0">
                <a:latin typeface="Times New Roman" panose="02020603050405020304" pitchFamily="18" charset="0"/>
                <a:cs typeface="Times New Roman" panose="02020603050405020304" pitchFamily="18" charset="0"/>
              </a:rPr>
              <a:t>, while </a:t>
            </a:r>
            <a:r>
              <a:rPr lang="en-US" sz="1400" u="sng" dirty="0">
                <a:solidFill>
                  <a:srgbClr val="00B050"/>
                </a:solidFill>
                <a:latin typeface="Times New Roman" panose="02020603050405020304" pitchFamily="18" charset="0"/>
                <a:cs typeface="Times New Roman" panose="02020603050405020304" pitchFamily="18" charset="0"/>
              </a:rPr>
              <a:t>female murderers</a:t>
            </a:r>
            <a:r>
              <a:rPr lang="en-US" sz="1400" dirty="0">
                <a:solidFill>
                  <a:srgbClr val="00B050"/>
                </a:solidFill>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are more associated with </a:t>
            </a:r>
            <a:r>
              <a:rPr lang="en-US" sz="1400" u="sng" dirty="0">
                <a:solidFill>
                  <a:srgbClr val="00B050"/>
                </a:solidFill>
                <a:latin typeface="Times New Roman" panose="02020603050405020304" pitchFamily="18" charset="0"/>
                <a:cs typeface="Times New Roman" panose="02020603050405020304" pitchFamily="18" charset="0"/>
              </a:rPr>
              <a:t>emotional warmth, beauty, and charm</a:t>
            </a:r>
            <a:r>
              <a:rPr lang="en-US" sz="1400" dirty="0">
                <a:latin typeface="Times New Roman" panose="02020603050405020304" pitchFamily="18" charset="0"/>
                <a:cs typeface="Times New Roman" panose="02020603050405020304" pitchFamily="18" charset="0"/>
              </a:rPr>
              <a:t>, such as </a:t>
            </a:r>
            <a:r>
              <a:rPr lang="en-US" sz="1400" i="1" dirty="0">
                <a:latin typeface="Times New Roman" panose="02020603050405020304" pitchFamily="18" charset="0"/>
                <a:cs typeface="Times New Roman" panose="02020603050405020304" pitchFamily="18" charset="0"/>
              </a:rPr>
              <a:t>safe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beautiful</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kiss</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radiant</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sweetly</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Some modifiers typically associated with </a:t>
            </a:r>
            <a:r>
              <a:rPr lang="en-US" sz="1400" u="sng" dirty="0">
                <a:solidFill>
                  <a:srgbClr val="00B050"/>
                </a:solidFill>
                <a:latin typeface="Times New Roman" panose="02020603050405020304" pitchFamily="18" charset="0"/>
                <a:cs typeface="Times New Roman" panose="02020603050405020304" pitchFamily="18" charset="0"/>
              </a:rPr>
              <a:t>men</a:t>
            </a:r>
            <a:r>
              <a:rPr lang="en-US" sz="1400" dirty="0">
                <a:latin typeface="Times New Roman" panose="02020603050405020304" pitchFamily="18" charset="0"/>
                <a:cs typeface="Times New Roman" panose="02020603050405020304" pitchFamily="18" charset="0"/>
              </a:rPr>
              <a:t> in the author’s era, </a:t>
            </a:r>
            <a:r>
              <a:rPr lang="en-US" sz="1400" u="sng" dirty="0">
                <a:solidFill>
                  <a:srgbClr val="00B050"/>
                </a:solidFill>
                <a:latin typeface="Times New Roman" panose="02020603050405020304" pitchFamily="18" charset="0"/>
                <a:cs typeface="Times New Roman" panose="02020603050405020304" pitchFamily="18" charset="0"/>
              </a:rPr>
              <a:t>like </a:t>
            </a:r>
            <a:r>
              <a:rPr lang="en-US" sz="1400" i="1" u="sng" dirty="0">
                <a:solidFill>
                  <a:srgbClr val="00B050"/>
                </a:solidFill>
                <a:latin typeface="Times New Roman" panose="02020603050405020304" pitchFamily="18" charset="0"/>
                <a:cs typeface="Times New Roman" panose="02020603050405020304" pitchFamily="18" charset="0"/>
              </a:rPr>
              <a:t>strong</a:t>
            </a:r>
            <a:r>
              <a:rPr lang="en-US" sz="1400" u="sng" dirty="0">
                <a:solidFill>
                  <a:srgbClr val="00B050"/>
                </a:solidFill>
                <a:latin typeface="Times New Roman" panose="02020603050405020304" pitchFamily="18" charset="0"/>
                <a:cs typeface="Times New Roman" panose="02020603050405020304" pitchFamily="18" charset="0"/>
              </a:rPr>
              <a:t> and </a:t>
            </a:r>
            <a:r>
              <a:rPr lang="en-US" sz="1400" i="1" u="sng" dirty="0">
                <a:solidFill>
                  <a:srgbClr val="00B050"/>
                </a:solidFill>
                <a:latin typeface="Times New Roman" panose="02020603050405020304" pitchFamily="18" charset="0"/>
                <a:cs typeface="Times New Roman" panose="02020603050405020304" pitchFamily="18" charset="0"/>
              </a:rPr>
              <a:t>successful</a:t>
            </a:r>
            <a:r>
              <a:rPr lang="en-US" sz="1400" u="sng" dirty="0">
                <a:solidFill>
                  <a:srgbClr val="00B050"/>
                </a:solidFill>
                <a:latin typeface="Times New Roman" panose="02020603050405020304" pitchFamily="18" charset="0"/>
                <a:cs typeface="Times New Roman" panose="02020603050405020304" pitchFamily="18" charset="0"/>
              </a:rPr>
              <a:t>, are also used to describe female murderers</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Shared modifiers like </a:t>
            </a:r>
            <a:r>
              <a:rPr lang="en-US" sz="1400" i="1" dirty="0">
                <a:latin typeface="Times New Roman" panose="02020603050405020304" pitchFamily="18" charset="0"/>
                <a:cs typeface="Times New Roman" panose="02020603050405020304" pitchFamily="18" charset="0"/>
              </a:rPr>
              <a:t>discreet</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vigorous</a:t>
            </a:r>
            <a:r>
              <a:rPr lang="en-US" sz="1400" dirty="0">
                <a:latin typeface="Times New Roman" panose="02020603050405020304" pitchFamily="18" charset="0"/>
                <a:cs typeface="Times New Roman" panose="02020603050405020304" pitchFamily="18" charset="0"/>
              </a:rPr>
              <a:t> suggest that murderers of </a:t>
            </a:r>
            <a:r>
              <a:rPr lang="en-US" sz="1400" u="sng" dirty="0">
                <a:solidFill>
                  <a:srgbClr val="00B050"/>
                </a:solidFill>
                <a:latin typeface="Times New Roman" panose="02020603050405020304" pitchFamily="18" charset="0"/>
                <a:cs typeface="Times New Roman" panose="02020603050405020304" pitchFamily="18" charset="0"/>
              </a:rPr>
              <a:t>both genders are seen as effective, energetic, or calculating</a:t>
            </a:r>
          </a:p>
          <a:p>
            <a:r>
              <a:rPr lang="en-US" sz="1400" dirty="0">
                <a:latin typeface="Times New Roman" panose="02020603050405020304" pitchFamily="18" charset="0"/>
                <a:cs typeface="Times New Roman" panose="02020603050405020304" pitchFamily="18" charset="0"/>
              </a:rPr>
              <a:t>With respect to negative modifiers, </a:t>
            </a:r>
            <a:r>
              <a:rPr lang="en-US" sz="1400" u="sng" dirty="0">
                <a:solidFill>
                  <a:srgbClr val="FF0000"/>
                </a:solidFill>
                <a:latin typeface="Times New Roman" panose="02020603050405020304" pitchFamily="18" charset="0"/>
                <a:cs typeface="Times New Roman" panose="02020603050405020304" pitchFamily="18" charset="0"/>
              </a:rPr>
              <a:t>male murderers </a:t>
            </a:r>
            <a:r>
              <a:rPr lang="en-US" sz="1400" dirty="0">
                <a:latin typeface="Times New Roman" panose="02020603050405020304" pitchFamily="18" charset="0"/>
                <a:cs typeface="Times New Roman" panose="02020603050405020304" pitchFamily="18" charset="0"/>
              </a:rPr>
              <a:t>are more described by a range of </a:t>
            </a:r>
            <a:r>
              <a:rPr lang="en-US" sz="1400" u="sng" dirty="0">
                <a:solidFill>
                  <a:srgbClr val="FF0000"/>
                </a:solidFill>
                <a:latin typeface="Times New Roman" panose="02020603050405020304" pitchFamily="18" charset="0"/>
                <a:cs typeface="Times New Roman" panose="02020603050405020304" pitchFamily="18" charset="0"/>
              </a:rPr>
              <a:t>negative or problematic traits</a:t>
            </a:r>
            <a:r>
              <a:rPr lang="en-US" sz="1400" dirty="0">
                <a:latin typeface="Times New Roman" panose="02020603050405020304" pitchFamily="18" charset="0"/>
                <a:cs typeface="Times New Roman" panose="02020603050405020304" pitchFamily="18" charset="0"/>
              </a:rPr>
              <a:t>, such as emotional instability like </a:t>
            </a:r>
            <a:r>
              <a:rPr lang="en-US" sz="1400" i="1" dirty="0">
                <a:latin typeface="Times New Roman" panose="02020603050405020304" pitchFamily="18" charset="0"/>
                <a:cs typeface="Times New Roman" panose="02020603050405020304" pitchFamily="18" charset="0"/>
              </a:rPr>
              <a:t>rage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grumpy</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weak</a:t>
            </a:r>
            <a:r>
              <a:rPr lang="en-US" sz="1400" dirty="0">
                <a:latin typeface="Times New Roman" panose="02020603050405020304" pitchFamily="18" charset="0"/>
                <a:cs typeface="Times New Roman" panose="02020603050405020304" pitchFamily="18" charset="0"/>
              </a:rPr>
              <a:t>, poor decision-making like </a:t>
            </a:r>
            <a:r>
              <a:rPr lang="en-US" sz="1400" i="1" dirty="0">
                <a:latin typeface="Times New Roman" panose="02020603050405020304" pitchFamily="18" charset="0"/>
                <a:cs typeface="Times New Roman" panose="02020603050405020304" pitchFamily="18" charset="0"/>
              </a:rPr>
              <a:t>stupid</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sly dog</a:t>
            </a:r>
            <a:r>
              <a:rPr lang="en-US" sz="1400" dirty="0">
                <a:latin typeface="Times New Roman" panose="02020603050405020304" pitchFamily="18" charset="0"/>
                <a:cs typeface="Times New Roman" panose="02020603050405020304" pitchFamily="18" charset="0"/>
              </a:rPr>
              <a:t>, or immoral behavior like </a:t>
            </a:r>
            <a:r>
              <a:rPr lang="en-US" sz="1400" i="1" dirty="0">
                <a:latin typeface="Times New Roman" panose="02020603050405020304" pitchFamily="18" charset="0"/>
                <a:cs typeface="Times New Roman" panose="02020603050405020304" pitchFamily="18" charset="0"/>
              </a:rPr>
              <a:t>robbery</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exploit</a:t>
            </a:r>
            <a:r>
              <a:rPr lang="en-US" sz="1400" dirty="0">
                <a:latin typeface="Times New Roman" panose="02020603050405020304" pitchFamily="18" charset="0"/>
                <a:cs typeface="Times New Roman" panose="02020603050405020304" pitchFamily="18" charset="0"/>
              </a:rPr>
              <a:t>. The terms used for </a:t>
            </a:r>
            <a:r>
              <a:rPr lang="en-US" sz="1400" u="sng" dirty="0">
                <a:solidFill>
                  <a:srgbClr val="FF0000"/>
                </a:solidFill>
                <a:latin typeface="Times New Roman" panose="02020603050405020304" pitchFamily="18" charset="0"/>
                <a:cs typeface="Times New Roman" panose="02020603050405020304" pitchFamily="18" charset="0"/>
              </a:rPr>
              <a:t>female murderers </a:t>
            </a:r>
            <a:r>
              <a:rPr lang="en-US" sz="1400" dirty="0">
                <a:latin typeface="Times New Roman" panose="02020603050405020304" pitchFamily="18" charset="0"/>
                <a:cs typeface="Times New Roman" panose="02020603050405020304" pitchFamily="18" charset="0"/>
              </a:rPr>
              <a:t>often convey </a:t>
            </a:r>
            <a:r>
              <a:rPr lang="en-US" sz="1400" u="sng" dirty="0">
                <a:solidFill>
                  <a:srgbClr val="FF0000"/>
                </a:solidFill>
                <a:latin typeface="Times New Roman" panose="02020603050405020304" pitchFamily="18" charset="0"/>
                <a:cs typeface="Times New Roman" panose="02020603050405020304" pitchFamily="18" charset="0"/>
              </a:rPr>
              <a:t>a sense of passivity, emotional distress, or vulnerability</a:t>
            </a:r>
            <a:r>
              <a:rPr lang="en-US" sz="1400" dirty="0">
                <a:latin typeface="Times New Roman" panose="02020603050405020304" pitchFamily="18" charset="0"/>
                <a:cs typeface="Times New Roman" panose="02020603050405020304" pitchFamily="18" charset="0"/>
              </a:rPr>
              <a:t>, such as </a:t>
            </a:r>
            <a:r>
              <a:rPr lang="en-US" sz="1400" i="1" dirty="0">
                <a:latin typeface="Times New Roman" panose="02020603050405020304" pitchFamily="18" charset="0"/>
                <a:cs typeface="Times New Roman" panose="02020603050405020304" pitchFamily="18" charset="0"/>
              </a:rPr>
              <a:t>sob</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weep</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helplessly</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faintly</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ill</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poor</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upset</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Modifiers exclusively used for </a:t>
            </a:r>
            <a:r>
              <a:rPr lang="en-US" sz="1400" u="sng" dirty="0">
                <a:solidFill>
                  <a:srgbClr val="FF0000"/>
                </a:solidFill>
                <a:latin typeface="Times New Roman" panose="02020603050405020304" pitchFamily="18" charset="0"/>
                <a:cs typeface="Times New Roman" panose="02020603050405020304" pitchFamily="18" charset="0"/>
              </a:rPr>
              <a:t>female murderers </a:t>
            </a:r>
            <a:r>
              <a:rPr lang="en-US" sz="1400" dirty="0">
                <a:latin typeface="Times New Roman" panose="02020603050405020304" pitchFamily="18" charset="0"/>
                <a:cs typeface="Times New Roman" panose="02020603050405020304" pitchFamily="18" charset="0"/>
              </a:rPr>
              <a:t>like </a:t>
            </a:r>
            <a:r>
              <a:rPr lang="en-US" sz="1400" i="1" dirty="0">
                <a:latin typeface="Times New Roman" panose="02020603050405020304" pitchFamily="18" charset="0"/>
                <a:cs typeface="Times New Roman" panose="02020603050405020304" pitchFamily="18" charset="0"/>
              </a:rPr>
              <a:t>dark wig</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hidden</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victim</a:t>
            </a:r>
            <a:r>
              <a:rPr lang="en-US" sz="1400" dirty="0">
                <a:latin typeface="Times New Roman" panose="02020603050405020304" pitchFamily="18" charset="0"/>
                <a:cs typeface="Times New Roman" panose="02020603050405020304" pitchFamily="18" charset="0"/>
              </a:rPr>
              <a:t> suggest that these female murderers adopt </a:t>
            </a:r>
            <a:r>
              <a:rPr lang="en-US" sz="1400" u="sng" dirty="0">
                <a:solidFill>
                  <a:srgbClr val="FF0000"/>
                </a:solidFill>
                <a:latin typeface="Times New Roman" panose="02020603050405020304" pitchFamily="18" charset="0"/>
                <a:cs typeface="Times New Roman" panose="02020603050405020304" pitchFamily="18" charset="0"/>
              </a:rPr>
              <a:t>a facade of weakness </a:t>
            </a:r>
            <a:r>
              <a:rPr lang="en-US" sz="1400" dirty="0">
                <a:latin typeface="Times New Roman" panose="02020603050405020304" pitchFamily="18" charset="0"/>
                <a:cs typeface="Times New Roman" panose="02020603050405020304" pitchFamily="18" charset="0"/>
              </a:rPr>
              <a:t>to divert attention away from themselves during the investigative process</a:t>
            </a:r>
            <a:endParaRPr lang="de-DE" sz="1400"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C1785B4A-F391-E403-B3D3-8B4C661B3CEA}"/>
              </a:ext>
            </a:extLst>
          </p:cNvPr>
          <p:cNvSpPr>
            <a:spLocks noGrp="1"/>
          </p:cNvSpPr>
          <p:nvPr>
            <p:ph type="sldNum" sz="quarter" idx="16"/>
          </p:nvPr>
        </p:nvSpPr>
        <p:spPr/>
        <p:txBody>
          <a:bodyPr/>
          <a:lstStyle/>
          <a:p>
            <a:fld id="{9E82CC3C-1DC0-4FDA-9590-6CC506AB67F8}" type="slidenum">
              <a:rPr lang="en-US" smtClean="0"/>
              <a:pPr/>
              <a:t>39</a:t>
            </a:fld>
            <a:endParaRPr lang="en-US" dirty="0"/>
          </a:p>
        </p:txBody>
      </p:sp>
    </p:spTree>
    <p:extLst>
      <p:ext uri="{BB962C8B-B14F-4D97-AF65-F5344CB8AC3E}">
        <p14:creationId xmlns:p14="http://schemas.microsoft.com/office/powerpoint/2010/main" val="2016920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62646D-C60E-B498-A9F1-9269E9C55372}"/>
              </a:ext>
            </a:extLst>
          </p:cNvPr>
          <p:cNvSpPr>
            <a:spLocks noGrp="1"/>
          </p:cNvSpPr>
          <p:nvPr>
            <p:ph type="title"/>
          </p:nvPr>
        </p:nvSpPr>
        <p:spPr/>
        <p:txBody>
          <a:bodyPr/>
          <a:lstStyle/>
          <a:p>
            <a:endParaRPr lang="de-DE" dirty="0"/>
          </a:p>
        </p:txBody>
      </p:sp>
      <p:sp>
        <p:nvSpPr>
          <p:cNvPr id="3" name="Textplatzhalter 2">
            <a:extLst>
              <a:ext uri="{FF2B5EF4-FFF2-40B4-BE49-F238E27FC236}">
                <a16:creationId xmlns:a16="http://schemas.microsoft.com/office/drawing/2014/main" id="{EAD569A1-B17A-431D-81AB-25AE47428297}"/>
              </a:ext>
            </a:extLst>
          </p:cNvPr>
          <p:cNvSpPr>
            <a:spLocks noGrp="1"/>
          </p:cNvSpPr>
          <p:nvPr>
            <p:ph type="body" sz="quarter" idx="13"/>
          </p:nvPr>
        </p:nvSpPr>
        <p:spPr/>
        <p:txBody>
          <a:bodyPr/>
          <a:lstStyle/>
          <a:p>
            <a:r>
              <a:rPr lang="de-DE" b="1" dirty="0">
                <a:latin typeface="Times New Roman" panose="02020603050405020304" pitchFamily="18" charset="0"/>
                <a:cs typeface="Times New Roman" panose="02020603050405020304" pitchFamily="18" charset="0"/>
              </a:rPr>
              <a:t>4. A </a:t>
            </a:r>
            <a:r>
              <a:rPr lang="de-DE" b="1" dirty="0" err="1">
                <a:latin typeface="Times New Roman" panose="02020603050405020304" pitchFamily="18" charset="0"/>
                <a:cs typeface="Times New Roman" panose="02020603050405020304" pitchFamily="18" charset="0"/>
              </a:rPr>
              <a:t>Comprehensive</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Overview</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of</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the</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Murderers</a:t>
            </a:r>
            <a:endParaRPr lang="de-DE" b="1"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A4D62EB-2E99-211D-1FBD-0DFCD9909614}"/>
              </a:ext>
            </a:extLst>
          </p:cNvPr>
          <p:cNvSpPr>
            <a:spLocks noGrp="1"/>
          </p:cNvSpPr>
          <p:nvPr>
            <p:ph idx="1"/>
          </p:nvPr>
        </p:nvSpPr>
        <p:spPr/>
        <p:txBody>
          <a:bodyPr/>
          <a:lstStyle/>
          <a:p>
            <a:pPr marL="0" indent="0" algn="just">
              <a:buClr>
                <a:schemeClr val="accent1"/>
              </a:buClr>
              <a:buNone/>
            </a:pPr>
            <a:endParaRPr lang="de-DE" dirty="0">
              <a:latin typeface="Times New Roman" panose="02020603050405020304" pitchFamily="18" charset="0"/>
              <a:cs typeface="Times New Roman" panose="02020603050405020304" pitchFamily="18" charset="0"/>
            </a:endParaRPr>
          </a:p>
          <a:p>
            <a:pPr marL="0" indent="0" algn="just">
              <a:buClr>
                <a:schemeClr val="accent1"/>
              </a:buClr>
              <a:buNone/>
            </a:pPr>
            <a:endParaRPr lang="de-DE" dirty="0">
              <a:latin typeface="Times New Roman" panose="02020603050405020304" pitchFamily="18" charset="0"/>
              <a:cs typeface="Times New Roman" panose="02020603050405020304" pitchFamily="18" charset="0"/>
            </a:endParaRPr>
          </a:p>
          <a:p>
            <a:pPr marL="0" indent="0" algn="just">
              <a:buClr>
                <a:schemeClr val="accent1"/>
              </a:buClr>
              <a:buNone/>
            </a:pPr>
            <a:r>
              <a:rPr lang="de-DE" dirty="0" err="1">
                <a:latin typeface="Times New Roman" panose="02020603050405020304" pitchFamily="18" charset="0"/>
                <a:cs typeface="Times New Roman" panose="02020603050405020304" pitchFamily="18" charset="0"/>
              </a:rPr>
              <a:t>Results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quantitative </a:t>
            </a:r>
            <a:r>
              <a:rPr lang="de-DE" dirty="0" err="1">
                <a:latin typeface="Times New Roman" panose="02020603050405020304" pitchFamily="18" charset="0"/>
                <a:cs typeface="Times New Roman" panose="02020603050405020304" pitchFamily="18" charset="0"/>
              </a:rPr>
              <a:t>analyses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combined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additional </a:t>
            </a:r>
            <a:r>
              <a:rPr lang="de-DE" dirty="0" err="1">
                <a:latin typeface="Times New Roman" panose="02020603050405020304" pitchFamily="18" charset="0"/>
                <a:cs typeface="Times New Roman" panose="02020603050405020304" pitchFamily="18" charset="0"/>
              </a:rPr>
              <a:t>information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murderers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get</a:t>
            </a:r>
            <a:r>
              <a:rPr lang="de-DE" dirty="0">
                <a:latin typeface="Times New Roman" panose="02020603050405020304" pitchFamily="18" charset="0"/>
                <a:cs typeface="Times New Roman" panose="02020603050405020304" pitchFamily="18" charset="0"/>
              </a:rPr>
              <a:t> a </a:t>
            </a:r>
            <a:r>
              <a:rPr lang="de-DE" dirty="0" err="1">
                <a:latin typeface="Times New Roman" panose="02020603050405020304" pitchFamily="18" charset="0"/>
                <a:cs typeface="Times New Roman" panose="02020603050405020304" pitchFamily="18" charset="0"/>
              </a:rPr>
              <a:t>comprehensive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profile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each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murderer</a:t>
            </a:r>
            <a:r>
              <a:rPr lang="de-DE" dirty="0">
                <a:latin typeface="Times New Roman" panose="02020603050405020304" pitchFamily="18" charset="0"/>
                <a:cs typeface="Times New Roman" panose="02020603050405020304" pitchFamily="18" charset="0"/>
              </a:rPr>
              <a:t>.</a:t>
            </a:r>
          </a:p>
          <a:p>
            <a:pPr marL="0" indent="0">
              <a:buNone/>
            </a:pPr>
            <a:endParaRPr lang="de-DE" dirty="0"/>
          </a:p>
        </p:txBody>
      </p:sp>
      <p:sp>
        <p:nvSpPr>
          <p:cNvPr id="7" name="Foliennummernplatzhalter 6">
            <a:extLst>
              <a:ext uri="{FF2B5EF4-FFF2-40B4-BE49-F238E27FC236}">
                <a16:creationId xmlns:a16="http://schemas.microsoft.com/office/drawing/2014/main" id="{B4D8C7C2-CDB4-8E2C-03D0-D2708EC26896}"/>
              </a:ext>
            </a:extLst>
          </p:cNvPr>
          <p:cNvSpPr>
            <a:spLocks noGrp="1"/>
          </p:cNvSpPr>
          <p:nvPr>
            <p:ph type="sldNum" sz="quarter" idx="16"/>
          </p:nvPr>
        </p:nvSpPr>
        <p:spPr/>
        <p:txBody>
          <a:bodyPr/>
          <a:lstStyle/>
          <a:p>
            <a:fld id="{9E82CC3C-1DC0-4FDA-9590-6CC506AB67F8}" type="slidenum">
              <a:rPr lang="en-US" smtClean="0"/>
              <a:pPr/>
              <a:t>40</a:t>
            </a:fld>
            <a:endParaRPr lang="en-US" dirty="0"/>
          </a:p>
        </p:txBody>
      </p:sp>
    </p:spTree>
    <p:extLst>
      <p:ext uri="{BB962C8B-B14F-4D97-AF65-F5344CB8AC3E}">
        <p14:creationId xmlns:p14="http://schemas.microsoft.com/office/powerpoint/2010/main" val="2449973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558E9F-E5CF-28F4-8687-6978DA2E8AC6}"/>
              </a:ext>
            </a:extLst>
          </p:cNvPr>
          <p:cNvSpPr>
            <a:spLocks noGrp="1"/>
          </p:cNvSpPr>
          <p:nvPr>
            <p:ph type="title"/>
          </p:nvPr>
        </p:nvSpPr>
        <p:spPr/>
        <p:txBody>
          <a:bodyPr/>
          <a:lstStyle/>
          <a:p>
            <a:br>
              <a:rPr lang="de-DE" dirty="0"/>
            </a:br>
            <a:endParaRPr lang="de-DE" dirty="0"/>
          </a:p>
        </p:txBody>
      </p:sp>
      <p:sp>
        <p:nvSpPr>
          <p:cNvPr id="7" name="Foliennummernplatzhalter 6">
            <a:extLst>
              <a:ext uri="{FF2B5EF4-FFF2-40B4-BE49-F238E27FC236}">
                <a16:creationId xmlns:a16="http://schemas.microsoft.com/office/drawing/2014/main" id="{39996C9A-E953-E09A-949A-C4ECF5DF47AD}"/>
              </a:ext>
            </a:extLst>
          </p:cNvPr>
          <p:cNvSpPr>
            <a:spLocks noGrp="1"/>
          </p:cNvSpPr>
          <p:nvPr>
            <p:ph type="sldNum" sz="quarter" idx="16"/>
          </p:nvPr>
        </p:nvSpPr>
        <p:spPr/>
        <p:txBody>
          <a:bodyPr/>
          <a:lstStyle/>
          <a:p>
            <a:fld id="{9E82CC3C-1DC0-4FDA-9590-6CC506AB67F8}" type="slidenum">
              <a:rPr lang="en-US" smtClean="0"/>
              <a:pPr/>
              <a:t>41</a:t>
            </a:fld>
            <a:endParaRPr lang="en-US" dirty="0"/>
          </a:p>
        </p:txBody>
      </p:sp>
      <p:graphicFrame>
        <p:nvGraphicFramePr>
          <p:cNvPr id="8" name="Inhaltsplatzhalter 7">
            <a:extLst>
              <a:ext uri="{FF2B5EF4-FFF2-40B4-BE49-F238E27FC236}">
                <a16:creationId xmlns:a16="http://schemas.microsoft.com/office/drawing/2014/main" id="{D4C981A8-F70E-89A0-E4D0-4CC8BE1D4E21}"/>
              </a:ext>
            </a:extLst>
          </p:cNvPr>
          <p:cNvGraphicFramePr>
            <a:graphicFrameLocks noGrp="1"/>
          </p:cNvGraphicFramePr>
          <p:nvPr>
            <p:ph idx="1"/>
            <p:extLst>
              <p:ext uri="{D42A27DB-BD31-4B8C-83A1-F6EECF244321}">
                <p14:modId xmlns:p14="http://schemas.microsoft.com/office/powerpoint/2010/main" val="2102822351"/>
              </p:ext>
            </p:extLst>
          </p:nvPr>
        </p:nvGraphicFramePr>
        <p:xfrm>
          <a:off x="1732361" y="271892"/>
          <a:ext cx="3997008" cy="4894217"/>
        </p:xfrm>
        <a:graphic>
          <a:graphicData uri="http://schemas.openxmlformats.org/drawingml/2006/table">
            <a:tbl>
              <a:tblPr firstRow="1" firstCol="1" bandRow="1">
                <a:tableStyleId>{5C22544A-7EE6-4342-B048-85BDC9FD1C3A}</a:tableStyleId>
              </a:tblPr>
              <a:tblGrid>
                <a:gridCol w="528389">
                  <a:extLst>
                    <a:ext uri="{9D8B030D-6E8A-4147-A177-3AD203B41FA5}">
                      <a16:colId xmlns:a16="http://schemas.microsoft.com/office/drawing/2014/main" val="3258650509"/>
                    </a:ext>
                  </a:extLst>
                </a:gridCol>
                <a:gridCol w="354165">
                  <a:extLst>
                    <a:ext uri="{9D8B030D-6E8A-4147-A177-3AD203B41FA5}">
                      <a16:colId xmlns:a16="http://schemas.microsoft.com/office/drawing/2014/main" val="3969538091"/>
                    </a:ext>
                  </a:extLst>
                </a:gridCol>
                <a:gridCol w="374843">
                  <a:extLst>
                    <a:ext uri="{9D8B030D-6E8A-4147-A177-3AD203B41FA5}">
                      <a16:colId xmlns:a16="http://schemas.microsoft.com/office/drawing/2014/main" val="2079049678"/>
                    </a:ext>
                  </a:extLst>
                </a:gridCol>
                <a:gridCol w="813040">
                  <a:extLst>
                    <a:ext uri="{9D8B030D-6E8A-4147-A177-3AD203B41FA5}">
                      <a16:colId xmlns:a16="http://schemas.microsoft.com/office/drawing/2014/main" val="155216719"/>
                    </a:ext>
                  </a:extLst>
                </a:gridCol>
                <a:gridCol w="486592">
                  <a:extLst>
                    <a:ext uri="{9D8B030D-6E8A-4147-A177-3AD203B41FA5}">
                      <a16:colId xmlns:a16="http://schemas.microsoft.com/office/drawing/2014/main" val="2608240108"/>
                    </a:ext>
                  </a:extLst>
                </a:gridCol>
                <a:gridCol w="501551">
                  <a:extLst>
                    <a:ext uri="{9D8B030D-6E8A-4147-A177-3AD203B41FA5}">
                      <a16:colId xmlns:a16="http://schemas.microsoft.com/office/drawing/2014/main" val="3365061273"/>
                    </a:ext>
                  </a:extLst>
                </a:gridCol>
                <a:gridCol w="501551">
                  <a:extLst>
                    <a:ext uri="{9D8B030D-6E8A-4147-A177-3AD203B41FA5}">
                      <a16:colId xmlns:a16="http://schemas.microsoft.com/office/drawing/2014/main" val="599189633"/>
                    </a:ext>
                  </a:extLst>
                </a:gridCol>
                <a:gridCol w="436877">
                  <a:extLst>
                    <a:ext uri="{9D8B030D-6E8A-4147-A177-3AD203B41FA5}">
                      <a16:colId xmlns:a16="http://schemas.microsoft.com/office/drawing/2014/main" val="310796675"/>
                    </a:ext>
                  </a:extLst>
                </a:gridCol>
              </a:tblGrid>
              <a:tr h="318155">
                <a:tc>
                  <a:txBody>
                    <a:bodyPr/>
                    <a:lstStyle/>
                    <a:p>
                      <a:pPr algn="just">
                        <a:lnSpc>
                          <a:spcPct val="150000"/>
                        </a:lnSpc>
                        <a:spcAft>
                          <a:spcPts val="800"/>
                        </a:spcAft>
                        <a:buNone/>
                      </a:pPr>
                      <a:r>
                        <a:rPr lang="en-US" sz="700" kern="100" dirty="0">
                          <a:effectLst/>
                        </a:rPr>
                        <a:t> </a:t>
                      </a:r>
                      <a:endParaRPr lang="de-DE" sz="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Gender</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Age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Occupation/Identity</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Motive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Methods of Killing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Number of Victims</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Fate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817281186"/>
                  </a:ext>
                </a:extLst>
              </a:tr>
              <a:tr h="318155">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Sheppard</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middle-aged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Doctor</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fear of exposure </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stabbing </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suicide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3992656664"/>
                  </a:ext>
                </a:extLst>
              </a:tr>
              <a:tr h="656199">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F. Clarke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young</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 wealthy man’s younger brother </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strangling, blunt force, stabbing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4</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arrested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283874464"/>
                  </a:ext>
                </a:extLst>
              </a:tr>
              <a:tr h="1034059">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Wargrave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old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retired judge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twisted sense of justice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poison, blunt force, shooting and indirect</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10</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suicide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3986410791"/>
                  </a:ext>
                </a:extLst>
              </a:tr>
              <a:tr h="150583">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Knighton</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secretary</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blunt force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arrested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557337039"/>
                  </a:ext>
                </a:extLst>
              </a:tr>
              <a:tr h="150583">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P. Redfern</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con artist</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blunt force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arrested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808160928"/>
                  </a:ext>
                </a:extLst>
              </a:tr>
              <a:tr h="318155">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Jane Wilkinson</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actress, Lord </a:t>
                      </a:r>
                      <a:r>
                        <a:rPr lang="en-US" sz="700" kern="100" dirty="0" err="1">
                          <a:effectLst/>
                          <a:latin typeface="Times New Roman" panose="02020603050405020304" pitchFamily="18" charset="0"/>
                          <a:cs typeface="Times New Roman" panose="02020603050405020304" pitchFamily="18" charset="0"/>
                        </a:rPr>
                        <a:t>Edgare</a:t>
                      </a:r>
                      <a:r>
                        <a:rPr lang="en-US" sz="700" kern="100" dirty="0">
                          <a:effectLst/>
                          <a:latin typeface="Times New Roman" panose="02020603050405020304" pitchFamily="18" charset="0"/>
                          <a:cs typeface="Times New Roman" panose="02020603050405020304" pitchFamily="18" charset="0"/>
                        </a:rPr>
                        <a:t>’ wife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de-DE" sz="700" kern="100">
                          <a:effectLst/>
                          <a:latin typeface="Times New Roman" panose="02020603050405020304" pitchFamily="18" charset="0"/>
                          <a:cs typeface="Times New Roman" panose="02020603050405020304" pitchFamily="18" charset="0"/>
                        </a:rPr>
                        <a:t>stabbing, poison </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arrested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3117865760"/>
                  </a:ext>
                </a:extLst>
              </a:tr>
              <a:tr h="487082">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Miss </a:t>
                      </a:r>
                      <a:r>
                        <a:rPr lang="en-US" sz="700" kern="100" dirty="0" err="1">
                          <a:effectLst/>
                          <a:latin typeface="Times New Roman" panose="02020603050405020304" pitchFamily="18" charset="0"/>
                          <a:cs typeface="Times New Roman" panose="02020603050405020304" pitchFamily="18" charset="0"/>
                        </a:rPr>
                        <a:t>Blacklog</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old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owner of a house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greed, fear of exposure</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de-DE" sz="700" kern="100">
                          <a:effectLst/>
                          <a:latin typeface="Times New Roman" panose="02020603050405020304" pitchFamily="18" charset="0"/>
                          <a:cs typeface="Times New Roman" panose="02020603050405020304" pitchFamily="18" charset="0"/>
                        </a:rPr>
                        <a:t>shooting, poison,strangling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arrested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372366053"/>
                  </a:ext>
                </a:extLst>
              </a:tr>
              <a:tr h="487082">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Marina Gregg</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actress</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revenge, fear of exposure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de-DE" sz="700" kern="100">
                          <a:effectLst/>
                          <a:latin typeface="Times New Roman" panose="02020603050405020304" pitchFamily="18" charset="0"/>
                          <a:cs typeface="Times New Roman" panose="02020603050405020304" pitchFamily="18" charset="0"/>
                        </a:rPr>
                        <a:t>poison, shooting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3</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suicide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4096230083"/>
                  </a:ext>
                </a:extLst>
              </a:tr>
              <a:tr h="487082">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Ada Mason</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house maid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providing falsified testimony</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arrested </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348494554"/>
                  </a:ext>
                </a:extLst>
              </a:tr>
              <a:tr h="487082">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C. </a:t>
                      </a:r>
                      <a:r>
                        <a:rPr lang="en-US" sz="700" kern="100" dirty="0" err="1">
                          <a:effectLst/>
                          <a:latin typeface="Times New Roman" panose="02020603050405020304" pitchFamily="18" charset="0"/>
                          <a:cs typeface="Times New Roman" panose="02020603050405020304" pitchFamily="18" charset="0"/>
                        </a:rPr>
                        <a:t>Redferm</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female</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young</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teacher of Latin</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greed</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providing falsified testimony</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a:effectLst/>
                          <a:latin typeface="Times New Roman" panose="02020603050405020304" pitchFamily="18" charset="0"/>
                          <a:cs typeface="Times New Roman" panose="02020603050405020304" pitchFamily="18" charset="0"/>
                        </a:rPr>
                        <a:t>1</a:t>
                      </a:r>
                      <a:endParaRPr lang="de-DE" sz="800" kern="10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tc>
                  <a:txBody>
                    <a:bodyPr/>
                    <a:lstStyle/>
                    <a:p>
                      <a:pPr algn="just">
                        <a:lnSpc>
                          <a:spcPct val="150000"/>
                        </a:lnSpc>
                        <a:spcAft>
                          <a:spcPts val="800"/>
                        </a:spcAft>
                        <a:buNone/>
                      </a:pPr>
                      <a:r>
                        <a:rPr lang="en-US" sz="700" kern="100" dirty="0">
                          <a:effectLst/>
                          <a:latin typeface="Times New Roman" panose="02020603050405020304" pitchFamily="18" charset="0"/>
                          <a:cs typeface="Times New Roman" panose="02020603050405020304" pitchFamily="18" charset="0"/>
                        </a:rPr>
                        <a:t>arrested</a:t>
                      </a:r>
                      <a:endParaRPr lang="de-DE" sz="800" kern="1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47568" marR="47568" marT="0" marB="0"/>
                </a:tc>
                <a:extLst>
                  <a:ext uri="{0D108BD9-81ED-4DB2-BD59-A6C34878D82A}">
                    <a16:rowId xmlns:a16="http://schemas.microsoft.com/office/drawing/2014/main" val="1581877416"/>
                  </a:ext>
                </a:extLst>
              </a:tr>
            </a:tbl>
          </a:graphicData>
        </a:graphic>
      </p:graphicFrame>
      <p:sp>
        <p:nvSpPr>
          <p:cNvPr id="4" name="Textfeld 3">
            <a:extLst>
              <a:ext uri="{FF2B5EF4-FFF2-40B4-BE49-F238E27FC236}">
                <a16:creationId xmlns:a16="http://schemas.microsoft.com/office/drawing/2014/main" id="{7374841D-BAFA-9DFE-90F6-8E6431630AFE}"/>
              </a:ext>
            </a:extLst>
          </p:cNvPr>
          <p:cNvSpPr txBox="1"/>
          <p:nvPr/>
        </p:nvSpPr>
        <p:spPr>
          <a:xfrm>
            <a:off x="1732361" y="5166109"/>
            <a:ext cx="3808770" cy="276999"/>
          </a:xfrm>
          <a:prstGeom prst="rect">
            <a:avLst/>
          </a:prstGeom>
          <a:noFill/>
        </p:spPr>
        <p:txBody>
          <a:bodyPr wrap="square">
            <a:spAutoFit/>
          </a:bodyPr>
          <a:lstStyle/>
          <a:p>
            <a:r>
              <a:rPr lang="en-US" sz="1200" dirty="0">
                <a:effectLst/>
                <a:latin typeface="Times New Roman" panose="02020603050405020304" pitchFamily="18" charset="0"/>
                <a:ea typeface="DengXian" panose="02010600030101010101" pitchFamily="2" charset="-122"/>
              </a:rPr>
              <a:t>Additional Information about the Murderers </a:t>
            </a:r>
            <a:endParaRPr lang="de-DE" sz="1200" dirty="0"/>
          </a:p>
        </p:txBody>
      </p:sp>
    </p:spTree>
    <p:extLst>
      <p:ext uri="{BB962C8B-B14F-4D97-AF65-F5344CB8AC3E}">
        <p14:creationId xmlns:p14="http://schemas.microsoft.com/office/powerpoint/2010/main" val="293091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B8A49C-4B52-6403-885B-8923F2CC2361}"/>
              </a:ext>
            </a:extLst>
          </p:cNvPr>
          <p:cNvSpPr>
            <a:spLocks noGrp="1"/>
          </p:cNvSpPr>
          <p:nvPr>
            <p:ph type="title"/>
          </p:nvPr>
        </p:nvSpPr>
        <p:spPr>
          <a:xfrm>
            <a:off x="248294" y="423424"/>
            <a:ext cx="6839479" cy="278290"/>
          </a:xfrm>
        </p:spPr>
        <p:txBody>
          <a:bodyPr/>
          <a:lstStyle/>
          <a:p>
            <a:r>
              <a:rPr lang="de-DE" dirty="0">
                <a:latin typeface="Times New Roman" panose="02020603050405020304" pitchFamily="18" charset="0"/>
                <a:cs typeface="Times New Roman" panose="02020603050405020304" pitchFamily="18" charset="0"/>
              </a:rPr>
              <a:t>5. </a:t>
            </a:r>
            <a:r>
              <a:rPr lang="de-DE" dirty="0" err="1">
                <a:latin typeface="Times New Roman" panose="02020603050405020304" pitchFamily="18" charset="0"/>
                <a:cs typeface="Times New Roman" panose="02020603050405020304" pitchFamily="18" charset="0"/>
              </a:rPr>
              <a:t>Conclusion</a:t>
            </a:r>
            <a:endParaRPr lang="de-DE" dirty="0">
              <a:latin typeface="Times New Roman" panose="02020603050405020304" pitchFamily="18" charset="0"/>
              <a:cs typeface="Times New Roman" panose="02020603050405020304" pitchFamily="18" charset="0"/>
            </a:endParaRPr>
          </a:p>
        </p:txBody>
      </p:sp>
      <p:sp>
        <p:nvSpPr>
          <p:cNvPr id="7" name="Foliennummernplatzhalter 6">
            <a:extLst>
              <a:ext uri="{FF2B5EF4-FFF2-40B4-BE49-F238E27FC236}">
                <a16:creationId xmlns:a16="http://schemas.microsoft.com/office/drawing/2014/main" id="{49E1D8DD-7CD8-8A63-584D-08F2D22EBED5}"/>
              </a:ext>
            </a:extLst>
          </p:cNvPr>
          <p:cNvSpPr>
            <a:spLocks noGrp="1"/>
          </p:cNvSpPr>
          <p:nvPr>
            <p:ph type="sldNum" sz="quarter" idx="16"/>
          </p:nvPr>
        </p:nvSpPr>
        <p:spPr/>
        <p:txBody>
          <a:bodyPr/>
          <a:lstStyle/>
          <a:p>
            <a:fld id="{9E82CC3C-1DC0-4FDA-9590-6CC506AB67F8}" type="slidenum">
              <a:rPr lang="en-US" smtClean="0"/>
              <a:pPr/>
              <a:t>42</a:t>
            </a:fld>
            <a:endParaRPr lang="en-US" dirty="0"/>
          </a:p>
        </p:txBody>
      </p:sp>
      <p:sp>
        <p:nvSpPr>
          <p:cNvPr id="10" name="Inhaltsplatzhalter 9">
            <a:extLst>
              <a:ext uri="{FF2B5EF4-FFF2-40B4-BE49-F238E27FC236}">
                <a16:creationId xmlns:a16="http://schemas.microsoft.com/office/drawing/2014/main" id="{F60E7C45-BFD7-6EF2-88D0-7FCAF4C236F3}"/>
              </a:ext>
            </a:extLst>
          </p:cNvPr>
          <p:cNvSpPr>
            <a:spLocks noGrp="1"/>
          </p:cNvSpPr>
          <p:nvPr>
            <p:ph idx="1"/>
          </p:nvPr>
        </p:nvSpPr>
        <p:spPr>
          <a:xfrm>
            <a:off x="106325" y="872117"/>
            <a:ext cx="7123416" cy="4607442"/>
          </a:xfrm>
        </p:spPr>
        <p:txBody>
          <a:bodyPr/>
          <a:lstStyle/>
          <a:p>
            <a:pPr algn="just"/>
            <a:r>
              <a:rPr lang="en-US" sz="1200" dirty="0">
                <a:latin typeface="Times New Roman" panose="02020603050405020304" pitchFamily="18" charset="0"/>
                <a:cs typeface="Times New Roman" panose="02020603050405020304" pitchFamily="18" charset="0"/>
              </a:rPr>
              <a:t>Agatha Christie’s murderers are complex and multifaceted, reflecting the inherent unreadability of her texts.</a:t>
            </a:r>
          </a:p>
          <a:p>
            <a:pPr marL="0" indent="0" algn="just">
              <a:buNone/>
            </a:pPr>
            <a:r>
              <a:rPr lang="en-US" sz="1200" dirty="0">
                <a:latin typeface="Times New Roman" panose="02020603050405020304" pitchFamily="18" charset="0"/>
                <a:cs typeface="Times New Roman" panose="02020603050405020304" pitchFamily="18" charset="0"/>
              </a:rPr>
              <a:t>                     </a:t>
            </a:r>
          </a:p>
          <a:p>
            <a:pPr marL="0" indent="0" algn="just">
              <a:buNone/>
            </a:pPr>
            <a:r>
              <a:rPr lang="en-US" sz="1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Unreadability, Inventive Variation </a:t>
            </a:r>
          </a:p>
          <a:p>
            <a:pPr marL="0" indent="0" algn="just">
              <a:buNone/>
            </a:pPr>
            <a:r>
              <a:rPr lang="en-US" sz="1200" dirty="0">
                <a:latin typeface="Times New Roman" panose="02020603050405020304" pitchFamily="18" charset="0"/>
                <a:cs typeface="Times New Roman" panose="02020603050405020304" pitchFamily="18" charset="0"/>
              </a:rPr>
              <a:t> </a:t>
            </a:r>
          </a:p>
          <a:p>
            <a:pPr marL="0" indent="0" algn="just">
              <a:buNone/>
            </a:pPr>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Female murderers are active and communicative, often maintaining close relationships with other characters.</a:t>
            </a:r>
          </a:p>
          <a:p>
            <a:pPr algn="just"/>
            <a:r>
              <a:rPr lang="en-US" sz="1200" dirty="0">
                <a:latin typeface="Times New Roman" panose="02020603050405020304" pitchFamily="18" charset="0"/>
                <a:cs typeface="Times New Roman" panose="02020603050405020304" pitchFamily="18" charset="0"/>
              </a:rPr>
              <a:t>While they are frequently depicted as emotionally vulnerable, poor, harmless, and lacking in intelligence, these portrayals serve as disguises to carry out their murder schemes and divert police investigations.</a:t>
            </a:r>
          </a:p>
          <a:p>
            <a:pPr algn="just"/>
            <a:r>
              <a:rPr lang="en-US" sz="1200" dirty="0">
                <a:latin typeface="Times New Roman" panose="02020603050405020304" pitchFamily="18" charset="0"/>
                <a:cs typeface="Times New Roman" panose="02020603050405020304" pitchFamily="18" charset="0"/>
              </a:rPr>
              <a:t>These women employ the same violent methods as their male counterparts, such as stabbing and strangling, and are depicted with similar traits of discretion and vigor.</a:t>
            </a:r>
          </a:p>
          <a:p>
            <a:pPr algn="just"/>
            <a:r>
              <a:rPr lang="en-US" sz="1200" dirty="0">
                <a:latin typeface="Times New Roman" panose="02020603050405020304" pitchFamily="18" charset="0"/>
                <a:cs typeface="Times New Roman" panose="02020603050405020304" pitchFamily="18" charset="0"/>
              </a:rPr>
              <a:t>Female accomplices also play a crucial role, offering strategic false testimonies to support the male perpetrators.</a:t>
            </a:r>
          </a:p>
        </p:txBody>
      </p:sp>
      <p:sp>
        <p:nvSpPr>
          <p:cNvPr id="11" name="Pfeil: nach rechts 10">
            <a:extLst>
              <a:ext uri="{FF2B5EF4-FFF2-40B4-BE49-F238E27FC236}">
                <a16:creationId xmlns:a16="http://schemas.microsoft.com/office/drawing/2014/main" id="{D9934041-B47E-B4A6-08FD-8ED9D63B9FD8}"/>
              </a:ext>
            </a:extLst>
          </p:cNvPr>
          <p:cNvSpPr/>
          <p:nvPr/>
        </p:nvSpPr>
        <p:spPr>
          <a:xfrm>
            <a:off x="278304" y="4637339"/>
            <a:ext cx="467833" cy="283534"/>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de-DE" sz="1600" dirty="0"/>
          </a:p>
        </p:txBody>
      </p:sp>
      <p:sp>
        <p:nvSpPr>
          <p:cNvPr id="12" name="Pfeil: nach rechts 11">
            <a:extLst>
              <a:ext uri="{FF2B5EF4-FFF2-40B4-BE49-F238E27FC236}">
                <a16:creationId xmlns:a16="http://schemas.microsoft.com/office/drawing/2014/main" id="{1D8BB40A-FB15-F40F-3FAE-0D88771D7366}"/>
              </a:ext>
            </a:extLst>
          </p:cNvPr>
          <p:cNvSpPr/>
          <p:nvPr/>
        </p:nvSpPr>
        <p:spPr>
          <a:xfrm>
            <a:off x="156342" y="1493361"/>
            <a:ext cx="467833" cy="283534"/>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de-DE" sz="1600" dirty="0"/>
          </a:p>
        </p:txBody>
      </p:sp>
      <p:sp>
        <p:nvSpPr>
          <p:cNvPr id="13" name="Textfeld 12">
            <a:extLst>
              <a:ext uri="{FF2B5EF4-FFF2-40B4-BE49-F238E27FC236}">
                <a16:creationId xmlns:a16="http://schemas.microsoft.com/office/drawing/2014/main" id="{D6E32826-03F9-6C6C-F626-BB25FEE373C0}"/>
              </a:ext>
            </a:extLst>
          </p:cNvPr>
          <p:cNvSpPr txBox="1"/>
          <p:nvPr/>
        </p:nvSpPr>
        <p:spPr>
          <a:xfrm>
            <a:off x="918116" y="4637339"/>
            <a:ext cx="914400" cy="914400"/>
          </a:xfrm>
          <a:prstGeom prst="rect">
            <a:avLst/>
          </a:prstGeom>
          <a:noFill/>
        </p:spPr>
        <p:txBody>
          <a:bodyPr wrap="none" lIns="0" tIns="0" rIns="0" bIns="0" rtlCol="0">
            <a:noAutofit/>
          </a:bodyPr>
          <a:lstStyle/>
          <a:p>
            <a:pPr>
              <a:buClr>
                <a:schemeClr val="accent1"/>
              </a:buClr>
            </a:pPr>
            <a:r>
              <a:rPr lang="en-US" sz="1600" dirty="0">
                <a:latin typeface="Times New Roman" panose="02020603050405020304" pitchFamily="18" charset="0"/>
                <a:cs typeface="Times New Roman" panose="02020603050405020304" pitchFamily="18" charset="0"/>
              </a:rPr>
              <a:t>New Woman</a:t>
            </a:r>
            <a:endParaRPr lang="de-DE" sz="1600" dirty="0"/>
          </a:p>
        </p:txBody>
      </p:sp>
    </p:spTree>
    <p:extLst>
      <p:ext uri="{BB962C8B-B14F-4D97-AF65-F5344CB8AC3E}">
        <p14:creationId xmlns:p14="http://schemas.microsoft.com/office/powerpoint/2010/main" val="1861022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060A70-A42F-ABC3-CDA5-79ADCF853A1A}"/>
              </a:ext>
            </a:extLst>
          </p:cNvPr>
          <p:cNvSpPr>
            <a:spLocks noGrp="1"/>
          </p:cNvSpPr>
          <p:nvPr>
            <p:ph type="title"/>
          </p:nvPr>
        </p:nvSpPr>
        <p:spPr>
          <a:xfrm>
            <a:off x="293255" y="396000"/>
            <a:ext cx="6936488" cy="278290"/>
          </a:xfrm>
        </p:spPr>
        <p:txBody>
          <a:bodyPr/>
          <a:lstStyle/>
          <a:p>
            <a:r>
              <a:rPr lang="de-DE" dirty="0">
                <a:latin typeface="Times New Roman" panose="02020603050405020304" pitchFamily="18" charset="0"/>
                <a:cs typeface="Times New Roman" panose="02020603050405020304" pitchFamily="18" charset="0"/>
              </a:rPr>
              <a:t>References</a:t>
            </a:r>
            <a:br>
              <a:rPr lang="de-DE" dirty="0">
                <a:latin typeface="Times New Roman" panose="02020603050405020304" pitchFamily="18" charset="0"/>
                <a:cs typeface="Times New Roman" panose="02020603050405020304" pitchFamily="18" charset="0"/>
              </a:rPr>
            </a:br>
            <a:endParaRPr lang="de-DE" dirty="0"/>
          </a:p>
        </p:txBody>
      </p:sp>
      <p:sp>
        <p:nvSpPr>
          <p:cNvPr id="4" name="Inhaltsplatzhalter 3">
            <a:extLst>
              <a:ext uri="{FF2B5EF4-FFF2-40B4-BE49-F238E27FC236}">
                <a16:creationId xmlns:a16="http://schemas.microsoft.com/office/drawing/2014/main" id="{7D817ADA-78DF-D8A5-A1A2-DFB088141DFD}"/>
              </a:ext>
            </a:extLst>
          </p:cNvPr>
          <p:cNvSpPr>
            <a:spLocks noGrp="1"/>
          </p:cNvSpPr>
          <p:nvPr>
            <p:ph idx="1"/>
          </p:nvPr>
        </p:nvSpPr>
        <p:spPr>
          <a:xfrm>
            <a:off x="293254" y="535144"/>
            <a:ext cx="6839479" cy="4951255"/>
          </a:xfrm>
        </p:spPr>
        <p:txBody>
          <a:bodyPr/>
          <a:lstStyle/>
          <a:p>
            <a:pPr marL="0" indent="0">
              <a:buNone/>
            </a:pPr>
            <a:r>
              <a:rPr lang="en-US" sz="1100" dirty="0">
                <a:latin typeface="Times New Roman" panose="02020603050405020304" pitchFamily="18" charset="0"/>
                <a:cs typeface="Times New Roman" panose="02020603050405020304" pitchFamily="18" charset="0"/>
              </a:rPr>
              <a:t>Anthony, Laurence. </a:t>
            </a:r>
            <a:r>
              <a:rPr lang="en-US" sz="1100" dirty="0" err="1">
                <a:latin typeface="Times New Roman" panose="02020603050405020304" pitchFamily="18" charset="0"/>
                <a:cs typeface="Times New Roman" panose="02020603050405020304" pitchFamily="18" charset="0"/>
              </a:rPr>
              <a:t>AntConc</a:t>
            </a:r>
            <a:r>
              <a:rPr lang="en-US" sz="1100" dirty="0">
                <a:latin typeface="Times New Roman" panose="02020603050405020304" pitchFamily="18" charset="0"/>
                <a:cs typeface="Times New Roman" panose="02020603050405020304" pitchFamily="18" charset="0"/>
              </a:rPr>
              <a:t> (Version 3.2.1). Tokyo, Japan, </a:t>
            </a:r>
            <a:r>
              <a:rPr lang="en-US" sz="1100" dirty="0" err="1">
                <a:latin typeface="Times New Roman" panose="02020603050405020304" pitchFamily="18" charset="0"/>
                <a:cs typeface="Times New Roman" panose="02020603050405020304" pitchFamily="18" charset="0"/>
              </a:rPr>
              <a:t>Waseda</a:t>
            </a:r>
            <a:r>
              <a:rPr lang="en-US" sz="1100" dirty="0">
                <a:latin typeface="Times New Roman" panose="02020603050405020304" pitchFamily="18" charset="0"/>
                <a:cs typeface="Times New Roman" panose="02020603050405020304" pitchFamily="18" charset="0"/>
              </a:rPr>
              <a:t> University, 2023. </a:t>
            </a:r>
            <a:r>
              <a:rPr lang="en-US" sz="1100" u="sng"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http://www.antlab.sci.waseda.ac.jp/</a:t>
            </a:r>
            <a:endParaRPr lang="en-US" sz="1100" u="sng"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Bastian, M., S. Heymann, and M. </a:t>
            </a:r>
            <a:r>
              <a:rPr lang="en-US" sz="1100" dirty="0" err="1">
                <a:latin typeface="Times New Roman" panose="02020603050405020304" pitchFamily="18" charset="0"/>
                <a:cs typeface="Times New Roman" panose="02020603050405020304" pitchFamily="18" charset="0"/>
              </a:rPr>
              <a:t>Jacomy</a:t>
            </a:r>
            <a:r>
              <a:rPr lang="en-US" sz="1100" dirty="0">
                <a:latin typeface="Times New Roman" panose="02020603050405020304" pitchFamily="18" charset="0"/>
                <a:cs typeface="Times New Roman" panose="02020603050405020304" pitchFamily="18" charset="0"/>
              </a:rPr>
              <a:t>. Gephi: an open-source software for exploring and manipulating networks. Third international AAAI conference on weblogs and social media,2009. </a:t>
            </a:r>
            <a:r>
              <a:rPr lang="en-US" sz="11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https://gephi.org/</a:t>
            </a:r>
            <a:endParaRPr lang="de-DE" sz="1100"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Dolski, Dora. “The portrayal of male and female murderers in selected novels of Agatha Christie.” University of Zadar, 2024. </a:t>
            </a:r>
            <a:r>
              <a:rPr lang="en-US" sz="11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URN: nbn:hr</a:t>
            </a:r>
            <a:r>
              <a:rPr lang="en-US" sz="1100" dirty="0">
                <a:solidFill>
                  <a:srgbClr val="00BEFF"/>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a:t>
            </a:r>
            <a:r>
              <a:rPr lang="en-US" sz="11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162:247069</a:t>
            </a:r>
            <a:endParaRPr lang="en-US" sz="1100" dirty="0">
              <a:latin typeface="Times New Roman" panose="02020603050405020304" pitchFamily="18" charset="0"/>
              <a:cs typeface="Times New Roman" panose="02020603050405020304" pitchFamily="18" charset="0"/>
            </a:endParaRPr>
          </a:p>
          <a:p>
            <a:pPr marL="0" indent="0">
              <a:buNone/>
            </a:pPr>
            <a:r>
              <a:rPr lang="de-DE" sz="1100" dirty="0" err="1">
                <a:latin typeface="Times New Roman" panose="02020603050405020304" pitchFamily="18" charset="0"/>
                <a:cs typeface="Times New Roman" panose="02020603050405020304" pitchFamily="18" charset="0"/>
              </a:rPr>
              <a:t>Gius</a:t>
            </a:r>
            <a:r>
              <a:rPr lang="de-DE" sz="1100" dirty="0">
                <a:latin typeface="Times New Roman" panose="02020603050405020304" pitchFamily="18" charset="0"/>
                <a:cs typeface="Times New Roman" panose="02020603050405020304" pitchFamily="18" charset="0"/>
              </a:rPr>
              <a:t>, Evelyn, Jan Christoph Meister, Malte Meister, Marco Petris, Dominik </a:t>
            </a:r>
            <a:r>
              <a:rPr lang="de-DE" sz="1100" dirty="0" err="1">
                <a:latin typeface="Times New Roman" panose="02020603050405020304" pitchFamily="18" charset="0"/>
                <a:cs typeface="Times New Roman" panose="02020603050405020304" pitchFamily="18" charset="0"/>
              </a:rPr>
              <a:t>Gerstorfer</a:t>
            </a:r>
            <a:r>
              <a:rPr lang="de-DE" sz="1100" dirty="0">
                <a:latin typeface="Times New Roman" panose="02020603050405020304" pitchFamily="18" charset="0"/>
                <a:cs typeface="Times New Roman" panose="02020603050405020304" pitchFamily="18" charset="0"/>
              </a:rPr>
              <a:t>, and Mari </a:t>
            </a:r>
            <a:r>
              <a:rPr lang="de-DE" sz="1100" dirty="0" err="1">
                <a:latin typeface="Times New Roman" panose="02020603050405020304" pitchFamily="18" charset="0"/>
                <a:cs typeface="Times New Roman" panose="02020603050405020304" pitchFamily="18" charset="0"/>
              </a:rPr>
              <a:t>Akazawa</a:t>
            </a:r>
            <a:r>
              <a:rPr lang="de-DE" sz="1100" dirty="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CATMA 7 (Version 7.1), 2024. </a:t>
            </a:r>
            <a:r>
              <a:rPr lang="en-US" sz="11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https://catma.de/</a:t>
            </a:r>
            <a:endParaRPr lang="de-DE" sz="1100"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Hark, Ina Rae. “Impossible Murderers: Agatha Christie and the Community of Readers.” Delamater, </a:t>
            </a:r>
            <a:r>
              <a:rPr lang="en-US" sz="1100" u="sng"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Jerome H.</a:t>
            </a:r>
            <a:r>
              <a:rPr lang="en-US" sz="11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 </a:t>
            </a:r>
            <a:r>
              <a:rPr lang="en-US" sz="1100" dirty="0">
                <a:latin typeface="Times New Roman" panose="02020603050405020304" pitchFamily="18" charset="0"/>
                <a:cs typeface="Times New Roman" panose="02020603050405020304" pitchFamily="18" charset="0"/>
              </a:rPr>
              <a:t>and </a:t>
            </a:r>
            <a:r>
              <a:rPr lang="en-US" sz="11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Ruth</a:t>
            </a:r>
            <a:r>
              <a:rPr lang="en-US" sz="1100" dirty="0">
                <a:solidFill>
                  <a:srgbClr val="00BEFF"/>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 </a:t>
            </a:r>
            <a:r>
              <a:rPr lang="en-US" sz="1100" dirty="0" err="1">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Prigozy</a:t>
            </a:r>
            <a:r>
              <a:rPr lang="en-US" sz="1100" dirty="0">
                <a:latin typeface="Times New Roman" panose="02020603050405020304" pitchFamily="18" charset="0"/>
                <a:cs typeface="Times New Roman" panose="02020603050405020304" pitchFamily="18" charset="0"/>
              </a:rPr>
              <a:t> (eds), </a:t>
            </a:r>
            <a:r>
              <a:rPr lang="en-US" sz="1100" i="1" dirty="0">
                <a:latin typeface="Times New Roman" panose="02020603050405020304" pitchFamily="18" charset="0"/>
                <a:cs typeface="Times New Roman" panose="02020603050405020304" pitchFamily="18" charset="0"/>
              </a:rPr>
              <a:t>Theory and Practice of Classic Detective Fiction, </a:t>
            </a:r>
            <a:r>
              <a:rPr lang="en-US" sz="1100" dirty="0">
                <a:latin typeface="Times New Roman" panose="02020603050405020304" pitchFamily="18" charset="0"/>
                <a:cs typeface="Times New Roman" panose="02020603050405020304" pitchFamily="18" charset="0"/>
              </a:rPr>
              <a:t>Bloomsbury Publishing USA,1997, pp. 111-118.</a:t>
            </a:r>
          </a:p>
          <a:p>
            <a:pPr marL="0" indent="0">
              <a:buNone/>
            </a:pPr>
            <a:r>
              <a:rPr lang="en-US" sz="1100" dirty="0">
                <a:latin typeface="Times New Roman" panose="02020603050405020304" pitchFamily="18" charset="0"/>
                <a:cs typeface="Times New Roman" panose="02020603050405020304" pitchFamily="18" charset="0"/>
              </a:rPr>
              <a:t>Pichler, Axel, and Nils Reiter. “From Concepts to Texts and Back: Operationalization as a Core Activity of Digital Humanities.” </a:t>
            </a:r>
            <a:r>
              <a:rPr lang="en-US" sz="1100" i="1" dirty="0">
                <a:latin typeface="Times New Roman" panose="02020603050405020304" pitchFamily="18" charset="0"/>
                <a:cs typeface="Times New Roman" panose="02020603050405020304" pitchFamily="18" charset="0"/>
              </a:rPr>
              <a:t>Journal of Cultural Analytics</a:t>
            </a:r>
            <a:r>
              <a:rPr lang="en-US" sz="1100" dirty="0">
                <a:latin typeface="Times New Roman" panose="02020603050405020304" pitchFamily="18" charset="0"/>
                <a:cs typeface="Times New Roman" panose="02020603050405020304" pitchFamily="18" charset="0"/>
              </a:rPr>
              <a:t>, vol. 7, no. 4, Dec.2022. </a:t>
            </a:r>
            <a:r>
              <a:rPr lang="en-US" sz="1100" u="sng"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https:/​/​doi.org/​10.22148/​001c.57195</a:t>
            </a:r>
            <a:endParaRPr lang="en-US" sz="1100" u="sng"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R Core Team. R: A Language and Environment for Statistical Computing. R Foundation for Statistical Computing, 2023. </a:t>
            </a:r>
            <a:r>
              <a:rPr lang="en-US" sz="1100" dirty="0">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https://www.r-project.org/</a:t>
            </a:r>
            <a:endParaRPr lang="de-DE" sz="1100" dirty="0">
              <a:latin typeface="Times New Roman" panose="02020603050405020304" pitchFamily="18" charset="0"/>
              <a:cs typeface="Times New Roman" panose="02020603050405020304" pitchFamily="18" charset="0"/>
            </a:endParaRPr>
          </a:p>
          <a:p>
            <a:pPr marL="0" indent="0">
              <a:buNone/>
            </a:pPr>
            <a:r>
              <a:rPr lang="de-DE" sz="1100" dirty="0">
                <a:latin typeface="Times New Roman" panose="02020603050405020304" pitchFamily="18" charset="0"/>
                <a:cs typeface="Times New Roman" panose="02020603050405020304" pitchFamily="18" charset="0"/>
              </a:rPr>
              <a:t>Schumacher, Mareike. “Netzwerkanalyse.” </a:t>
            </a:r>
            <a:r>
              <a:rPr lang="de-DE" sz="1100" i="1" dirty="0" err="1">
                <a:latin typeface="Times New Roman" panose="02020603050405020304" pitchFamily="18" charset="0"/>
                <a:cs typeface="Times New Roman" panose="02020603050405020304" pitchFamily="18" charset="0"/>
              </a:rPr>
              <a:t>forTEXT</a:t>
            </a:r>
            <a:r>
              <a:rPr lang="de-DE" sz="1100" i="1" dirty="0">
                <a:latin typeface="Times New Roman" panose="02020603050405020304" pitchFamily="18" charset="0"/>
                <a:cs typeface="Times New Roman" panose="02020603050405020304" pitchFamily="18" charset="0"/>
              </a:rPr>
              <a:t>: Literatur digital erforschen</a:t>
            </a:r>
            <a:r>
              <a:rPr lang="de-DE" sz="1100" dirty="0">
                <a:latin typeface="Times New Roman" panose="02020603050405020304" pitchFamily="18" charset="0"/>
                <a:cs typeface="Times New Roman" panose="02020603050405020304" pitchFamily="18" charset="0"/>
              </a:rPr>
              <a:t>, 2018, </a:t>
            </a:r>
            <a:r>
              <a:rPr lang="de-DE" sz="1100" u="sng" dirty="0">
                <a:latin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https://fortext.net/routinen/methoden/netzwerkanalyse</a:t>
            </a:r>
            <a:r>
              <a:rPr lang="de-DE" sz="1100" dirty="0">
                <a:latin typeface="Times New Roman" panose="02020603050405020304" pitchFamily="18" charset="0"/>
                <a:cs typeface="Times New Roman" panose="02020603050405020304" pitchFamily="18" charset="0"/>
              </a:rPr>
              <a:t>. </a:t>
            </a:r>
          </a:p>
          <a:p>
            <a:pPr marL="0" indent="0">
              <a:buNone/>
            </a:pPr>
            <a:r>
              <a:rPr lang="en-US" sz="1100" dirty="0" err="1">
                <a:latin typeface="Times New Roman" panose="02020603050405020304" pitchFamily="18" charset="0"/>
                <a:cs typeface="Times New Roman" panose="02020603050405020304" pitchFamily="18" charset="0"/>
              </a:rPr>
              <a:t>Verbogen</a:t>
            </a:r>
            <a:r>
              <a:rPr lang="en-US" sz="1100" dirty="0">
                <a:latin typeface="Times New Roman" panose="02020603050405020304" pitchFamily="18" charset="0"/>
                <a:cs typeface="Times New Roman" panose="02020603050405020304" pitchFamily="18" charset="0"/>
              </a:rPr>
              <a:t>, Aagje. “Agatha Christie and Her Murderers: A Case Study of the Miss Marple Novels.”  University of Gent, 2008. </a:t>
            </a:r>
            <a:r>
              <a:rPr lang="en-US" sz="1100" dirty="0">
                <a:latin typeface="Times New Roman" panose="02020603050405020304" pitchFamily="18" charset="0"/>
                <a:cs typeface="Times New Roman" panose="02020603050405020304" pitchFamily="18" charset="0"/>
                <a:hlinkClick r:id="rId11">
                  <a:extLst>
                    <a:ext uri="{A12FA001-AC4F-418D-AE19-62706E023703}">
                      <ahyp:hlinkClr xmlns:ahyp="http://schemas.microsoft.com/office/drawing/2018/hyperlinkcolor" val="tx"/>
                    </a:ext>
                  </a:extLst>
                </a:hlinkClick>
              </a:rPr>
              <a:t>https://libstore.ugent.be/fulltxt/RUG01/001/414/024/RUG01-001414024_2010_0001_AC.pdf</a:t>
            </a:r>
            <a:endParaRPr lang="en-US" sz="1100"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Young, Lori and Stuart Soroka.  </a:t>
            </a:r>
            <a:r>
              <a:rPr lang="en-US" sz="1100" i="1" dirty="0" err="1">
                <a:latin typeface="Times New Roman" panose="02020603050405020304" pitchFamily="18" charset="0"/>
                <a:cs typeface="Times New Roman" panose="02020603050405020304" pitchFamily="18" charset="0"/>
              </a:rPr>
              <a:t>Lexicoder</a:t>
            </a:r>
            <a:r>
              <a:rPr lang="en-US" sz="1100" i="1" dirty="0">
                <a:latin typeface="Times New Roman" panose="02020603050405020304" pitchFamily="18" charset="0"/>
                <a:cs typeface="Times New Roman" panose="02020603050405020304" pitchFamily="18" charset="0"/>
              </a:rPr>
              <a:t> Sentiment Dictionary</a:t>
            </a:r>
            <a:r>
              <a:rPr lang="en-US" sz="1100" dirty="0">
                <a:latin typeface="Times New Roman" panose="02020603050405020304" pitchFamily="18" charset="0"/>
                <a:cs typeface="Times New Roman" panose="02020603050405020304" pitchFamily="18" charset="0"/>
              </a:rPr>
              <a:t>. 2012. </a:t>
            </a:r>
            <a:r>
              <a:rPr lang="en-US" sz="1100" u="sng" dirty="0">
                <a:latin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https://www.snsoroka.com/data-lexicoder/</a:t>
            </a:r>
            <a:endParaRPr lang="de-DE" sz="1100" dirty="0">
              <a:latin typeface="Times New Roman" panose="02020603050405020304" pitchFamily="18" charset="0"/>
              <a:cs typeface="Times New Roman" panose="02020603050405020304" pitchFamily="18" charset="0"/>
            </a:endParaRPr>
          </a:p>
          <a:p>
            <a:pPr marL="0" indent="0">
              <a:buNone/>
            </a:pPr>
            <a:endParaRPr lang="de-DE" sz="1100" dirty="0">
              <a:latin typeface="Times New Roman" panose="02020603050405020304" pitchFamily="18" charset="0"/>
              <a:cs typeface="Times New Roman" panose="02020603050405020304" pitchFamily="18" charset="0"/>
            </a:endParaRPr>
          </a:p>
          <a:p>
            <a:pPr marL="0" indent="0">
              <a:buNone/>
            </a:pPr>
            <a:endParaRPr lang="en-US" sz="1100" dirty="0"/>
          </a:p>
          <a:p>
            <a:pPr marL="0" indent="0">
              <a:buNone/>
            </a:pPr>
            <a:endParaRPr lang="de-DE" sz="1100" dirty="0"/>
          </a:p>
          <a:p>
            <a:pPr marL="0" indent="0">
              <a:buNone/>
            </a:pPr>
            <a:endParaRPr lang="en-US" sz="1100" dirty="0"/>
          </a:p>
          <a:p>
            <a:pPr marL="0" indent="0">
              <a:buNone/>
            </a:pPr>
            <a:endParaRPr lang="de-DE" sz="1100" dirty="0"/>
          </a:p>
          <a:p>
            <a:pPr marL="0" indent="0">
              <a:buNone/>
            </a:pPr>
            <a:endParaRPr lang="de-DE" dirty="0"/>
          </a:p>
          <a:p>
            <a:pPr marL="0" indent="0">
              <a:buNone/>
            </a:pPr>
            <a:endParaRPr lang="de-DE" dirty="0"/>
          </a:p>
          <a:p>
            <a:pPr marL="0" indent="0">
              <a:buNone/>
            </a:pPr>
            <a:endParaRPr lang="de-DE" dirty="0"/>
          </a:p>
        </p:txBody>
      </p:sp>
      <p:sp>
        <p:nvSpPr>
          <p:cNvPr id="7" name="Foliennummernplatzhalter 6">
            <a:extLst>
              <a:ext uri="{FF2B5EF4-FFF2-40B4-BE49-F238E27FC236}">
                <a16:creationId xmlns:a16="http://schemas.microsoft.com/office/drawing/2014/main" id="{DB675F34-534F-62AD-7E85-B1A2FB6EB004}"/>
              </a:ext>
            </a:extLst>
          </p:cNvPr>
          <p:cNvSpPr>
            <a:spLocks noGrp="1"/>
          </p:cNvSpPr>
          <p:nvPr>
            <p:ph type="sldNum" sz="quarter" idx="16"/>
          </p:nvPr>
        </p:nvSpPr>
        <p:spPr/>
        <p:txBody>
          <a:bodyPr/>
          <a:lstStyle/>
          <a:p>
            <a:fld id="{9E82CC3C-1DC0-4FDA-9590-6CC506AB67F8}" type="slidenum">
              <a:rPr lang="en-US" smtClean="0"/>
              <a:pPr/>
              <a:t>43</a:t>
            </a:fld>
            <a:endParaRPr lang="en-US" dirty="0"/>
          </a:p>
        </p:txBody>
      </p:sp>
    </p:spTree>
    <p:extLst>
      <p:ext uri="{BB962C8B-B14F-4D97-AF65-F5344CB8AC3E}">
        <p14:creationId xmlns:p14="http://schemas.microsoft.com/office/powerpoint/2010/main" val="4140420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19BF5595-6FC1-474B-891C-7FC8E81DBF68}"/>
              </a:ext>
            </a:extLst>
          </p:cNvPr>
          <p:cNvSpPr>
            <a:spLocks noGrp="1"/>
          </p:cNvSpPr>
          <p:nvPr>
            <p:ph type="body" sz="quarter" idx="22"/>
          </p:nvPr>
        </p:nvSpPr>
        <p:spPr>
          <a:xfrm>
            <a:off x="2047400" y="3020349"/>
            <a:ext cx="3290054" cy="216000"/>
          </a:xfrm>
        </p:spPr>
        <p:txBody>
          <a:bodyPr/>
          <a:lstStyle/>
          <a:p>
            <a:r>
              <a:rPr lang="de-DE" dirty="0">
                <a:latin typeface="Times New Roman" panose="02020603050405020304" pitchFamily="18" charset="0"/>
                <a:cs typeface="Times New Roman" panose="02020603050405020304" pitchFamily="18" charset="0"/>
              </a:rPr>
              <a:t>Mengjiao Li</a:t>
            </a:r>
          </a:p>
        </p:txBody>
      </p:sp>
      <p:sp>
        <p:nvSpPr>
          <p:cNvPr id="20" name="Textplatzhalter 19">
            <a:extLst>
              <a:ext uri="{FF2B5EF4-FFF2-40B4-BE49-F238E27FC236}">
                <a16:creationId xmlns:a16="http://schemas.microsoft.com/office/drawing/2014/main" id="{EEF7C4FF-3CC8-4722-9C6E-06F4856316F6}"/>
              </a:ext>
            </a:extLst>
          </p:cNvPr>
          <p:cNvSpPr>
            <a:spLocks noGrp="1"/>
          </p:cNvSpPr>
          <p:nvPr>
            <p:ph type="body" sz="quarter" idx="31"/>
          </p:nvPr>
        </p:nvSpPr>
        <p:spPr>
          <a:xfrm>
            <a:off x="2047400" y="3341918"/>
            <a:ext cx="542646" cy="216482"/>
          </a:xfrm>
        </p:spPr>
        <p:txBody>
          <a:bodyPr/>
          <a:lstStyle/>
          <a:p>
            <a:r>
              <a:rPr lang="de-DE" dirty="0">
                <a:latin typeface="Times New Roman" panose="02020603050405020304" pitchFamily="18" charset="0"/>
                <a:cs typeface="Times New Roman" panose="02020603050405020304" pitchFamily="18" charset="0"/>
              </a:rPr>
              <a:t>E-Mail:</a:t>
            </a:r>
          </a:p>
        </p:txBody>
      </p:sp>
      <p:sp>
        <p:nvSpPr>
          <p:cNvPr id="12" name="Textplatzhalter 11">
            <a:extLst>
              <a:ext uri="{FF2B5EF4-FFF2-40B4-BE49-F238E27FC236}">
                <a16:creationId xmlns:a16="http://schemas.microsoft.com/office/drawing/2014/main" id="{5D949F28-7A5B-41F2-AA2B-E54540E1A6DE}"/>
              </a:ext>
            </a:extLst>
          </p:cNvPr>
          <p:cNvSpPr>
            <a:spLocks noGrp="1"/>
          </p:cNvSpPr>
          <p:nvPr>
            <p:ph type="body" sz="quarter" idx="26"/>
          </p:nvPr>
        </p:nvSpPr>
        <p:spPr>
          <a:xfrm>
            <a:off x="2590045" y="3342400"/>
            <a:ext cx="2747409" cy="216000"/>
          </a:xfrm>
        </p:spPr>
        <p:txBody>
          <a:bodyPr/>
          <a:lstStyle/>
          <a:p>
            <a:r>
              <a:rPr lang="de-DE" dirty="0">
                <a:latin typeface="Times New Roman" panose="02020603050405020304" pitchFamily="18" charset="0"/>
                <a:cs typeface="Times New Roman" panose="02020603050405020304" pitchFamily="18" charset="0"/>
              </a:rPr>
              <a:t>st183118@stud.uni-stuttgart.de</a:t>
            </a:r>
          </a:p>
        </p:txBody>
      </p:sp>
      <p:sp>
        <p:nvSpPr>
          <p:cNvPr id="22" name="Textplatzhalter 21">
            <a:extLst>
              <a:ext uri="{FF2B5EF4-FFF2-40B4-BE49-F238E27FC236}">
                <a16:creationId xmlns:a16="http://schemas.microsoft.com/office/drawing/2014/main" id="{A4FF8DFA-8A2A-49E6-87FC-850C8BA2B468}"/>
              </a:ext>
            </a:extLst>
          </p:cNvPr>
          <p:cNvSpPr>
            <a:spLocks noGrp="1"/>
          </p:cNvSpPr>
          <p:nvPr>
            <p:ph type="body" sz="quarter" idx="34"/>
          </p:nvPr>
        </p:nvSpPr>
        <p:spPr>
          <a:xfrm>
            <a:off x="2047400" y="3693601"/>
            <a:ext cx="2500012" cy="218691"/>
          </a:xfrm>
        </p:spPr>
        <p:txBody>
          <a:bodyPr/>
          <a:lstStyle/>
          <a:p>
            <a:r>
              <a:rPr lang="de-DE" dirty="0">
                <a:latin typeface="Times New Roman" panose="02020603050405020304" pitchFamily="18" charset="0"/>
                <a:cs typeface="Times New Roman" panose="02020603050405020304" pitchFamily="18" charset="0"/>
              </a:rPr>
              <a:t>Universität Stuttgart</a:t>
            </a:r>
          </a:p>
        </p:txBody>
      </p:sp>
      <p:sp>
        <p:nvSpPr>
          <p:cNvPr id="11" name="Textplatzhalter 10">
            <a:extLst>
              <a:ext uri="{FF2B5EF4-FFF2-40B4-BE49-F238E27FC236}">
                <a16:creationId xmlns:a16="http://schemas.microsoft.com/office/drawing/2014/main" id="{AB51520C-F1B9-457A-8D20-620314C42951}"/>
              </a:ext>
            </a:extLst>
          </p:cNvPr>
          <p:cNvSpPr>
            <a:spLocks noGrp="1"/>
          </p:cNvSpPr>
          <p:nvPr>
            <p:ph type="body" sz="quarter" idx="25"/>
          </p:nvPr>
        </p:nvSpPr>
        <p:spPr/>
        <p:txBody>
          <a:bodyPr/>
          <a:lstStyle/>
          <a:p>
            <a:r>
              <a:rPr lang="de-DE" dirty="0">
                <a:latin typeface="Times New Roman" panose="02020603050405020304" pitchFamily="18" charset="0"/>
                <a:cs typeface="Times New Roman" panose="02020603050405020304" pitchFamily="18" charset="0"/>
              </a:rPr>
              <a:t>Institut für Literaturwissenschaft</a:t>
            </a:r>
          </a:p>
        </p:txBody>
      </p:sp>
    </p:spTree>
    <p:extLst>
      <p:ext uri="{BB962C8B-B14F-4D97-AF65-F5344CB8AC3E}">
        <p14:creationId xmlns:p14="http://schemas.microsoft.com/office/powerpoint/2010/main" val="1406922563"/>
      </p:ext>
    </p:extLst>
  </p:cSld>
  <p:clrMapOvr>
    <a:masterClrMapping/>
  </p:clrMapOvr>
</p:sld>
</file>

<file path=ppt/theme/theme1.xml><?xml version="1.0" encoding="utf-8"?>
<a:theme xmlns:a="http://schemas.openxmlformats.org/drawingml/2006/main" name="Uni-Stuttgart">
  <a:themeElements>
    <a:clrScheme name="UNI COLOR">
      <a:dk1>
        <a:srgbClr val="3E444C"/>
      </a:dk1>
      <a:lt1>
        <a:sysClr val="window" lastClr="FFFFFF"/>
      </a:lt1>
      <a:dk2>
        <a:srgbClr val="000000"/>
      </a:dk2>
      <a:lt2>
        <a:srgbClr val="9F9998"/>
      </a:lt2>
      <a:accent1>
        <a:srgbClr val="00BEFF"/>
      </a:accent1>
      <a:accent2>
        <a:srgbClr val="00519E"/>
      </a:accent2>
      <a:accent3>
        <a:srgbClr val="3E444C"/>
      </a:accent3>
      <a:accent4>
        <a:srgbClr val="7DC6EA"/>
      </a:accent4>
      <a:accent5>
        <a:srgbClr val="9F9998"/>
      </a:accent5>
      <a:accent6>
        <a:srgbClr val="FFD500"/>
      </a:accent6>
      <a:hlink>
        <a:srgbClr val="00BEFF"/>
      </a:hlink>
      <a:folHlink>
        <a:srgbClr val="3E444C"/>
      </a:folHlink>
    </a:clrScheme>
    <a:fontScheme name="Universitaet_Stuttgart_Fo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9388" indent="-179388">
          <a:buClr>
            <a:schemeClr val="accent1"/>
          </a:buClr>
          <a:buFont typeface="Arial" panose="020B0604020202020204" pitchFamily="34" charset="0"/>
          <a:buChar char="•"/>
          <a:defRPr sz="1600" dirty="0" smtClean="0"/>
        </a:defPPr>
      </a:lstStyle>
    </a:txDef>
  </a:objectDefaults>
  <a:extraClrSchemeLst/>
  <a:extLst>
    <a:ext uri="{05A4C25C-085E-4340-85A3-A5531E510DB2}">
      <thm15:themeFamily xmlns:thm15="http://schemas.microsoft.com/office/thememl/2012/main" name="Studentische_Vorlage_D_4zu3.potx" id="{C0E2D304-28D0-4807-9179-1B2499B5E5AF}" vid="{BD261D75-02EC-43E3-AAB0-2548F11E9109}"/>
    </a:ext>
  </a:extLst>
</a:theme>
</file>

<file path=ppt/theme/theme2.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Studentische_Vorlage_D_4zu3</Template>
  <TotalTime>0</TotalTime>
  <Words>3953</Words>
  <Application>Microsoft Office PowerPoint</Application>
  <PresentationFormat>Benutzerdefiniert</PresentationFormat>
  <Paragraphs>973</Paragraphs>
  <Slides>44</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44</vt:i4>
      </vt:variant>
    </vt:vector>
  </HeadingPairs>
  <TitlesOfParts>
    <vt:vector size="48" baseType="lpstr">
      <vt:lpstr>Aptos</vt:lpstr>
      <vt:lpstr>Arial</vt:lpstr>
      <vt:lpstr>Times New Roman</vt:lpstr>
      <vt:lpstr>Uni-Stuttgart</vt:lpstr>
      <vt:lpstr>A Digital Humanities Approach to Characterizing Murderers in  Agatha Christie’s Detective Novels  </vt:lpstr>
      <vt:lpstr>1. Research Question</vt:lpstr>
      <vt:lpstr>2. Operationalization</vt:lpstr>
      <vt:lpstr>PowerPoint-Präsentation</vt:lpstr>
      <vt:lpstr>PowerPoint-Präsentation</vt:lpstr>
      <vt:lpstr>PowerPoint-Präsentation</vt:lpstr>
      <vt:lpstr>3. Quantitative Analyses</vt:lpstr>
      <vt:lpstr>PowerPoint-Präsentation</vt:lpstr>
      <vt:lpstr>PowerPoint-Präsentation</vt:lpstr>
      <vt:lpstr>PowerPoint-Präsentation</vt:lpstr>
      <vt:lpstr>PowerPoint-Präsentation</vt:lpstr>
      <vt:lpstr>   Synthesis of SNA Results </vt:lpstr>
      <vt:lpstr>PowerPoint-Präsentation</vt:lpstr>
      <vt:lpstr>PowerPoint-Präsentation</vt:lpstr>
      <vt:lpstr>PowerPoint-Präsentation</vt:lpstr>
      <vt:lpstr>PowerPoint-Präsentation</vt:lpstr>
      <vt:lpstr>PowerPoint-Präsentation</vt:lpstr>
      <vt:lpstr>PowerPoint-Präsentation</vt:lpstr>
      <vt:lpstr>3.3 Word2Vec</vt:lpstr>
      <vt:lpstr>PowerPoint-Präsentation</vt:lpstr>
      <vt:lpstr>PowerPoint-Präsentation</vt:lpstr>
      <vt:lpstr>PowerPoint-Präsentation</vt:lpstr>
      <vt:lpstr>PowerPoint-Präsentation</vt:lpstr>
      <vt:lpstr>3.4 Sentiment Analysis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 </vt:lpstr>
      <vt:lpstr>5. Conclusion</vt:lpstr>
      <vt:lpstr>References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Vivien Li</dc:creator>
  <cp:lastModifiedBy>Vivien Li</cp:lastModifiedBy>
  <cp:revision>33</cp:revision>
  <dcterms:created xsi:type="dcterms:W3CDTF">2025-12-04T09:38:24Z</dcterms:created>
  <dcterms:modified xsi:type="dcterms:W3CDTF">2026-01-28T10:03:14Z</dcterms:modified>
</cp:coreProperties>
</file>