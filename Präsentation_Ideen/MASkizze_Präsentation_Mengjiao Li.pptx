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15"/>
  </p:notesMasterIdLst>
  <p:sldIdLst>
    <p:sldId id="256" r:id="rId2"/>
    <p:sldId id="259" r:id="rId3"/>
    <p:sldId id="257" r:id="rId4"/>
    <p:sldId id="258" r:id="rId5"/>
    <p:sldId id="260" r:id="rId6"/>
    <p:sldId id="261" r:id="rId7"/>
    <p:sldId id="263" r:id="rId8"/>
    <p:sldId id="262" r:id="rId9"/>
    <p:sldId id="267" r:id="rId10"/>
    <p:sldId id="266" r:id="rId11"/>
    <p:sldId id="268"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646" autoAdjust="0"/>
    <p:restoredTop sz="94620" autoAdjust="0"/>
  </p:normalViewPr>
  <p:slideViewPr>
    <p:cSldViewPr snapToGrid="0">
      <p:cViewPr>
        <p:scale>
          <a:sx n="69" d="100"/>
          <a:sy n="69" d="100"/>
        </p:scale>
        <p:origin x="11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9A03E0-ED11-44F3-9130-D5DDEAA79500}" type="datetimeFigureOut">
              <a:rPr lang="de-DE" smtClean="0"/>
              <a:t>08.07.2025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36CF34-F3D6-4675-9CC4-E974D5E82CAB}" type="slidenum">
              <a:rPr lang="de-DE" smtClean="0"/>
              <a:t>‹Nr.›</a:t>
            </a:fld>
            <a:endParaRPr lang="de-DE"/>
          </a:p>
        </p:txBody>
      </p:sp>
    </p:spTree>
    <p:extLst>
      <p:ext uri="{BB962C8B-B14F-4D97-AF65-F5344CB8AC3E}">
        <p14:creationId xmlns:p14="http://schemas.microsoft.com/office/powerpoint/2010/main" val="3343132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C36CF34-F3D6-4675-9CC4-E974D5E82CAB}" type="slidenum">
              <a:rPr lang="de-DE" smtClean="0"/>
              <a:t>3</a:t>
            </a:fld>
            <a:endParaRPr lang="de-DE"/>
          </a:p>
        </p:txBody>
      </p:sp>
    </p:spTree>
    <p:extLst>
      <p:ext uri="{BB962C8B-B14F-4D97-AF65-F5344CB8AC3E}">
        <p14:creationId xmlns:p14="http://schemas.microsoft.com/office/powerpoint/2010/main" val="2050712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Adornno</a:t>
            </a:r>
            <a:r>
              <a:rPr lang="de-DE" dirty="0"/>
              <a:t> </a:t>
            </a:r>
          </a:p>
          <a:p>
            <a:r>
              <a:rPr lang="de-DE" dirty="0"/>
              <a:t>Moral </a:t>
            </a:r>
            <a:r>
              <a:rPr lang="de-DE" dirty="0" err="1"/>
              <a:t>foundations</a:t>
            </a:r>
            <a:r>
              <a:rPr lang="de-DE" dirty="0"/>
              <a:t> </a:t>
            </a:r>
            <a:r>
              <a:rPr lang="de-DE" dirty="0" err="1"/>
              <a:t>theory</a:t>
            </a:r>
            <a:endParaRPr lang="de-DE" dirty="0"/>
          </a:p>
          <a:p>
            <a:endParaRPr lang="de-DE" dirty="0"/>
          </a:p>
        </p:txBody>
      </p:sp>
      <p:sp>
        <p:nvSpPr>
          <p:cNvPr id="4" name="Foliennummernplatzhalter 3"/>
          <p:cNvSpPr>
            <a:spLocks noGrp="1"/>
          </p:cNvSpPr>
          <p:nvPr>
            <p:ph type="sldNum" sz="quarter" idx="5"/>
          </p:nvPr>
        </p:nvSpPr>
        <p:spPr/>
        <p:txBody>
          <a:bodyPr/>
          <a:lstStyle/>
          <a:p>
            <a:fld id="{CC36CF34-F3D6-4675-9CC4-E974D5E82CAB}" type="slidenum">
              <a:rPr lang="de-DE" smtClean="0"/>
              <a:t>4</a:t>
            </a:fld>
            <a:endParaRPr lang="de-DE"/>
          </a:p>
        </p:txBody>
      </p:sp>
    </p:spTree>
    <p:extLst>
      <p:ext uri="{BB962C8B-B14F-4D97-AF65-F5344CB8AC3E}">
        <p14:creationId xmlns:p14="http://schemas.microsoft.com/office/powerpoint/2010/main" val="147405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Obwohl Agatha Christie keine radikale Feministin war, stehen ihre Werke in enger Verbindung mit den Ideen der „Neuen Frau“ – Unabhängigkeit, Intelligenz und unkonventionelle Rollen für Frauen. Auf diese Weise bot sie eine stille, aber nachhaltige Form feministischer Repräsentation in der populären Literatur.</a:t>
            </a:r>
          </a:p>
        </p:txBody>
      </p:sp>
      <p:sp>
        <p:nvSpPr>
          <p:cNvPr id="4" name="Foliennummernplatzhalter 3"/>
          <p:cNvSpPr>
            <a:spLocks noGrp="1"/>
          </p:cNvSpPr>
          <p:nvPr>
            <p:ph type="sldNum" sz="quarter" idx="5"/>
          </p:nvPr>
        </p:nvSpPr>
        <p:spPr/>
        <p:txBody>
          <a:bodyPr/>
          <a:lstStyle/>
          <a:p>
            <a:fld id="{CC36CF34-F3D6-4675-9CC4-E974D5E82CAB}" type="slidenum">
              <a:rPr lang="de-DE" smtClean="0"/>
              <a:t>5</a:t>
            </a:fld>
            <a:endParaRPr lang="de-DE"/>
          </a:p>
        </p:txBody>
      </p:sp>
    </p:spTree>
    <p:extLst>
      <p:ext uri="{BB962C8B-B14F-4D97-AF65-F5344CB8AC3E}">
        <p14:creationId xmlns:p14="http://schemas.microsoft.com/office/powerpoint/2010/main" val="4174979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Vielleicht lässt sich feststellen, ob das Geschlecht einen Einfluss darauf hat, wie dieser Detektiv den Fall beurteilt.</a:t>
            </a:r>
          </a:p>
        </p:txBody>
      </p:sp>
      <p:sp>
        <p:nvSpPr>
          <p:cNvPr id="4" name="Foliennummernplatzhalter 3"/>
          <p:cNvSpPr>
            <a:spLocks noGrp="1"/>
          </p:cNvSpPr>
          <p:nvPr>
            <p:ph type="sldNum" sz="quarter" idx="5"/>
          </p:nvPr>
        </p:nvSpPr>
        <p:spPr/>
        <p:txBody>
          <a:bodyPr/>
          <a:lstStyle/>
          <a:p>
            <a:fld id="{CC36CF34-F3D6-4675-9CC4-E974D5E82CAB}" type="slidenum">
              <a:rPr lang="de-DE" smtClean="0"/>
              <a:t>6</a:t>
            </a:fld>
            <a:endParaRPr lang="de-DE"/>
          </a:p>
        </p:txBody>
      </p:sp>
    </p:spTree>
    <p:extLst>
      <p:ext uri="{BB962C8B-B14F-4D97-AF65-F5344CB8AC3E}">
        <p14:creationId xmlns:p14="http://schemas.microsoft.com/office/powerpoint/2010/main" val="1097910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C36CF34-F3D6-4675-9CC4-E974D5E82CAB}" type="slidenum">
              <a:rPr lang="de-DE" smtClean="0"/>
              <a:t>8</a:t>
            </a:fld>
            <a:endParaRPr lang="de-DE"/>
          </a:p>
        </p:txBody>
      </p:sp>
    </p:spTree>
    <p:extLst>
      <p:ext uri="{BB962C8B-B14F-4D97-AF65-F5344CB8AC3E}">
        <p14:creationId xmlns:p14="http://schemas.microsoft.com/office/powerpoint/2010/main" val="2396618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 haben das LSD (Lexikon) an manuell codierten Nachrichteninhalten und verglichen ihre Ergebnisse mit denen von neun anderen inhaltsanalytischen Wörterbüchern. Die Analysen deuten darauf hin, dass die Ergebnisse des LSD systematischer mit der manuellen Codierung übereinstimmen als die Ergebnisse der anderen verfügbaren Wörterbücher.</a:t>
            </a:r>
          </a:p>
          <a:p>
            <a:endParaRPr lang="de-DE" dirty="0"/>
          </a:p>
        </p:txBody>
      </p:sp>
      <p:sp>
        <p:nvSpPr>
          <p:cNvPr id="4" name="Foliennummernplatzhalter 3"/>
          <p:cNvSpPr>
            <a:spLocks noGrp="1"/>
          </p:cNvSpPr>
          <p:nvPr>
            <p:ph type="sldNum" sz="quarter" idx="5"/>
          </p:nvPr>
        </p:nvSpPr>
        <p:spPr/>
        <p:txBody>
          <a:bodyPr/>
          <a:lstStyle/>
          <a:p>
            <a:fld id="{CC36CF34-F3D6-4675-9CC4-E974D5E82CAB}" type="slidenum">
              <a:rPr lang="de-DE" smtClean="0"/>
              <a:t>9</a:t>
            </a:fld>
            <a:endParaRPr lang="de-DE"/>
          </a:p>
        </p:txBody>
      </p:sp>
    </p:spTree>
    <p:extLst>
      <p:ext uri="{BB962C8B-B14F-4D97-AF65-F5344CB8AC3E}">
        <p14:creationId xmlns:p14="http://schemas.microsoft.com/office/powerpoint/2010/main" val="1731767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C36CF34-F3D6-4675-9CC4-E974D5E82CAB}" type="slidenum">
              <a:rPr lang="de-DE" smtClean="0"/>
              <a:t>12</a:t>
            </a:fld>
            <a:endParaRPr lang="de-DE"/>
          </a:p>
        </p:txBody>
      </p:sp>
    </p:spTree>
    <p:extLst>
      <p:ext uri="{BB962C8B-B14F-4D97-AF65-F5344CB8AC3E}">
        <p14:creationId xmlns:p14="http://schemas.microsoft.com/office/powerpoint/2010/main" val="2287766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C36CF34-F3D6-4675-9CC4-E974D5E82CAB}" type="slidenum">
              <a:rPr lang="de-DE" smtClean="0"/>
              <a:t>13</a:t>
            </a:fld>
            <a:endParaRPr lang="de-DE"/>
          </a:p>
        </p:txBody>
      </p:sp>
    </p:spTree>
    <p:extLst>
      <p:ext uri="{BB962C8B-B14F-4D97-AF65-F5344CB8AC3E}">
        <p14:creationId xmlns:p14="http://schemas.microsoft.com/office/powerpoint/2010/main" val="1155312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de-DE"/>
              <a:t>Mastertitelformat bearbeiten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17F465DD-E588-4002-8BA3-95194AD41F46}" type="datetimeFigureOut">
              <a:rPr lang="de-DE" smtClean="0"/>
              <a:t>08.07.2025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a:xfrm>
            <a:off x="9255346" y="2750337"/>
            <a:ext cx="1171888" cy="1356442"/>
          </a:xfrm>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858914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17F465DD-E588-4002-8BA3-95194AD41F46}" type="datetimeFigureOut">
              <a:rPr lang="de-DE" smtClean="0"/>
              <a:t>08.07.2025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4217928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de-DE"/>
              <a:t>Mastertitelformat bearbeiten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17F465DD-E588-4002-8BA3-95194AD41F46}" type="datetimeFigureOut">
              <a:rPr lang="de-DE" smtClean="0"/>
              <a:t>08.07.2025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a:xfrm>
            <a:off x="10729455" y="2869895"/>
            <a:ext cx="1154151" cy="1090789"/>
          </a:xfrm>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1502255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17F465DD-E588-4002-8BA3-95194AD41F46}" type="datetimeFigureOut">
              <a:rPr lang="de-DE" smtClean="0"/>
              <a:t>08.07.2025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925724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de-DE"/>
              <a:t>Mastertitelformat bearbeiten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80322" y="3030008"/>
            <a:ext cx="4698355" cy="290617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5594123" y="3030008"/>
            <a:ext cx="4700059" cy="290617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17F465DD-E588-4002-8BA3-95194AD41F46}" type="datetimeFigureOut">
              <a:rPr lang="de-DE" smtClean="0"/>
              <a:t>08.07.2025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385821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17F465DD-E588-4002-8BA3-95194AD41F46}" type="datetimeFigureOut">
              <a:rPr lang="de-DE" smtClean="0"/>
              <a:t>08.07.2025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3539276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17F465DD-E588-4002-8BA3-95194AD41F46}" type="datetimeFigureOut">
              <a:rPr lang="de-DE" smtClean="0"/>
              <a:t>08.07.2025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3497611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de-DE"/>
              <a:t>Mastertitelformat bearbeiten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7F465DD-E588-4002-8BA3-95194AD41F46}" type="datetimeFigureOut">
              <a:rPr lang="de-DE" smtClean="0"/>
              <a:t>08.07.2025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746948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de-DE"/>
              <a:t>Mastertitelformat bearbeiten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7F465DD-E588-4002-8BA3-95194AD41F46}" type="datetimeFigureOut">
              <a:rPr lang="de-DE" smtClean="0"/>
              <a:t>08.07.2025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1243900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it Beschriftung">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7F465DD-E588-4002-8BA3-95194AD41F46}" type="datetimeFigureOut">
              <a:rPr lang="de-DE" smtClean="0"/>
              <a:t>08.07.2025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a:xfrm>
            <a:off x="10729455" y="4711309"/>
            <a:ext cx="1154151" cy="1090789"/>
          </a:xfrm>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441812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de-DE"/>
              <a:t>Mastertitelformat bearbeiten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7F465DD-E588-4002-8BA3-95194AD41F46}" type="datetimeFigureOut">
              <a:rPr lang="de-DE" smtClean="0"/>
              <a:t>08.07.2025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a:xfrm>
            <a:off x="10729455" y="4711615"/>
            <a:ext cx="1154151" cy="1090789"/>
          </a:xfrm>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42016949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de-DE"/>
              <a:t>Mastertitelformat bearbeiten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7F465DD-E588-4002-8BA3-95194AD41F46}" type="datetimeFigureOut">
              <a:rPr lang="de-DE" smtClean="0"/>
              <a:t>08.07.2025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a:xfrm>
            <a:off x="10729455" y="4709925"/>
            <a:ext cx="1154151" cy="1090789"/>
          </a:xfrm>
        </p:spPr>
        <p:txBody>
          <a:bodyPr/>
          <a:lstStyle/>
          <a:p>
            <a:fld id="{9061854F-57AA-4F05-9D1A-BA14EB682BB5}" type="slidenum">
              <a:rPr lang="de-DE" smtClean="0"/>
              <a:t>‹Nr.›</a:t>
            </a:fld>
            <a:endParaRPr lang="de-DE"/>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172020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nskart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de-DE"/>
              <a:t>Mastertitelformat bearbeiten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7F465DD-E588-4002-8BA3-95194AD41F46}" type="datetimeFigureOut">
              <a:rPr lang="de-DE" smtClean="0"/>
              <a:t>08.07.2025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a:xfrm>
            <a:off x="10729455" y="4709925"/>
            <a:ext cx="1154151" cy="1090789"/>
          </a:xfrm>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2598985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palte">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de-DE"/>
              <a:t>Mastertitelformat bearbeiten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Date Placeholder 2"/>
          <p:cNvSpPr>
            <a:spLocks noGrp="1"/>
          </p:cNvSpPr>
          <p:nvPr>
            <p:ph type="dt" sz="half" idx="10"/>
          </p:nvPr>
        </p:nvSpPr>
        <p:spPr/>
        <p:txBody>
          <a:bodyPr/>
          <a:lstStyle/>
          <a:p>
            <a:fld id="{17F465DD-E588-4002-8BA3-95194AD41F46}" type="datetimeFigureOut">
              <a:rPr lang="de-DE" smtClean="0"/>
              <a:t>08.07.2025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14156605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Bildspalte">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de-DE"/>
              <a:t>Mastertitelformat bearbeiten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Date Placeholder 2"/>
          <p:cNvSpPr>
            <a:spLocks noGrp="1"/>
          </p:cNvSpPr>
          <p:nvPr>
            <p:ph type="dt" sz="half" idx="10"/>
          </p:nvPr>
        </p:nvSpPr>
        <p:spPr/>
        <p:txBody>
          <a:bodyPr/>
          <a:lstStyle/>
          <a:p>
            <a:fld id="{17F465DD-E588-4002-8BA3-95194AD41F46}" type="datetimeFigureOut">
              <a:rPr lang="de-DE" smtClean="0"/>
              <a:t>08.07.2025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2853308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17F465DD-E588-4002-8BA3-95194AD41F46}" type="datetimeFigureOut">
              <a:rPr lang="de-DE" smtClean="0"/>
              <a:t>08.07.2025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061854F-57AA-4F05-9D1A-BA14EB682BB5}" type="slidenum">
              <a:rPr lang="de-DE" smtClean="0"/>
              <a:t>‹Nr.›</a:t>
            </a:fld>
            <a:endParaRPr lang="de-DE"/>
          </a:p>
        </p:txBody>
      </p:sp>
    </p:spTree>
    <p:extLst>
      <p:ext uri="{BB962C8B-B14F-4D97-AF65-F5344CB8AC3E}">
        <p14:creationId xmlns:p14="http://schemas.microsoft.com/office/powerpoint/2010/main" val="4138449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17F465DD-E588-4002-8BA3-95194AD41F46}" type="datetimeFigureOut">
              <a:rPr lang="de-DE" smtClean="0"/>
              <a:t>08.07.2025</a:t>
            </a:fld>
            <a:endParaRPr lang="de-DE"/>
          </a:p>
        </p:txBody>
      </p:sp>
      <p:sp>
        <p:nvSpPr>
          <p:cNvPr id="5" name="Footer Placeholder 4"/>
          <p:cNvSpPr>
            <a:spLocks noGrp="1"/>
          </p:cNvSpPr>
          <p:nvPr>
            <p:ph type="ftr" sz="quarter" idx="11"/>
          </p:nvPr>
        </p:nvSpPr>
        <p:spPr>
          <a:xfrm>
            <a:off x="680321" y="5936188"/>
            <a:ext cx="6126805" cy="365125"/>
          </a:xfrm>
        </p:spPr>
        <p:txBody>
          <a:bodyPr/>
          <a:lstStyle/>
          <a:p>
            <a:endParaRPr lang="de-DE"/>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9061854F-57AA-4F05-9D1A-BA14EB682BB5}" type="slidenum">
              <a:rPr lang="de-DE" smtClean="0"/>
              <a:t>‹Nr.›</a:t>
            </a:fld>
            <a:endParaRPr lang="de-DE"/>
          </a:p>
        </p:txBody>
      </p:sp>
    </p:spTree>
    <p:extLst>
      <p:ext uri="{BB962C8B-B14F-4D97-AF65-F5344CB8AC3E}">
        <p14:creationId xmlns:p14="http://schemas.microsoft.com/office/powerpoint/2010/main" val="1279591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7F465DD-E588-4002-8BA3-95194AD41F46}" type="datetimeFigureOut">
              <a:rPr lang="de-DE" smtClean="0"/>
              <a:t>08.07.2025</a:t>
            </a:fld>
            <a:endParaRPr lang="de-DE"/>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9061854F-57AA-4F05-9D1A-BA14EB682BB5}" type="slidenum">
              <a:rPr lang="de-DE" smtClean="0"/>
              <a:t>‹Nr.›</a:t>
            </a:fld>
            <a:endParaRPr lang="de-DE"/>
          </a:p>
        </p:txBody>
      </p:sp>
    </p:spTree>
    <p:extLst>
      <p:ext uri="{BB962C8B-B14F-4D97-AF65-F5344CB8AC3E}">
        <p14:creationId xmlns:p14="http://schemas.microsoft.com/office/powerpoint/2010/main" val="2556671143"/>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2A651A-F4D3-623B-4060-9532AD783FBD}"/>
              </a:ext>
            </a:extLst>
          </p:cNvPr>
          <p:cNvSpPr>
            <a:spLocks noGrp="1"/>
          </p:cNvSpPr>
          <p:nvPr>
            <p:ph type="ctrTitle"/>
          </p:nvPr>
        </p:nvSpPr>
        <p:spPr>
          <a:xfrm>
            <a:off x="0" y="1521823"/>
            <a:ext cx="8995952" cy="3117668"/>
          </a:xfrm>
        </p:spPr>
        <p:txBody>
          <a:bodyPr>
            <a:normAutofit fontScale="90000"/>
          </a:bodyPr>
          <a:lstStyle/>
          <a:p>
            <a:pPr algn="l"/>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“A Digital Exploration of Morality </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and Feminism in Agatha Christie’s</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Detective Fiction”</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(Alternative: Digital Analysis of Murderers in Agatha </a:t>
            </a:r>
            <a:r>
              <a:rPr lang="en-US" sz="4400" dirty="0" err="1">
                <a:latin typeface="Times New Roman" panose="02020603050405020304" pitchFamily="18" charset="0"/>
                <a:cs typeface="Times New Roman" panose="02020603050405020304" pitchFamily="18" charset="0"/>
              </a:rPr>
              <a:t>Christies’s</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Detectiv</a:t>
            </a:r>
            <a:r>
              <a:rPr lang="en-US" sz="4400" dirty="0">
                <a:latin typeface="Times New Roman" panose="02020603050405020304" pitchFamily="18" charset="0"/>
                <a:cs typeface="Times New Roman" panose="02020603050405020304" pitchFamily="18" charset="0"/>
              </a:rPr>
              <a:t> Fiction)</a:t>
            </a:r>
            <a:br>
              <a:rPr lang="en-US" sz="4400" dirty="0">
                <a:latin typeface="Times New Roman" panose="02020603050405020304" pitchFamily="18" charset="0"/>
                <a:cs typeface="Times New Roman" panose="02020603050405020304" pitchFamily="18" charset="0"/>
              </a:rPr>
            </a:br>
            <a:r>
              <a:rPr lang="de-DE" sz="2700" dirty="0">
                <a:solidFill>
                  <a:schemeClr val="tx1"/>
                </a:solidFill>
                <a:latin typeface="Times New Roman" panose="02020603050405020304" pitchFamily="18" charset="0"/>
                <a:cs typeface="Times New Roman" panose="02020603050405020304" pitchFamily="18" charset="0"/>
              </a:rPr>
              <a:t>Erste Ideenskizze zur Masterarbeit</a:t>
            </a:r>
            <a:endParaRPr lang="de-DE" sz="2200" dirty="0">
              <a:solidFill>
                <a:schemeClr val="tx1"/>
              </a:solidFill>
              <a:latin typeface="Times New Roman" panose="02020603050405020304" pitchFamily="18" charset="0"/>
              <a:cs typeface="Times New Roman" panose="02020603050405020304" pitchFamily="18" charset="0"/>
            </a:endParaRPr>
          </a:p>
        </p:txBody>
      </p:sp>
      <p:sp>
        <p:nvSpPr>
          <p:cNvPr id="6" name="Textfeld 5">
            <a:extLst>
              <a:ext uri="{FF2B5EF4-FFF2-40B4-BE49-F238E27FC236}">
                <a16:creationId xmlns:a16="http://schemas.microsoft.com/office/drawing/2014/main" id="{DD057920-2182-617B-1FF4-B083962A4931}"/>
              </a:ext>
            </a:extLst>
          </p:cNvPr>
          <p:cNvSpPr txBox="1"/>
          <p:nvPr/>
        </p:nvSpPr>
        <p:spPr>
          <a:xfrm>
            <a:off x="5038344" y="6253047"/>
            <a:ext cx="8696251" cy="523220"/>
          </a:xfrm>
          <a:prstGeom prst="rect">
            <a:avLst/>
          </a:prstGeom>
          <a:noFill/>
        </p:spPr>
        <p:txBody>
          <a:bodyPr wrap="square" rtlCol="0">
            <a:spAutoFit/>
          </a:bodyPr>
          <a:lstStyle/>
          <a:p>
            <a:r>
              <a:rPr lang="de-DE" sz="2800" dirty="0">
                <a:latin typeface="Times New Roman" panose="02020603050405020304" pitchFamily="18" charset="0"/>
                <a:cs typeface="Times New Roman" panose="02020603050405020304" pitchFamily="18" charset="0"/>
              </a:rPr>
              <a:t>Mengjiao Li    Kolloquium II      06.2025</a:t>
            </a:r>
          </a:p>
        </p:txBody>
      </p:sp>
    </p:spTree>
    <p:extLst>
      <p:ext uri="{BB962C8B-B14F-4D97-AF65-F5344CB8AC3E}">
        <p14:creationId xmlns:p14="http://schemas.microsoft.com/office/powerpoint/2010/main" val="819100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69F682-4120-13A6-C2D3-FF4ED8E38F9F}"/>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Inhalt</a:t>
            </a:r>
          </a:p>
        </p:txBody>
      </p:sp>
      <p:sp>
        <p:nvSpPr>
          <p:cNvPr id="3" name="Inhaltsplatzhalter 2">
            <a:extLst>
              <a:ext uri="{FF2B5EF4-FFF2-40B4-BE49-F238E27FC236}">
                <a16:creationId xmlns:a16="http://schemas.microsoft.com/office/drawing/2014/main" id="{F3BEAB24-38AC-B460-79EB-A869ED62F03D}"/>
              </a:ext>
            </a:extLst>
          </p:cNvPr>
          <p:cNvSpPr>
            <a:spLocks noGrp="1"/>
          </p:cNvSpPr>
          <p:nvPr>
            <p:ph idx="1"/>
          </p:nvPr>
        </p:nvSpPr>
        <p:spPr/>
        <p:txBody>
          <a:bodyPr/>
          <a:lstStyle/>
          <a:p>
            <a:r>
              <a:rPr lang="de-DE" dirty="0">
                <a:latin typeface="Times New Roman" panose="02020603050405020304" pitchFamily="18" charset="0"/>
                <a:cs typeface="Times New Roman" panose="02020603050405020304" pitchFamily="18" charset="0"/>
              </a:rPr>
              <a:t>1. Motivation</a:t>
            </a:r>
          </a:p>
          <a:p>
            <a:r>
              <a:rPr lang="de-DE" dirty="0">
                <a:latin typeface="Times New Roman" panose="02020603050405020304" pitchFamily="18" charset="0"/>
                <a:cs typeface="Times New Roman" panose="02020603050405020304" pitchFamily="18" charset="0"/>
              </a:rPr>
              <a:t>2. Konzepte und Operationalisierung</a:t>
            </a:r>
          </a:p>
          <a:p>
            <a:r>
              <a:rPr lang="de-DE" dirty="0">
                <a:latin typeface="Times New Roman" panose="02020603050405020304" pitchFamily="18" charset="0"/>
                <a:cs typeface="Times New Roman" panose="02020603050405020304" pitchFamily="18" charset="0"/>
              </a:rPr>
              <a:t>3.D</a:t>
            </a:r>
            <a:r>
              <a:rPr lang="de-DE" altLang="zh-CN" dirty="0">
                <a:latin typeface="Times New Roman" panose="02020603050405020304" pitchFamily="18" charset="0"/>
                <a:cs typeface="Times New Roman" panose="02020603050405020304" pitchFamily="18" charset="0"/>
              </a:rPr>
              <a:t>one und </a:t>
            </a:r>
            <a:r>
              <a:rPr lang="de-DE" altLang="zh-CN" dirty="0" err="1">
                <a:latin typeface="Times New Roman" panose="02020603050405020304" pitchFamily="18" charset="0"/>
                <a:cs typeface="Times New Roman" panose="02020603050405020304" pitchFamily="18" charset="0"/>
              </a:rPr>
              <a:t>To</a:t>
            </a:r>
            <a:r>
              <a:rPr lang="de-DE" altLang="zh-CN" dirty="0">
                <a:latin typeface="Times New Roman" panose="02020603050405020304" pitchFamily="18" charset="0"/>
                <a:cs typeface="Times New Roman" panose="02020603050405020304" pitchFamily="18" charset="0"/>
              </a:rPr>
              <a:t>-do</a:t>
            </a:r>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4. Feedback von Euch</a:t>
            </a:r>
          </a:p>
        </p:txBody>
      </p:sp>
    </p:spTree>
    <p:extLst>
      <p:ext uri="{BB962C8B-B14F-4D97-AF65-F5344CB8AC3E}">
        <p14:creationId xmlns:p14="http://schemas.microsoft.com/office/powerpoint/2010/main" val="2134007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4D6C36-BFA5-23CF-B790-B2AC7AFABB98}"/>
              </a:ext>
            </a:extLst>
          </p:cNvPr>
          <p:cNvSpPr>
            <a:spLocks noGrp="1"/>
          </p:cNvSpPr>
          <p:nvPr>
            <p:ph type="title"/>
          </p:nvPr>
        </p:nvSpPr>
        <p:spPr>
          <a:xfrm>
            <a:off x="185631" y="616068"/>
            <a:ext cx="9613861" cy="1080938"/>
          </a:xfrm>
        </p:spPr>
        <p:txBody>
          <a:bodyPr/>
          <a:lstStyle/>
          <a:p>
            <a:r>
              <a:rPr lang="de-DE" dirty="0">
                <a:latin typeface="Times New Roman" panose="02020603050405020304" pitchFamily="18" charset="0"/>
                <a:cs typeface="Times New Roman" panose="02020603050405020304" pitchFamily="18" charset="0"/>
              </a:rPr>
              <a:t>1.Motivation </a:t>
            </a:r>
          </a:p>
        </p:txBody>
      </p:sp>
      <p:sp>
        <p:nvSpPr>
          <p:cNvPr id="5" name="Rectangle 2">
            <a:extLst>
              <a:ext uri="{FF2B5EF4-FFF2-40B4-BE49-F238E27FC236}">
                <a16:creationId xmlns:a16="http://schemas.microsoft.com/office/drawing/2014/main" id="{BE576ED6-09A0-EEC8-0ED4-3B838E565D3F}"/>
              </a:ext>
            </a:extLst>
          </p:cNvPr>
          <p:cNvSpPr>
            <a:spLocks noGrp="1" noChangeArrowheads="1"/>
          </p:cNvSpPr>
          <p:nvPr>
            <p:ph idx="1"/>
          </p:nvPr>
        </p:nvSpPr>
        <p:spPr bwMode="auto">
          <a:xfrm>
            <a:off x="185631" y="2002392"/>
            <a:ext cx="1217096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None/>
              <a:tabLst/>
            </a:pPr>
            <a:r>
              <a:rPr lang="de-DE" altLang="de-DE" dirty="0">
                <a:latin typeface="Times New Roman" panose="02020603050405020304" pitchFamily="18" charset="0"/>
                <a:cs typeface="Times New Roman" panose="02020603050405020304" pitchFamily="18" charset="0"/>
              </a:rPr>
              <a:t>(1) Mein persönliches Interesse an den Detektivromanen von Agatha Christie besteht </a:t>
            </a:r>
          </a:p>
          <a:p>
            <a:pPr marL="0" marR="0" lvl="0" indent="0" defTabSz="914400" rtl="0" eaLnBrk="0" fontAlgn="base" latinLnBrk="0" hangingPunct="0">
              <a:lnSpc>
                <a:spcPct val="100000"/>
              </a:lnSpc>
              <a:spcBef>
                <a:spcPct val="0"/>
              </a:spcBef>
              <a:spcAft>
                <a:spcPct val="0"/>
              </a:spcAft>
              <a:buClrTx/>
              <a:buSzTx/>
              <a:buNone/>
              <a:tabLst/>
            </a:pPr>
            <a:r>
              <a:rPr lang="de-DE" altLang="de-DE" dirty="0">
                <a:latin typeface="Times New Roman" panose="02020603050405020304" pitchFamily="18" charset="0"/>
                <a:cs typeface="Times New Roman" panose="02020603050405020304" pitchFamily="18" charset="0"/>
              </a:rPr>
              <a:t>seit meiner Kindheit. </a:t>
            </a: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Besonders faszinieren mich die Settings und die methodischen </a:t>
            </a:r>
          </a:p>
          <a:p>
            <a:pPr marL="0" marR="0" lvl="0" indent="0" defTabSz="914400" rtl="0" eaLnBrk="0" fontAlgn="base" latinLnBrk="0" hangingPunct="0">
              <a:lnSpc>
                <a:spcPct val="100000"/>
              </a:lnSpc>
              <a:spcBef>
                <a:spcPct val="0"/>
              </a:spcBef>
              <a:spcAft>
                <a:spcPct val="0"/>
              </a:spcAft>
              <a:buClrTx/>
              <a:buSzTx/>
              <a:buNone/>
              <a:tabLst/>
            </a:pP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Vorgehensweisen bei der Aufklärung der Verbrechen. Insbesondere die Tatsache, dass die </a:t>
            </a:r>
          </a:p>
          <a:p>
            <a:pPr marL="0" marR="0" lvl="0" indent="0" defTabSz="914400" rtl="0" eaLnBrk="0" fontAlgn="base" latinLnBrk="0" hangingPunct="0">
              <a:lnSpc>
                <a:spcPct val="100000"/>
              </a:lnSpc>
              <a:spcBef>
                <a:spcPct val="0"/>
              </a:spcBef>
              <a:spcAft>
                <a:spcPct val="0"/>
              </a:spcAft>
              <a:buClrTx/>
              <a:buSzTx/>
              <a:buNone/>
              <a:tabLst/>
            </a:pP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Identität des Mörders erst am Ende enthüllt wird, übt eine große Anziehungskraft auf mich aus.</a:t>
            </a:r>
          </a:p>
          <a:p>
            <a:pPr marL="0" marR="0" lvl="0" indent="0" defTabSz="914400" rtl="0" eaLnBrk="0" fontAlgn="base" latinLnBrk="0" hangingPunct="0">
              <a:lnSpc>
                <a:spcPct val="100000"/>
              </a:lnSpc>
              <a:spcBef>
                <a:spcPct val="0"/>
              </a:spcBef>
              <a:spcAft>
                <a:spcPct val="0"/>
              </a:spcAft>
              <a:buClrTx/>
              <a:buSzTx/>
              <a:buNone/>
              <a:tabLst/>
            </a:pPr>
            <a:endParaRPr lang="de-DE" altLang="de-DE"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lang="de-DE" altLang="de-DE" dirty="0">
                <a:latin typeface="Times New Roman" panose="02020603050405020304" pitchFamily="18" charset="0"/>
                <a:cs typeface="Times New Roman" panose="02020603050405020304" pitchFamily="18" charset="0"/>
              </a:rPr>
              <a:t>(2)</a:t>
            </a: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Während zahlreiche wissenschaftliche Arbeiten die Figuren der Detektive, wie Hercule Poirot </a:t>
            </a:r>
          </a:p>
          <a:p>
            <a:pPr marL="0" marR="0" lvl="0" indent="0" defTabSz="914400" rtl="0" eaLnBrk="0" fontAlgn="base" latinLnBrk="0" hangingPunct="0">
              <a:lnSpc>
                <a:spcPct val="100000"/>
              </a:lnSpc>
              <a:spcBef>
                <a:spcPct val="0"/>
              </a:spcBef>
              <a:spcAft>
                <a:spcPct val="0"/>
              </a:spcAft>
              <a:buClrTx/>
              <a:buSzTx/>
              <a:buNone/>
              <a:tabLst/>
            </a:pP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 Miss Marple, eingehend analysieren, finden die Mörderfiguren vergleichsweise wenig </a:t>
            </a:r>
          </a:p>
          <a:p>
            <a:pPr marL="0" marR="0" lvl="0" indent="0" defTabSz="914400" rtl="0" eaLnBrk="0" fontAlgn="base" latinLnBrk="0" hangingPunct="0">
              <a:lnSpc>
                <a:spcPct val="100000"/>
              </a:lnSpc>
              <a:spcBef>
                <a:spcPct val="0"/>
              </a:spcBef>
              <a:spcAft>
                <a:spcPct val="0"/>
              </a:spcAft>
              <a:buClrTx/>
              <a:buSzTx/>
              <a:buNone/>
              <a:tabLst/>
            </a:pP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Beachtung.</a:t>
            </a:r>
          </a:p>
          <a:p>
            <a:pPr marL="0" marR="0" lvl="0" indent="0" defTabSz="914400" rtl="0" eaLnBrk="0" fontAlgn="base" latinLnBrk="0" hangingPunct="0">
              <a:lnSpc>
                <a:spcPct val="100000"/>
              </a:lnSpc>
              <a:spcBef>
                <a:spcPct val="0"/>
              </a:spcBef>
              <a:spcAft>
                <a:spcPct val="0"/>
              </a:spcAft>
              <a:buClrTx/>
              <a:buSzTx/>
              <a:buNone/>
              <a:tabLst/>
            </a:pPr>
            <a:endPar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lang="de-DE" altLang="de-DE" dirty="0">
                <a:latin typeface="Times New Roman" panose="02020603050405020304" pitchFamily="18" charset="0"/>
                <a:cs typeface="Times New Roman" panose="02020603050405020304" pitchFamily="18" charset="0"/>
              </a:rPr>
              <a:t>(3) </a:t>
            </a: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Mein Forschungsinteresse zielt darauf ab, diese Lücke zu schließen und einen Beitrag </a:t>
            </a:r>
          </a:p>
          <a:p>
            <a:pPr marL="0" marR="0" lvl="0" indent="0" defTabSz="914400" rtl="0" eaLnBrk="0" fontAlgn="base" latinLnBrk="0" hangingPunct="0">
              <a:lnSpc>
                <a:spcPct val="100000"/>
              </a:lnSpc>
              <a:spcBef>
                <a:spcPct val="0"/>
              </a:spcBef>
              <a:spcAft>
                <a:spcPct val="0"/>
              </a:spcAft>
              <a:buClrTx/>
              <a:buSzTx/>
              <a:buNone/>
              <a:tabLst/>
            </a:pP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zu den digitalen</a:t>
            </a:r>
            <a:r>
              <a:rPr lang="de-DE" altLang="de-DE" dirty="0">
                <a:latin typeface="Times New Roman" panose="02020603050405020304" pitchFamily="18" charset="0"/>
                <a:cs typeface="Times New Roman" panose="02020603050405020304" pitchFamily="18" charset="0"/>
              </a:rPr>
              <a:t> </a:t>
            </a: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Literaturwissenschaften zu leisten. Bisher existieren nur wenige </a:t>
            </a:r>
          </a:p>
          <a:p>
            <a:pPr marL="0" marR="0" lvl="0" indent="0" defTabSz="914400" rtl="0" eaLnBrk="0" fontAlgn="base" latinLnBrk="0" hangingPunct="0">
              <a:lnSpc>
                <a:spcPct val="100000"/>
              </a:lnSpc>
              <a:spcBef>
                <a:spcPct val="0"/>
              </a:spcBef>
              <a:spcAft>
                <a:spcPct val="0"/>
              </a:spcAft>
              <a:buClrTx/>
              <a:buSzTx/>
              <a:buNone/>
              <a:tabLst/>
            </a:pPr>
            <a:r>
              <a:rPr kumimoji="0" lang="de-DE" altLang="de-DE"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Untersuchungen, die Charakterdarstellungen mithilfe digitaler Methoden analysieren.</a:t>
            </a:r>
          </a:p>
        </p:txBody>
      </p:sp>
    </p:spTree>
    <p:extLst>
      <p:ext uri="{BB962C8B-B14F-4D97-AF65-F5344CB8AC3E}">
        <p14:creationId xmlns:p14="http://schemas.microsoft.com/office/powerpoint/2010/main" val="364297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4238B3-74E7-8271-4F96-7CE8A8B5EB12}"/>
              </a:ext>
            </a:extLst>
          </p:cNvPr>
          <p:cNvSpPr>
            <a:spLocks noGrp="1"/>
          </p:cNvSpPr>
          <p:nvPr>
            <p:ph type="title"/>
          </p:nvPr>
        </p:nvSpPr>
        <p:spPr>
          <a:xfrm>
            <a:off x="0" y="680076"/>
            <a:ext cx="9613861" cy="1080938"/>
          </a:xfrm>
        </p:spPr>
        <p:txBody>
          <a:bodyPr>
            <a:normAutofit/>
          </a:bodyPr>
          <a:lstStyle/>
          <a:p>
            <a:r>
              <a:rPr lang="de-DE" dirty="0">
                <a:latin typeface="Times New Roman" panose="02020603050405020304" pitchFamily="18" charset="0"/>
                <a:cs typeface="Times New Roman" panose="02020603050405020304" pitchFamily="18" charset="0"/>
              </a:rPr>
              <a:t>2. Konzepte und  Operationalisierung</a:t>
            </a:r>
          </a:p>
        </p:txBody>
      </p:sp>
      <p:sp>
        <p:nvSpPr>
          <p:cNvPr id="3" name="Inhaltsplatzhalter 2">
            <a:extLst>
              <a:ext uri="{FF2B5EF4-FFF2-40B4-BE49-F238E27FC236}">
                <a16:creationId xmlns:a16="http://schemas.microsoft.com/office/drawing/2014/main" id="{2D6DC1BC-EEEB-5853-1A00-39DC325D6354}"/>
              </a:ext>
            </a:extLst>
          </p:cNvPr>
          <p:cNvSpPr>
            <a:spLocks noGrp="1"/>
          </p:cNvSpPr>
          <p:nvPr>
            <p:ph idx="1"/>
          </p:nvPr>
        </p:nvSpPr>
        <p:spPr>
          <a:xfrm>
            <a:off x="122537" y="2099129"/>
            <a:ext cx="9613861" cy="3599316"/>
          </a:xfrm>
        </p:spPr>
        <p:txBody>
          <a:bodyPr>
            <a:normAutofit fontScale="92500" lnSpcReduction="20000"/>
          </a:bodyPr>
          <a:lstStyle/>
          <a:p>
            <a:pPr marL="457200" indent="-457200">
              <a:buAutoNum type="arabicParenBoth"/>
            </a:pPr>
            <a:r>
              <a:rPr lang="de-DE" dirty="0">
                <a:latin typeface="Times New Roman" panose="02020603050405020304" pitchFamily="18" charset="0"/>
                <a:cs typeface="Times New Roman" panose="02020603050405020304" pitchFamily="18" charset="0"/>
              </a:rPr>
              <a:t>Moral</a:t>
            </a:r>
          </a:p>
          <a:p>
            <a:pPr marL="0" indent="0">
              <a:buNone/>
            </a:pPr>
            <a:endParaRPr lang="de-DE"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a:solidFill>
                  <a:srgbClr val="FF0000"/>
                </a:solidFill>
                <a:latin typeface="Times New Roman" panose="02020603050405020304" pitchFamily="18" charset="0"/>
                <a:cs typeface="Times New Roman" panose="02020603050405020304" pitchFamily="18" charset="0"/>
              </a:rPr>
              <a:t>descriptively to refer to certain codes of conduct endorsed by a society or a group (such as a religion), or accepted by an individual for her own behavior, or</a:t>
            </a:r>
          </a:p>
          <a:p>
            <a:pPr marL="0" indent="0">
              <a:buNone/>
            </a:pPr>
            <a:r>
              <a:rPr lang="en-US" dirty="0">
                <a:solidFill>
                  <a:srgbClr val="FF0000"/>
                </a:solidFill>
                <a:latin typeface="Times New Roman" panose="02020603050405020304" pitchFamily="18" charset="0"/>
                <a:cs typeface="Times New Roman" panose="02020603050405020304" pitchFamily="18" charset="0"/>
              </a:rPr>
              <a:t>normatively to refer to a code of conduct that, given specified conditions, would be endorsed by all rational people.” (Stanford Encyclopedia of Philosophy</a:t>
            </a:r>
            <a:r>
              <a:rPr lang="en-US" dirty="0">
                <a:latin typeface="Times New Roman" panose="02020603050405020304" pitchFamily="18" charset="0"/>
                <a:cs typeface="Times New Roman" panose="02020603050405020304" pitchFamily="18" charset="0"/>
              </a:rPr>
              <a:t>)</a:t>
            </a:r>
          </a:p>
          <a:p>
            <a:pPr marL="0" indent="0">
              <a:buNone/>
            </a:pPr>
            <a:endParaRPr lang="de-DE" dirty="0">
              <a:latin typeface="Times New Roman" panose="02020603050405020304" pitchFamily="18" charset="0"/>
              <a:cs typeface="Times New Roman" panose="02020603050405020304" pitchFamily="18" charset="0"/>
            </a:endParaRPr>
          </a:p>
          <a:p>
            <a:pPr marL="0" indent="0">
              <a:buNone/>
            </a:pPr>
            <a:r>
              <a:rPr lang="de-DE" dirty="0">
                <a:latin typeface="Times New Roman" panose="02020603050405020304" pitchFamily="18" charset="0"/>
                <a:cs typeface="Times New Roman" panose="02020603050405020304" pitchFamily="18" charset="0"/>
              </a:rPr>
              <a:t>In meiner Arbeit wird Moral im deskriptiven Sinne verstanden: bestimmte Verhaltensregeln, die von Agatha Christie akzeptiert werden. </a:t>
            </a:r>
          </a:p>
          <a:p>
            <a:pPr marL="0" indent="0">
              <a:buNone/>
            </a:pPr>
            <a:r>
              <a:rPr lang="de-DE" dirty="0">
                <a:latin typeface="Times New Roman" panose="02020603050405020304" pitchFamily="18" charset="0"/>
                <a:cs typeface="Times New Roman" panose="02020603050405020304" pitchFamily="18" charset="0"/>
              </a:rPr>
              <a:t>Anders und konkret gesagt: welche Eigenschaften betrachtet Agatha Christie als </a:t>
            </a:r>
          </a:p>
          <a:p>
            <a:pPr marL="0" indent="0">
              <a:buNone/>
            </a:pPr>
            <a:r>
              <a:rPr lang="de-DE" dirty="0">
                <a:latin typeface="Times New Roman" panose="02020603050405020304" pitchFamily="18" charset="0"/>
                <a:cs typeface="Times New Roman" panose="02020603050405020304" pitchFamily="18" charset="0"/>
              </a:rPr>
              <a:t>böse?</a:t>
            </a:r>
            <a:endParaRPr lang="de-DE" dirty="0"/>
          </a:p>
          <a:p>
            <a:pPr marL="0" indent="0">
              <a:buNone/>
            </a:pPr>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360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860A50-87ED-D6A2-30C1-BDD8BC80A171}"/>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2. Konzepte und  Operationalisierung</a:t>
            </a:r>
            <a:endParaRPr lang="de-DE" dirty="0"/>
          </a:p>
        </p:txBody>
      </p:sp>
      <p:sp>
        <p:nvSpPr>
          <p:cNvPr id="3" name="Inhaltsplatzhalter 2">
            <a:extLst>
              <a:ext uri="{FF2B5EF4-FFF2-40B4-BE49-F238E27FC236}">
                <a16:creationId xmlns:a16="http://schemas.microsoft.com/office/drawing/2014/main" id="{AC12B58E-6D58-FE6E-75C6-8E63B0A3C5DE}"/>
              </a:ext>
            </a:extLst>
          </p:cNvPr>
          <p:cNvSpPr>
            <a:spLocks noGrp="1"/>
          </p:cNvSpPr>
          <p:nvPr>
            <p:ph idx="1"/>
          </p:nvPr>
        </p:nvSpPr>
        <p:spPr>
          <a:xfrm>
            <a:off x="201168" y="2135704"/>
            <a:ext cx="9613861" cy="4484551"/>
          </a:xfrm>
        </p:spPr>
        <p:txBody>
          <a:bodyPr>
            <a:normAutofit lnSpcReduction="10000"/>
          </a:bodyPr>
          <a:lstStyle/>
          <a:p>
            <a:pPr marL="0" indent="0">
              <a:buNone/>
            </a:pPr>
            <a:r>
              <a:rPr lang="de-DE" dirty="0">
                <a:latin typeface="Times New Roman" panose="02020603050405020304" pitchFamily="18" charset="0"/>
                <a:cs typeface="Times New Roman" panose="02020603050405020304" pitchFamily="18" charset="0"/>
              </a:rPr>
              <a:t>(2) Feminismus</a:t>
            </a:r>
          </a:p>
          <a:p>
            <a:pPr>
              <a:buFont typeface="Wingdings" panose="05000000000000000000" pitchFamily="2" charset="2"/>
              <a:buChar char="v"/>
            </a:pPr>
            <a:r>
              <a:rPr lang="de-DE" dirty="0">
                <a:latin typeface="Times New Roman" panose="02020603050405020304" pitchFamily="18" charset="0"/>
                <a:cs typeface="Times New Roman" panose="02020603050405020304" pitchFamily="18" charset="0"/>
              </a:rPr>
              <a:t>Die Idee der „New Woman“ entstand im späten 19. Jahrhundert und bezeichnete ein neues Ideal von Weiblichkeit, das die traditionellen Geschlechternormen in Frage stellte. Die F</a:t>
            </a:r>
            <a:r>
              <a:rPr lang="de-DE" altLang="zh-CN" dirty="0">
                <a:latin typeface="Times New Roman" panose="02020603050405020304" pitchFamily="18" charset="0"/>
                <a:cs typeface="Times New Roman" panose="02020603050405020304" pitchFamily="18" charset="0"/>
              </a:rPr>
              <a:t>rau</a:t>
            </a:r>
            <a:r>
              <a:rPr lang="de-DE" dirty="0">
                <a:latin typeface="Times New Roman" panose="02020603050405020304" pitchFamily="18" charset="0"/>
                <a:cs typeface="Times New Roman" panose="02020603050405020304" pitchFamily="18" charset="0"/>
              </a:rPr>
              <a:t> war unabhängig, gebildet und oft aus freier Wahl unverheiratet. Sie stellte die konventionellen Rollen der Frau als passiv, häuslich und dem Mann untergeordnet infrage.</a:t>
            </a:r>
          </a:p>
          <a:p>
            <a:pPr>
              <a:buFont typeface="Wingdings" panose="05000000000000000000" pitchFamily="2" charset="2"/>
              <a:buChar char="v"/>
            </a:pPr>
            <a:r>
              <a:rPr lang="de-DE" dirty="0">
                <a:latin typeface="Times New Roman" panose="02020603050405020304" pitchFamily="18" charset="0"/>
                <a:cs typeface="Times New Roman" panose="02020603050405020304" pitchFamily="18" charset="0"/>
              </a:rPr>
              <a:t>In Christies Romanen sind die weiblichen Täterinnen nicht submissiv, werden nicht von Männern unterdrückt oder zum Verbrechen gezwungen. Vielmehr sind sie Frauen mit eigenem kriminellem Willen, die sich der Rolle bewusst sind, die die Gesellschaft ihnen zuweist, sowie der Erwartungen, die andere an sie stellen. Sie sind entschlossene und intelligente Frauen, die wissen, wie sie die gesellschaftlichen Erwartungen ausnutzen können, um ihre Situation zu manipulieren, Ermittlungen zu verwirren und den Verdacht abzulenken.</a:t>
            </a:r>
          </a:p>
          <a:p>
            <a:pPr marL="0" indent="0">
              <a:buNone/>
            </a:pP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7871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231E72-F00F-20E1-C1E8-030FD6213713}"/>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2. Konzepte und  Operationalisierung</a:t>
            </a:r>
            <a:endParaRPr lang="de-DE" dirty="0"/>
          </a:p>
        </p:txBody>
      </p:sp>
      <p:sp>
        <p:nvSpPr>
          <p:cNvPr id="3" name="Inhaltsplatzhalter 2">
            <a:extLst>
              <a:ext uri="{FF2B5EF4-FFF2-40B4-BE49-F238E27FC236}">
                <a16:creationId xmlns:a16="http://schemas.microsoft.com/office/drawing/2014/main" id="{88472495-19B7-0F9D-D1F6-E0604C8C64E5}"/>
              </a:ext>
            </a:extLst>
          </p:cNvPr>
          <p:cNvSpPr>
            <a:spLocks noGrp="1"/>
          </p:cNvSpPr>
          <p:nvPr>
            <p:ph idx="1"/>
          </p:nvPr>
        </p:nvSpPr>
        <p:spPr>
          <a:xfrm>
            <a:off x="680320" y="2254577"/>
            <a:ext cx="9613861" cy="3599316"/>
          </a:xfrm>
        </p:spPr>
        <p:txBody>
          <a:bodyPr>
            <a:normAutofit/>
          </a:bodyPr>
          <a:lstStyle/>
          <a:p>
            <a:pPr marL="0" indent="0">
              <a:buNone/>
            </a:pPr>
            <a:r>
              <a:rPr lang="de-DE" dirty="0">
                <a:latin typeface="Times New Roman" panose="02020603050405020304" pitchFamily="18" charset="0"/>
                <a:cs typeface="Times New Roman" panose="02020603050405020304" pitchFamily="18" charset="0"/>
              </a:rPr>
              <a:t>(3) Operationalisierung</a:t>
            </a:r>
          </a:p>
          <a:p>
            <a:pPr marL="457200" indent="-457200">
              <a:buAutoNum type="alphaLcPeriod"/>
            </a:pPr>
            <a:r>
              <a:rPr lang="de-DE" dirty="0">
                <a:latin typeface="Times New Roman" panose="02020603050405020304" pitchFamily="18" charset="0"/>
                <a:cs typeface="Times New Roman" panose="02020603050405020304" pitchFamily="18" charset="0"/>
              </a:rPr>
              <a:t>Korpus</a:t>
            </a:r>
          </a:p>
          <a:p>
            <a:pPr marL="0" indent="0">
              <a:buNone/>
            </a:pPr>
            <a:r>
              <a:rPr lang="de-DE" b="1" dirty="0">
                <a:latin typeface="Times New Roman" panose="02020603050405020304" pitchFamily="18" charset="0"/>
                <a:cs typeface="Times New Roman" panose="02020603050405020304" pitchFamily="18" charset="0"/>
              </a:rPr>
              <a:t>Sieben Fiktionen von Agatha Christie wurden gewählt:</a:t>
            </a:r>
          </a:p>
          <a:p>
            <a:pPr marL="0" indent="0">
              <a:buNone/>
            </a:pPr>
            <a:r>
              <a:rPr lang="de-DE" dirty="0">
                <a:latin typeface="Times New Roman" panose="02020603050405020304" pitchFamily="18" charset="0"/>
                <a:cs typeface="Times New Roman" panose="02020603050405020304" pitchFamily="18" charset="0"/>
              </a:rPr>
              <a:t>Drei davon sind Romanen, in denen die Mörder männlich sind</a:t>
            </a:r>
          </a:p>
          <a:p>
            <a:pPr marL="0" indent="0">
              <a:buNone/>
            </a:pPr>
            <a:r>
              <a:rPr lang="de-DE" dirty="0">
                <a:latin typeface="Times New Roman" panose="02020603050405020304" pitchFamily="18" charset="0"/>
                <a:cs typeface="Times New Roman" panose="02020603050405020304" pitchFamily="18" charset="0"/>
              </a:rPr>
              <a:t>Drei davon sind Romanen, in denen die Mörder weiblich sind</a:t>
            </a:r>
          </a:p>
          <a:p>
            <a:pPr marL="0" indent="0">
              <a:buNone/>
            </a:pPr>
            <a:r>
              <a:rPr lang="de-DE" dirty="0">
                <a:latin typeface="Times New Roman" panose="02020603050405020304" pitchFamily="18" charset="0"/>
                <a:cs typeface="Times New Roman" panose="02020603050405020304" pitchFamily="18" charset="0"/>
              </a:rPr>
              <a:t>Eins davon ist ein Roman, in dem der Mörder und die Mörderin gemeinsam das Verbrechen begangen haben. </a:t>
            </a:r>
          </a:p>
          <a:p>
            <a:pPr marL="0" indent="0">
              <a:buNone/>
            </a:pPr>
            <a:endParaRPr lang="de-DE" dirty="0"/>
          </a:p>
        </p:txBody>
      </p:sp>
    </p:spTree>
    <p:extLst>
      <p:ext uri="{BB962C8B-B14F-4D97-AF65-F5344CB8AC3E}">
        <p14:creationId xmlns:p14="http://schemas.microsoft.com/office/powerpoint/2010/main" val="196401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B7DF23-0827-E9C5-E282-2DA127545926}"/>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2. Konzepte und  Operationalisierung</a:t>
            </a:r>
            <a:endParaRPr lang="de-DE" dirty="0"/>
          </a:p>
        </p:txBody>
      </p:sp>
      <p:sp>
        <p:nvSpPr>
          <p:cNvPr id="3" name="Inhaltsplatzhalter 2">
            <a:extLst>
              <a:ext uri="{FF2B5EF4-FFF2-40B4-BE49-F238E27FC236}">
                <a16:creationId xmlns:a16="http://schemas.microsoft.com/office/drawing/2014/main" id="{7A26076E-9DD6-7496-67A6-D48FF0EDE0A7}"/>
              </a:ext>
            </a:extLst>
          </p:cNvPr>
          <p:cNvSpPr>
            <a:spLocks noGrp="1"/>
          </p:cNvSpPr>
          <p:nvPr>
            <p:ph idx="1"/>
          </p:nvPr>
        </p:nvSpPr>
        <p:spPr>
          <a:xfrm>
            <a:off x="204833" y="2108273"/>
            <a:ext cx="9613861" cy="3599316"/>
          </a:xfrm>
        </p:spPr>
        <p:txBody>
          <a:bodyPr/>
          <a:lstStyle/>
          <a:p>
            <a:pPr marL="0" indent="0">
              <a:buNone/>
            </a:pPr>
            <a:r>
              <a:rPr lang="de-DE" dirty="0">
                <a:latin typeface="Times New Roman" panose="02020603050405020304" pitchFamily="18" charset="0"/>
                <a:cs typeface="Times New Roman" panose="02020603050405020304" pitchFamily="18" charset="0"/>
              </a:rPr>
              <a:t>b. Annotation</a:t>
            </a:r>
          </a:p>
          <a:p>
            <a:pPr marL="0" indent="0">
              <a:buNone/>
            </a:pPr>
            <a:endParaRPr lang="de-DE" dirty="0">
              <a:latin typeface="Times New Roman" panose="02020603050405020304" pitchFamily="18" charset="0"/>
              <a:cs typeface="Times New Roman" panose="02020603050405020304" pitchFamily="18" charset="0"/>
            </a:endParaRPr>
          </a:p>
          <a:p>
            <a:pPr marL="0" indent="0">
              <a:buNone/>
            </a:pPr>
            <a:r>
              <a:rPr lang="de-DE" dirty="0">
                <a:latin typeface="Times New Roman" panose="02020603050405020304" pitchFamily="18" charset="0"/>
                <a:cs typeface="Times New Roman" panose="02020603050405020304" pitchFamily="18" charset="0"/>
              </a:rPr>
              <a:t>Da ich eine Netzwerkanalyse mache, in der jede Figur anhand </a:t>
            </a:r>
            <a:r>
              <a:rPr lang="de-DE" dirty="0" err="1">
                <a:latin typeface="Times New Roman" panose="02020603050405020304" pitchFamily="18" charset="0"/>
                <a:cs typeface="Times New Roman" panose="02020603050405020304" pitchFamily="18" charset="0"/>
              </a:rPr>
              <a:t>quoted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speeches</a:t>
            </a:r>
            <a:r>
              <a:rPr lang="de-DE" dirty="0">
                <a:latin typeface="Times New Roman" panose="02020603050405020304" pitchFamily="18" charset="0"/>
                <a:cs typeface="Times New Roman" panose="02020603050405020304" pitchFamily="18" charset="0"/>
              </a:rPr>
              <a:t> gewichtet wird, annotiere ich manuell die </a:t>
            </a:r>
            <a:r>
              <a:rPr lang="de-DE" dirty="0" err="1">
                <a:latin typeface="Times New Roman" panose="02020603050405020304" pitchFamily="18" charset="0"/>
                <a:cs typeface="Times New Roman" panose="02020603050405020304" pitchFamily="18" charset="0"/>
              </a:rPr>
              <a:t>quoted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speeches</a:t>
            </a:r>
            <a:r>
              <a:rPr lang="de-DE" dirty="0">
                <a:latin typeface="Times New Roman" panose="02020603050405020304" pitchFamily="18" charset="0"/>
                <a:cs typeface="Times New Roman" panose="02020603050405020304" pitchFamily="18" charset="0"/>
              </a:rPr>
              <a:t> mit CATMA.</a:t>
            </a:r>
            <a:endParaRPr lang="de-DE" dirty="0"/>
          </a:p>
          <a:p>
            <a:endParaRPr lang="de-DE" dirty="0"/>
          </a:p>
        </p:txBody>
      </p:sp>
    </p:spTree>
    <p:extLst>
      <p:ext uri="{BB962C8B-B14F-4D97-AF65-F5344CB8AC3E}">
        <p14:creationId xmlns:p14="http://schemas.microsoft.com/office/powerpoint/2010/main" val="312809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6CBD81-8EFC-B390-E7F2-F3FCB41B224B}"/>
              </a:ext>
            </a:extLst>
          </p:cNvPr>
          <p:cNvSpPr>
            <a:spLocks noGrp="1"/>
          </p:cNvSpPr>
          <p:nvPr>
            <p:ph type="title"/>
          </p:nvPr>
        </p:nvSpPr>
        <p:spPr>
          <a:xfrm>
            <a:off x="317609" y="744084"/>
            <a:ext cx="9613861" cy="1080938"/>
          </a:xfrm>
        </p:spPr>
        <p:txBody>
          <a:bodyPr/>
          <a:lstStyle/>
          <a:p>
            <a:r>
              <a:rPr lang="de-DE" dirty="0">
                <a:latin typeface="Times New Roman" panose="02020603050405020304" pitchFamily="18" charset="0"/>
                <a:cs typeface="Times New Roman" panose="02020603050405020304" pitchFamily="18" charset="0"/>
              </a:rPr>
              <a:t>2. Konzepte und  Operationalisierung</a:t>
            </a:r>
            <a:endParaRPr lang="de-DE" dirty="0"/>
          </a:p>
        </p:txBody>
      </p:sp>
      <p:sp>
        <p:nvSpPr>
          <p:cNvPr id="3" name="Inhaltsplatzhalter 2">
            <a:extLst>
              <a:ext uri="{FF2B5EF4-FFF2-40B4-BE49-F238E27FC236}">
                <a16:creationId xmlns:a16="http://schemas.microsoft.com/office/drawing/2014/main" id="{8DFCB879-98C8-3A35-999E-CA6DE6CAF07E}"/>
              </a:ext>
            </a:extLst>
          </p:cNvPr>
          <p:cNvSpPr>
            <a:spLocks noGrp="1"/>
          </p:cNvSpPr>
          <p:nvPr>
            <p:ph idx="1"/>
          </p:nvPr>
        </p:nvSpPr>
        <p:spPr>
          <a:xfrm>
            <a:off x="0" y="2011680"/>
            <a:ext cx="11956687" cy="4846320"/>
          </a:xfrm>
        </p:spPr>
        <p:txBody>
          <a:bodyPr>
            <a:normAutofit/>
          </a:bodyPr>
          <a:lstStyle/>
          <a:p>
            <a:pPr marL="0" indent="0" algn="just">
              <a:buNone/>
            </a:pPr>
            <a:r>
              <a:rPr lang="de-DE" dirty="0">
                <a:latin typeface="Times New Roman" panose="02020603050405020304" pitchFamily="18" charset="0"/>
                <a:cs typeface="Times New Roman" panose="02020603050405020304" pitchFamily="18" charset="0"/>
              </a:rPr>
              <a:t>c. Methoden</a:t>
            </a:r>
          </a:p>
          <a:p>
            <a:pPr marL="0" indent="0" algn="just">
              <a:buNone/>
            </a:pPr>
            <a:r>
              <a:rPr lang="de-DE" dirty="0">
                <a:latin typeface="Times New Roman" panose="02020603050405020304" pitchFamily="18" charset="0"/>
                <a:cs typeface="Times New Roman" panose="02020603050405020304" pitchFamily="18" charset="0"/>
              </a:rPr>
              <a:t>c.1 </a:t>
            </a:r>
            <a:r>
              <a:rPr lang="de-DE" sz="2500" dirty="0">
                <a:latin typeface="Times New Roman" panose="02020603050405020304" pitchFamily="18" charset="0"/>
                <a:cs typeface="Times New Roman" panose="02020603050405020304" pitchFamily="18" charset="0"/>
              </a:rPr>
              <a:t>Netzwerkanalyse, ob der Mörder aktiv (auffällig) oder inaktiv(unauffällig) ist (wichtig für die Unterscheidung zwischen männlichen und </a:t>
            </a:r>
          </a:p>
          <a:p>
            <a:pPr marL="0" indent="0" algn="just">
              <a:buNone/>
            </a:pPr>
            <a:r>
              <a:rPr lang="de-DE" sz="2500" dirty="0">
                <a:latin typeface="Times New Roman" panose="02020603050405020304" pitchFamily="18" charset="0"/>
                <a:cs typeface="Times New Roman" panose="02020603050405020304" pitchFamily="18" charset="0"/>
              </a:rPr>
              <a:t>weiblichen Mördern)   </a:t>
            </a:r>
          </a:p>
          <a:p>
            <a:pPr algn="just">
              <a:buFont typeface="Wingdings" panose="05000000000000000000" pitchFamily="2" charset="2"/>
              <a:buChar char="v"/>
            </a:pPr>
            <a:r>
              <a:rPr lang="de-DE" sz="2500" dirty="0">
                <a:latin typeface="Times New Roman" panose="02020603050405020304" pitchFamily="18" charset="0"/>
                <a:cs typeface="Times New Roman" panose="02020603050405020304" pitchFamily="18" charset="0"/>
              </a:rPr>
              <a:t>   Co-okkurrenz von Figuren (</a:t>
            </a:r>
            <a:r>
              <a:rPr lang="de-DE" sz="2500" dirty="0" err="1">
                <a:latin typeface="Times New Roman" panose="02020603050405020304" pitchFamily="18" charset="0"/>
                <a:cs typeface="Times New Roman" panose="02020603050405020304" pitchFamily="18" charset="0"/>
              </a:rPr>
              <a:t>Ezlinavis</a:t>
            </a:r>
            <a:r>
              <a:rPr lang="de-DE" sz="25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r>
              <a:rPr lang="de-DE" dirty="0">
                <a:latin typeface="Times New Roman" panose="02020603050405020304" pitchFamily="18" charset="0"/>
                <a:cs typeface="Times New Roman" panose="02020603050405020304" pitchFamily="18" charset="0"/>
              </a:rPr>
              <a:t>   Figuren gewichtet anhand </a:t>
            </a:r>
            <a:r>
              <a:rPr lang="de-DE" dirty="0" err="1">
                <a:latin typeface="Times New Roman" panose="02020603050405020304" pitchFamily="18" charset="0"/>
                <a:cs typeface="Times New Roman" panose="02020603050405020304" pitchFamily="18" charset="0"/>
              </a:rPr>
              <a:t>Quoted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Speeches</a:t>
            </a:r>
            <a:r>
              <a:rPr lang="de-DE"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v"/>
            </a:pPr>
            <a:r>
              <a:rPr lang="de-DE" dirty="0">
                <a:latin typeface="Times New Roman" panose="02020603050405020304" pitchFamily="18" charset="0"/>
                <a:cs typeface="Times New Roman" panose="02020603050405020304" pitchFamily="18" charset="0"/>
              </a:rPr>
              <a:t>    Figuren werden je nach der Anzahl der Erwähnungen in den Gesprächen anderer entsprechend gewichtet.</a:t>
            </a:r>
          </a:p>
          <a:p>
            <a:endParaRPr lang="de-DE" dirty="0"/>
          </a:p>
        </p:txBody>
      </p:sp>
    </p:spTree>
    <p:extLst>
      <p:ext uri="{BB962C8B-B14F-4D97-AF65-F5344CB8AC3E}">
        <p14:creationId xmlns:p14="http://schemas.microsoft.com/office/powerpoint/2010/main" val="305732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320DE0-A6F0-3E75-1C7B-384315C104EF}"/>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2. Konzepte und  Operationalisierung</a:t>
            </a:r>
            <a:endParaRPr lang="de-DE" dirty="0"/>
          </a:p>
        </p:txBody>
      </p:sp>
      <p:sp>
        <p:nvSpPr>
          <p:cNvPr id="3" name="Inhaltsplatzhalter 2">
            <a:extLst>
              <a:ext uri="{FF2B5EF4-FFF2-40B4-BE49-F238E27FC236}">
                <a16:creationId xmlns:a16="http://schemas.microsoft.com/office/drawing/2014/main" id="{AB0FF9E3-F88B-7E09-3CEC-D671FDB69A41}"/>
              </a:ext>
            </a:extLst>
          </p:cNvPr>
          <p:cNvSpPr>
            <a:spLocks noGrp="1"/>
          </p:cNvSpPr>
          <p:nvPr>
            <p:ph idx="1"/>
          </p:nvPr>
        </p:nvSpPr>
        <p:spPr/>
        <p:txBody>
          <a:bodyPr>
            <a:normAutofit/>
          </a:bodyPr>
          <a:lstStyle/>
          <a:p>
            <a:pPr marL="0" indent="0" algn="just">
              <a:buNone/>
            </a:pPr>
            <a:r>
              <a:rPr lang="de-DE" dirty="0">
                <a:latin typeface="Times New Roman" panose="02020603050405020304" pitchFamily="18" charset="0"/>
                <a:cs typeface="Times New Roman" panose="02020603050405020304" pitchFamily="18" charset="0"/>
              </a:rPr>
              <a:t>c.2 Kollokation/Sprachliche Darstellung: Adjektive, Verben und Adverbien, die die Mörder beschreiben. </a:t>
            </a:r>
          </a:p>
          <a:p>
            <a:pPr algn="just">
              <a:buFont typeface="Wingdings" panose="05000000000000000000" pitchFamily="2" charset="2"/>
              <a:buChar char="v"/>
            </a:pPr>
            <a:r>
              <a:rPr lang="de-DE" dirty="0">
                <a:latin typeface="Times New Roman" panose="02020603050405020304" pitchFamily="18" charset="0"/>
                <a:cs typeface="Times New Roman" panose="02020603050405020304" pitchFamily="18" charset="0"/>
              </a:rPr>
              <a:t>  Frequenzen von den sprachlichen Mitteln. (Welche Wörter benutzte Agatha Christie besonders häufig, die Mörder zu beschreiben. Als Baseline, wird auch die </a:t>
            </a:r>
            <a:r>
              <a:rPr lang="de-DE" altLang="zh-CN" dirty="0">
                <a:latin typeface="Times New Roman" panose="02020603050405020304" pitchFamily="18" charset="0"/>
                <a:cs typeface="Times New Roman" panose="02020603050405020304" pitchFamily="18" charset="0"/>
              </a:rPr>
              <a:t>sprachliche Darstellung </a:t>
            </a:r>
            <a:r>
              <a:rPr lang="de-DE" dirty="0">
                <a:latin typeface="Times New Roman" panose="02020603050405020304" pitchFamily="18" charset="0"/>
                <a:cs typeface="Times New Roman" panose="02020603050405020304" pitchFamily="18" charset="0"/>
              </a:rPr>
              <a:t>von Detektiven ermittelt)</a:t>
            </a:r>
          </a:p>
          <a:p>
            <a:pPr algn="just">
              <a:buFont typeface="Wingdings" panose="05000000000000000000" pitchFamily="2" charset="2"/>
              <a:buChar char="v"/>
            </a:pPr>
            <a:r>
              <a:rPr lang="de-DE" dirty="0">
                <a:latin typeface="Times New Roman" panose="02020603050405020304" pitchFamily="18" charset="0"/>
                <a:cs typeface="Times New Roman" panose="02020603050405020304" pitchFamily="18" charset="0"/>
              </a:rPr>
              <a:t>Sentiment-analyse von der Sprachliche Darstellung in R mittels </a:t>
            </a:r>
            <a:r>
              <a:rPr lang="de-DE" dirty="0" err="1">
                <a:latin typeface="Times New Roman" panose="02020603050405020304" pitchFamily="18" charset="0"/>
                <a:cs typeface="Times New Roman" panose="02020603050405020304" pitchFamily="18" charset="0"/>
              </a:rPr>
              <a:t>Lexicoder</a:t>
            </a:r>
            <a:r>
              <a:rPr lang="en-US" dirty="0">
                <a:latin typeface="Times New Roman" panose="02020603050405020304" pitchFamily="18" charset="0"/>
                <a:cs typeface="Times New Roman" panose="02020603050405020304" pitchFamily="18" charset="0"/>
              </a:rPr>
              <a:t> Sentiment Dictionary</a:t>
            </a:r>
            <a:r>
              <a:rPr lang="en-US" b="0" i="0" dirty="0">
                <a:effectLst/>
                <a:latin typeface="Times New Roman" panose="02020603050405020304" pitchFamily="18" charset="0"/>
                <a:cs typeface="Times New Roman" panose="02020603050405020304" pitchFamily="18" charset="0"/>
              </a:rPr>
              <a:t> created by Young and Soroka. </a:t>
            </a:r>
            <a:r>
              <a:rPr lang="de-DE" dirty="0">
                <a:latin typeface="Times New Roman" panose="02020603050405020304" pitchFamily="18" charset="0"/>
                <a:cs typeface="Times New Roman" panose="02020603050405020304" pitchFamily="18" charset="0"/>
              </a:rPr>
              <a:t>(Wie wird jeder Mörder insgesamt bewertet: positiv, negativ oder neutral. Gibt es Unterschied zwischen männlichen Mördern und weiblichen? </a:t>
            </a:r>
          </a:p>
        </p:txBody>
      </p:sp>
    </p:spTree>
    <p:extLst>
      <p:ext uri="{BB962C8B-B14F-4D97-AF65-F5344CB8AC3E}">
        <p14:creationId xmlns:p14="http://schemas.microsoft.com/office/powerpoint/2010/main" val="4263956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D5031E-4BEF-C0D4-F19E-5C25CC358670}"/>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2. Konzepte und  Operationalisierung</a:t>
            </a:r>
            <a:endParaRPr lang="de-DE" dirty="0"/>
          </a:p>
        </p:txBody>
      </p:sp>
      <p:sp>
        <p:nvSpPr>
          <p:cNvPr id="3" name="Inhaltsplatzhalter 2">
            <a:extLst>
              <a:ext uri="{FF2B5EF4-FFF2-40B4-BE49-F238E27FC236}">
                <a16:creationId xmlns:a16="http://schemas.microsoft.com/office/drawing/2014/main" id="{1AED9CC3-A321-E6FA-FF65-5E4E4537FE39}"/>
              </a:ext>
            </a:extLst>
          </p:cNvPr>
          <p:cNvSpPr>
            <a:spLocks noGrp="1"/>
          </p:cNvSpPr>
          <p:nvPr>
            <p:ph idx="1"/>
          </p:nvPr>
        </p:nvSpPr>
        <p:spPr/>
        <p:txBody>
          <a:bodyPr/>
          <a:lstStyle/>
          <a:p>
            <a:pPr marL="0" indent="0" algn="just">
              <a:buNone/>
            </a:pPr>
            <a:r>
              <a:rPr lang="de-DE" dirty="0">
                <a:latin typeface="Times New Roman" panose="02020603050405020304" pitchFamily="18" charset="0"/>
                <a:cs typeface="Times New Roman" panose="02020603050405020304" pitchFamily="18" charset="0"/>
              </a:rPr>
              <a:t>c.3  Word2Vec. Die Kontextualisierung von den Mördern.( Als Baseline auch eine Kontextualisierung von Detektiven)</a:t>
            </a:r>
          </a:p>
          <a:p>
            <a:pPr marL="0" indent="0" algn="just">
              <a:buNone/>
            </a:pPr>
            <a:endParaRPr lang="de-DE" dirty="0">
              <a:latin typeface="Times New Roman" panose="02020603050405020304" pitchFamily="18" charset="0"/>
              <a:cs typeface="Times New Roman" panose="02020603050405020304" pitchFamily="18" charset="0"/>
            </a:endParaRPr>
          </a:p>
          <a:p>
            <a:pPr marL="0" indent="0" algn="just">
              <a:buNone/>
            </a:pPr>
            <a:r>
              <a:rPr lang="de-DE" dirty="0">
                <a:latin typeface="Times New Roman" panose="02020603050405020304" pitchFamily="18" charset="0"/>
                <a:cs typeface="Times New Roman" panose="02020603050405020304" pitchFamily="18" charset="0"/>
              </a:rPr>
              <a:t>c.4   Zusammenführung der Information: Kombination der Informationen zu Mördern bezüglich sozialer Klasse, Bildungsgrad, Tatmethode, Motiv und Schicksal der Mörder in einer Tabelle. </a:t>
            </a:r>
          </a:p>
          <a:p>
            <a:endParaRPr lang="de-DE" dirty="0"/>
          </a:p>
        </p:txBody>
      </p:sp>
    </p:spTree>
    <p:extLst>
      <p:ext uri="{BB962C8B-B14F-4D97-AF65-F5344CB8AC3E}">
        <p14:creationId xmlns:p14="http://schemas.microsoft.com/office/powerpoint/2010/main" val="122368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E48B31-82D3-0362-B99B-47A1AE12C889}"/>
              </a:ext>
            </a:extLst>
          </p:cNvPr>
          <p:cNvSpPr>
            <a:spLocks noGrp="1"/>
          </p:cNvSpPr>
          <p:nvPr>
            <p:ph type="title"/>
          </p:nvPr>
        </p:nvSpPr>
        <p:spPr/>
        <p:txBody>
          <a:bodyPr/>
          <a:lstStyle/>
          <a:p>
            <a:r>
              <a:rPr lang="de-DE" dirty="0"/>
              <a:t>3. </a:t>
            </a:r>
            <a:r>
              <a:rPr lang="de-DE" dirty="0" err="1">
                <a:latin typeface="Times New Roman" panose="02020603050405020304" pitchFamily="18" charset="0"/>
                <a:cs typeface="Times New Roman" panose="02020603050405020304" pitchFamily="18" charset="0"/>
              </a:rPr>
              <a:t>Done</a:t>
            </a:r>
            <a:r>
              <a:rPr lang="de-DE" dirty="0">
                <a:latin typeface="Times New Roman" panose="02020603050405020304" pitchFamily="18" charset="0"/>
                <a:cs typeface="Times New Roman" panose="02020603050405020304" pitchFamily="18" charset="0"/>
              </a:rPr>
              <a:t> und </a:t>
            </a: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-do</a:t>
            </a:r>
          </a:p>
        </p:txBody>
      </p:sp>
      <p:sp>
        <p:nvSpPr>
          <p:cNvPr id="3" name="Inhaltsplatzhalter 2">
            <a:extLst>
              <a:ext uri="{FF2B5EF4-FFF2-40B4-BE49-F238E27FC236}">
                <a16:creationId xmlns:a16="http://schemas.microsoft.com/office/drawing/2014/main" id="{149A34AB-EAC5-DC0E-D5E4-20DC6D38A1B9}"/>
              </a:ext>
            </a:extLst>
          </p:cNvPr>
          <p:cNvSpPr>
            <a:spLocks noGrp="1"/>
          </p:cNvSpPr>
          <p:nvPr>
            <p:ph idx="1"/>
          </p:nvPr>
        </p:nvSpPr>
        <p:spPr>
          <a:xfrm>
            <a:off x="497441" y="2272865"/>
            <a:ext cx="9613861" cy="3599316"/>
          </a:xfrm>
        </p:spPr>
        <p:txBody>
          <a:bodyPr>
            <a:normAutofit fontScale="62500" lnSpcReduction="20000"/>
          </a:bodyPr>
          <a:lstStyle/>
          <a:p>
            <a:pPr marL="0" indent="0">
              <a:buNone/>
            </a:pPr>
            <a:r>
              <a:rPr lang="de-DE" dirty="0" err="1">
                <a:latin typeface="Times New Roman" panose="02020603050405020304" pitchFamily="18" charset="0"/>
                <a:cs typeface="Times New Roman" panose="02020603050405020304" pitchFamily="18" charset="0"/>
              </a:rPr>
              <a:t>Done</a:t>
            </a:r>
            <a:r>
              <a:rPr lang="de-DE" dirty="0">
                <a:latin typeface="Times New Roman" panose="02020603050405020304" pitchFamily="18" charset="0"/>
                <a:cs typeface="Times New Roman" panose="02020603050405020304" pitchFamily="18" charset="0"/>
              </a:rPr>
              <a:t>: </a:t>
            </a:r>
          </a:p>
          <a:p>
            <a:r>
              <a:rPr lang="de-DE" dirty="0">
                <a:latin typeface="Times New Roman" panose="02020603050405020304" pitchFamily="18" charset="0"/>
                <a:cs typeface="Times New Roman" panose="02020603050405020304" pitchFamily="18" charset="0"/>
              </a:rPr>
              <a:t>Korpus erstellt.</a:t>
            </a:r>
          </a:p>
          <a:p>
            <a:r>
              <a:rPr lang="de-DE" dirty="0">
                <a:latin typeface="Times New Roman" panose="02020603050405020304" pitchFamily="18" charset="0"/>
                <a:cs typeface="Times New Roman" panose="02020603050405020304" pitchFamily="18" charset="0"/>
              </a:rPr>
              <a:t>Drei Romane annotiert</a:t>
            </a:r>
          </a:p>
          <a:p>
            <a:r>
              <a:rPr lang="de-DE" dirty="0">
                <a:latin typeface="Times New Roman" panose="02020603050405020304" pitchFamily="18" charset="0"/>
                <a:cs typeface="Times New Roman" panose="02020603050405020304" pitchFamily="18" charset="0"/>
              </a:rPr>
              <a:t>Ein paar Literatur gelesen</a:t>
            </a:r>
          </a:p>
          <a:p>
            <a:endParaRPr lang="de-DE" dirty="0">
              <a:latin typeface="Times New Roman" panose="02020603050405020304" pitchFamily="18" charset="0"/>
              <a:cs typeface="Times New Roman" panose="02020603050405020304" pitchFamily="18" charset="0"/>
            </a:endParaRPr>
          </a:p>
          <a:p>
            <a:pPr marL="0" indent="0">
              <a:buNone/>
            </a:pP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-do:</a:t>
            </a:r>
          </a:p>
          <a:p>
            <a:r>
              <a:rPr lang="de-DE" dirty="0">
                <a:latin typeface="Times New Roman" panose="02020603050405020304" pitchFamily="18" charset="0"/>
                <a:cs typeface="Times New Roman" panose="02020603050405020304" pitchFamily="18" charset="0"/>
              </a:rPr>
              <a:t>Anmeldung für Masterarbeit in September.</a:t>
            </a:r>
          </a:p>
          <a:p>
            <a:r>
              <a:rPr lang="de-DE" dirty="0">
                <a:latin typeface="Times New Roman" panose="02020603050405020304" pitchFamily="18" charset="0"/>
                <a:cs typeface="Times New Roman" panose="02020603050405020304" pitchFamily="18" charset="0"/>
              </a:rPr>
              <a:t>Austausch mit Betreuern</a:t>
            </a:r>
          </a:p>
          <a:p>
            <a:r>
              <a:rPr lang="de-DE" dirty="0">
                <a:latin typeface="Times New Roman" panose="02020603050405020304" pitchFamily="18" charset="0"/>
                <a:cs typeface="Times New Roman" panose="02020603050405020304" pitchFamily="18" charset="0"/>
              </a:rPr>
              <a:t>Weitere Literatur lesen.</a:t>
            </a:r>
          </a:p>
          <a:p>
            <a:r>
              <a:rPr lang="de-DE" dirty="0">
                <a:latin typeface="Times New Roman" panose="02020603050405020304" pitchFamily="18" charset="0"/>
                <a:cs typeface="Times New Roman" panose="02020603050405020304" pitchFamily="18" charset="0"/>
              </a:rPr>
              <a:t>Operationalisierung </a:t>
            </a:r>
          </a:p>
          <a:p>
            <a:r>
              <a:rPr lang="de-DE" dirty="0">
                <a:latin typeface="Times New Roman" panose="02020603050405020304" pitchFamily="18" charset="0"/>
                <a:cs typeface="Times New Roman" panose="02020603050405020304" pitchFamily="18" charset="0"/>
              </a:rPr>
              <a:t>Dokumentieren, </a:t>
            </a:r>
            <a:r>
              <a:rPr lang="de-DE" dirty="0" err="1">
                <a:latin typeface="Times New Roman" panose="02020603050405020304" pitchFamily="18" charset="0"/>
                <a:cs typeface="Times New Roman" panose="02020603050405020304" pitchFamily="18" charset="0"/>
              </a:rPr>
              <a:t>Github</a:t>
            </a:r>
            <a:r>
              <a:rPr lang="de-DE" dirty="0">
                <a:latin typeface="Times New Roman" panose="02020603050405020304" pitchFamily="18" charset="0"/>
                <a:cs typeface="Times New Roman" panose="02020603050405020304" pitchFamily="18" charset="0"/>
              </a:rPr>
              <a:t> Repository erstellen.</a:t>
            </a:r>
          </a:p>
          <a:p>
            <a:r>
              <a:rPr lang="de-DE" dirty="0">
                <a:latin typeface="Times New Roman" panose="02020603050405020304" pitchFamily="18" charset="0"/>
                <a:cs typeface="Times New Roman" panose="02020603050405020304" pitchFamily="18" charset="0"/>
              </a:rPr>
              <a:t>Schreiben</a:t>
            </a:r>
          </a:p>
          <a:p>
            <a:endParaRPr lang="de-DE" dirty="0"/>
          </a:p>
        </p:txBody>
      </p:sp>
    </p:spTree>
    <p:extLst>
      <p:ext uri="{BB962C8B-B14F-4D97-AF65-F5344CB8AC3E}">
        <p14:creationId xmlns:p14="http://schemas.microsoft.com/office/powerpoint/2010/main" val="3939713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A7ABFC-C731-24A7-1D11-9AB0CC3C5DC2}"/>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4. Feedback von Euch</a:t>
            </a:r>
          </a:p>
        </p:txBody>
      </p:sp>
      <p:pic>
        <p:nvPicPr>
          <p:cNvPr id="5" name="Inhaltsplatzhalter 4">
            <a:extLst>
              <a:ext uri="{FF2B5EF4-FFF2-40B4-BE49-F238E27FC236}">
                <a16:creationId xmlns:a16="http://schemas.microsoft.com/office/drawing/2014/main" id="{EF688DD5-FEBC-D60F-F6E1-81F52904D84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09054" y="2234343"/>
            <a:ext cx="9613900" cy="3364865"/>
          </a:xfrm>
        </p:spPr>
      </p:pic>
      <p:sp>
        <p:nvSpPr>
          <p:cNvPr id="7" name="Textfeld 6">
            <a:extLst>
              <a:ext uri="{FF2B5EF4-FFF2-40B4-BE49-F238E27FC236}">
                <a16:creationId xmlns:a16="http://schemas.microsoft.com/office/drawing/2014/main" id="{B2D647D9-1079-417D-5AFD-7EDAD65EC7DF}"/>
              </a:ext>
            </a:extLst>
          </p:cNvPr>
          <p:cNvSpPr txBox="1"/>
          <p:nvPr/>
        </p:nvSpPr>
        <p:spPr>
          <a:xfrm>
            <a:off x="6329934" y="6104772"/>
            <a:ext cx="6094476" cy="646331"/>
          </a:xfrm>
          <a:prstGeom prst="rect">
            <a:avLst/>
          </a:prstGeom>
          <a:noFill/>
        </p:spPr>
        <p:txBody>
          <a:bodyPr wrap="square">
            <a:spAutoFit/>
          </a:bodyPr>
          <a:lstStyle/>
          <a:p>
            <a:r>
              <a:rPr lang="de-DE" dirty="0"/>
              <a:t>https://influencemagazine.com/practice/building-a-culture-of-constructive-feedback</a:t>
            </a:r>
          </a:p>
        </p:txBody>
      </p:sp>
    </p:spTree>
    <p:extLst>
      <p:ext uri="{BB962C8B-B14F-4D97-AF65-F5344CB8AC3E}">
        <p14:creationId xmlns:p14="http://schemas.microsoft.com/office/powerpoint/2010/main" val="1749541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98DD17-7B94-DBBA-CD19-C5E2D39EE3AD}"/>
              </a:ext>
            </a:extLst>
          </p:cNvPr>
          <p:cNvSpPr>
            <a:spLocks noGrp="1"/>
          </p:cNvSpPr>
          <p:nvPr>
            <p:ph type="title"/>
          </p:nvPr>
        </p:nvSpPr>
        <p:spPr/>
        <p:txBody>
          <a:bodyPr/>
          <a:lstStyle/>
          <a:p>
            <a:endParaRPr lang="de-DE" dirty="0"/>
          </a:p>
        </p:txBody>
      </p:sp>
      <p:sp>
        <p:nvSpPr>
          <p:cNvPr id="3" name="Inhaltsplatzhalter 2">
            <a:extLst>
              <a:ext uri="{FF2B5EF4-FFF2-40B4-BE49-F238E27FC236}">
                <a16:creationId xmlns:a16="http://schemas.microsoft.com/office/drawing/2014/main" id="{DE2A9DC2-533C-7CA8-BEE4-4682AB704FDF}"/>
              </a:ext>
            </a:extLst>
          </p:cNvPr>
          <p:cNvSpPr>
            <a:spLocks noGrp="1"/>
          </p:cNvSpPr>
          <p:nvPr>
            <p:ph idx="1"/>
          </p:nvPr>
        </p:nvSpPr>
        <p:spPr/>
        <p:txBody>
          <a:bodyPr>
            <a:normAutofit/>
          </a:bodyPr>
          <a:lstStyle/>
          <a:p>
            <a:endParaRPr lang="de-DE" sz="4000" dirty="0">
              <a:latin typeface="Times New Roman" panose="02020603050405020304" pitchFamily="18" charset="0"/>
              <a:cs typeface="Times New Roman" panose="02020603050405020304" pitchFamily="18" charset="0"/>
            </a:endParaRPr>
          </a:p>
          <a:p>
            <a:endParaRPr lang="de-DE" sz="4000" dirty="0">
              <a:latin typeface="Times New Roman" panose="02020603050405020304" pitchFamily="18" charset="0"/>
              <a:cs typeface="Times New Roman" panose="02020603050405020304" pitchFamily="18" charset="0"/>
            </a:endParaRPr>
          </a:p>
          <a:p>
            <a:pPr marL="0" indent="0">
              <a:buNone/>
            </a:pPr>
            <a:r>
              <a:rPr lang="de-DE" sz="4000" dirty="0">
                <a:latin typeface="Times New Roman" panose="02020603050405020304" pitchFamily="18" charset="0"/>
                <a:cs typeface="Times New Roman" panose="02020603050405020304" pitchFamily="18" charset="0"/>
              </a:rPr>
              <a:t>    Vielen Dank für Eure Aufmerksamkeit</a:t>
            </a:r>
          </a:p>
        </p:txBody>
      </p:sp>
    </p:spTree>
    <p:extLst>
      <p:ext uri="{BB962C8B-B14F-4D97-AF65-F5344CB8AC3E}">
        <p14:creationId xmlns:p14="http://schemas.microsoft.com/office/powerpoint/2010/main" val="2917231999"/>
      </p:ext>
    </p:extLst>
  </p:cSld>
  <p:clrMapOvr>
    <a:masterClrMapping/>
  </p:clrMapOvr>
</p:sld>
</file>

<file path=ppt/theme/theme1.xml><?xml version="1.0" encoding="utf-8"?>
<a:theme xmlns:a="http://schemas.openxmlformats.org/drawingml/2006/main" name="Berlin">
  <a:themeElements>
    <a:clrScheme name="Rotviolet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0</TotalTime>
  <Words>937</Words>
  <Application>Microsoft Office PowerPoint</Application>
  <PresentationFormat>Breitbild</PresentationFormat>
  <Paragraphs>90</Paragraphs>
  <Slides>13</Slides>
  <Notes>8</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13</vt:i4>
      </vt:variant>
    </vt:vector>
  </HeadingPairs>
  <TitlesOfParts>
    <vt:vector size="19" baseType="lpstr">
      <vt:lpstr>Arial</vt:lpstr>
      <vt:lpstr>Calibri</vt:lpstr>
      <vt:lpstr>Times New Roman</vt:lpstr>
      <vt:lpstr>Trebuchet MS</vt:lpstr>
      <vt:lpstr>Wingdings</vt:lpstr>
      <vt:lpstr>Berlin</vt:lpstr>
      <vt:lpstr>    “A Digital Exploration of Morality  and Feminism in Agatha Christie’s Detective Fiction” (Alternative: Digital Analysis of Murderers in Agatha Christies’s Detectiv Fiction) Erste Ideenskizze zur Masterarbeit</vt:lpstr>
      <vt:lpstr>Inhalt</vt:lpstr>
      <vt:lpstr>1.Motivation </vt:lpstr>
      <vt:lpstr>2. Konzepte und  Operationalisierung</vt:lpstr>
      <vt:lpstr>2. Konzepte und  Operationalisierung</vt:lpstr>
      <vt:lpstr>2. Konzepte und  Operationalisierung</vt:lpstr>
      <vt:lpstr>2. Konzepte und  Operationalisierung</vt:lpstr>
      <vt:lpstr>2. Konzepte und  Operationalisierung</vt:lpstr>
      <vt:lpstr>2. Konzepte und  Operationalisierung</vt:lpstr>
      <vt:lpstr>2. Konzepte und  Operationalisierung</vt:lpstr>
      <vt:lpstr>3. Done und To-do</vt:lpstr>
      <vt:lpstr>4. Feedback von Euch</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Vivien Li</dc:creator>
  <cp:lastModifiedBy>Vivien Li</cp:lastModifiedBy>
  <cp:revision>20</cp:revision>
  <dcterms:created xsi:type="dcterms:W3CDTF">2025-05-29T06:33:14Z</dcterms:created>
  <dcterms:modified xsi:type="dcterms:W3CDTF">2025-07-08T10:20:55Z</dcterms:modified>
</cp:coreProperties>
</file>